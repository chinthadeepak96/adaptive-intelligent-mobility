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421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&amp; Project Synopsis
[60–75 sec] Good [morning/afternoon]. I'm presenting our Zeroth Stage capstone project, "Adaptive AI-Driven Intelligent Mobility System for Advanced ADAS and Autonomous Driving," guided by Dr. M Venkatesh. Our team proposes an AI- and robotics-based intelligent mobility platform that fuses five sensing modalities — camera, LiDAR, radar, IMU and simulated V2X — with a pipeline that goes beyond conventional perception: it estimates how reliable each sensor is in real time, propagates that uncertainty into fusion, assesses risk predictively, and adapts driving decisions accordingly. We validate this in CARLA, using ROS 2 as the robotics middleware connecting every module. This is a Zeroth Stage presentation, so today's focus is the research direction, problem framing and proposed methodology — not experimental results.
EMPHASIZE: This is a proposed research direction at Zeroth Stage — no results are being claimed yet. The core shift is "from fixed perception to adaptive intelligence."
LIKELY EXAMINER QUESTIONS:
Q1: "What exactly is 'adaptive' about this system?"
A1: Unlike fixed-confidence perception pipelines that treat every sensor as equally trustworthy at all times, our system estimates each sensor's reliability continuously and lets that estimate reshape fusion weighting, risk scoring and driving decisions.
Q2: "Why CARLA and ROS 2 specifically?"
A2: CARLA offers a controlled, repeatable simulation environment for injecting sensor degradation (rain, fog, glare, dropout) safely, while ROS 2 provides the modular, message-based middleware needed to connect perception, fusion, risk and control nodes — both are open-source and match available compute.
Q3: "Is this a Level-4 autonomous system?"
A3: No — we target Level-2-style ADAS functionality plus a Level-4-oriented prototype within a clearly defined Operational Design Domain; we do not claim Level-4 certification.
KEY TERMS: ADAS, sensor fusion, sensor reliability, uncertainty estimation, Operational Design Domain (ODD), ROS 2, CARLA.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Problem Need &amp; Problem Statement
[60–90 sec] Autonomous mobility operates in a world that is dynamic, uncertain and only partially observable — traffic participants move unpredictably, visibility is often degraded, and every sensor delivers imperfect, sometimes conflicting information. Our core problem statement is that multiple sensors observe the same environment, but each is independently vulnerable to degradation — from rain and glare to calibration drift and outright dropout. The core issue we identify is that most fusion pipelines assume fixed-confidence perception: they don't model how sensor reliability changes during operation, so unmodeled sensor unreliability can silently propagate into potentially unsafe driving decisions.
EMPHASIZE: The problem is not "sensors fail" — everyone knows that. The problem is that fixed-confidence fusion ignores changing reliability, and that gap is what motivates our research question.
LIKELY EXAMINER QUESTIONS:
Q1: "Isn't sensor degradation already a well-studied problem?"
A1: Yes, individual degradation modes (rain, occlusion, noise) are well studied — our focus is not detecting degradation itself but on how a changing reliability estimate should dynamically reshape fusion and decision-making.
Q2: "Give a concrete example of 'conflicting observations.'"
A2: For instance, camera-based detection might report no obstacle due to glare while LiDAR reports one — the system needs to reason about which sensor to trust more in that moment.
Q3: "Why does this matter for safety specifically?"
A3: If reliability is not modeled, a degraded sensor can be trusted as much as a healthy one, and that misplaced confidence can propagate into an unsafe downstream driving decision.
KEY TERMS: sensor degradation, fixed-confidence fusion, calibration drift, sensor dropout, cross-sensor disagreement.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Project Objectives
[45–60 sec] Our seven objectives move logically from perception to control: build a multi-sensor perception framework; estimate dynamic sensor reliability; detect cross-modal sensor disagreement; develop uncertainty-aware fusion; develop predictive risk assessment; integrate adaptive, risk-aware decision making; and validate all of this using CARLA and ROS 2. These map onto ADAS functions such as forward-collision warning and adaptive cruise control, as well as the full autonomous-driving pipeline from perception through control.
EMPHASIZE: Objectives are ordered to mirror the pipeline itself — each objective is a stage that feeds the next.
LIKELY EXAMINER QUESTIONS:
Q1: "Which objective is the most technically challenging?"
A1: Likely uncertainty-aware fusion and predictive risk assessment, since they require combining multiple heterogeneous signals (reliability scores, uncertainty, kinematics) into a single coherent decision input.
Q2: "How will you know if Objective 2 (dynamic reliability estimation) is achieved?"
A2: Through controlled CARLA experiments comparing reliability estimates against known injected degradation, evaluated later using the metrics discussed in our validation strategy.
Q3: "Are these objectives sequential or can they be developed in parallel?"
A3: They are logically sequential in the pipeline, but development can proceed in parallel across team members before final system-level integration.
KEY TERMS: multi-sensor perception, cross-modal disagreement, uncertainty-aware fusion, predictive risk assessment, ODD, FCW/AEB/ACC.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Existing Work &amp; Literature Review
[75–90 sec] We reviewed six related research areas: multi-sensor fusion, sensor fault detection, uncertainty estimation, risk-aware driving, cooperative perception/V2X, and CARLA-based simulation. Each addresses an important piece — for example, multi-sensor fusion combines camera/LiDAR/radar data, and uncertainty estimation quantifies perception confidence — but each also has a relevant limitation, such as fusion often relying on static reliability assumptions, or uncertainty rarely being propagated into full driving decisions. Existing ADAS systems such as adaptive cruise control, lane keeping, forward-collision warning and automatic emergency braking already use sophisticated perception and fusion pipelines; our work does not aim to replace them, but to study how changing sensor reliability should adaptively influence fusion and decision-making.
EMPHASIZE: We are not claiming existing systems are inadequate — we are identifying a specific, narrow limitation across otherwise mature research areas.
LIKELY EXAMINER QUESTIONS:
Q1: "Name a specific existing ADAS system and its limitation relevant to your work."
A1: Adaptive cruise control typically regulates speed/distance using radar or camera input under an implicit assumption of consistent sensor reliability; it does not explicitly reweight its inputs when one sensor's reliability degrades mid-operation.
Q2: "Is this literature review exhaustive?"
A2: This is a category-level synthesis; specific citations will be added once the formal literature survey is finalized, as noted in our appendix.
Q3: "What's the common thread across all the limitations you found?"
A3: In every area, the reliability or uncertainty signal exists in some form but is not consistently carried through into the fusion and decision layers — that gap is our research focus.
KEY TERMS: multi-sensor fusion, sensor fault detection, uncertainty quantification, risk-aware driving, V2X, cooperative perception.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Existing Work vs. Proposed Adaptive Mobility System
[75–90 sec] This slide is the direct comparison examiners usually look for. Across nine aspects — fusion, reliability, uncertainty, disagreement, risk, decision making, degradation handling, V2X and validation — existing approaches typically treat each as a largely independent or statically-weighted component. Our proposed system's contribution, in every row, is to make that component reactive to a dynamically estimated reliability and uncertainty signal. For example, where existing risk assessment often uses scene/object/trajectory information alone, we propose combining that with sensor confidence and uncertainty; where decision-making often relies on predefined thresholds, ours is proposed to adapt to changing risk and confidence.
EMPHASIZE: We are not claiming existing systems "cannot" do this — only that our system-level integration is a distinct proposed contribution, still to be evaluated experimentally.
LIKELY EXAMINER QUESTIONS:
Q1: "Isn't 'adaptive fusion' already done in some papers?"
A1: Adaptive weighting schemes exist in isolated contexts; our contribution is integrating reliability-driven fusion with uncertainty propagation, predictive risk, and adaptive decision-making in one closed loop, evaluated together rather than separately.
Q2: "What happens if the comparison shows no real difference in results?"
A2: That is a valid experimental outcome we will report honestly — the Zeroth Stage claim is only that this integration is a research direction worth testing, not a guaranteed improvement.
Q3: "How will you avoid overclaiming when writing this table in the final report?"
A3: By consistently using terms like 'proposed' and 'is proposed to adapt' rather than asserting the capability already exists, exactly as shown in the right-hand column here.
KEY TERMS: static vs. dynamic reliability, closed-loop integration, TTC, adaptive decision thresholds.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Research Gap &amp; Research Question
[75–90 sec] Existing research typically studies sensor fusion, reliability, uncertainty, risk assessment and decision-making as separate problems. Our research gap is that connection itself: we propose an integrated framework where dynamic reliability, uncertainty-aware fusion, predictive risk and adaptive decision-making interact within one unified adaptive intelligence layer. This motivates our central research question — how can an intelligent mobility system dynamically adapt perception and driving decisions when individual sensor reliability changes during operation — supported by five sub-questions covering reliability estimation, disagreement detection, uncertainty-driven fusion, risk-confidence coupling, and behaviour adaptation within a defined Operational Design Domain.
EMPHASIZE: The gap is about integration and interaction between well-studied components, not the invention of any single component.
LIKELY EXAMINER QUESTIONS:
Q1: "How is a 'research gap' different from just listing objectives?"
A1: The gap identifies why current research falls short — components are studied in isolation — while the objectives describe the concrete work we will do to address that specific gap.
Q2: "Could this research question be answered with existing techniques combined trivially?"
A2: Possibly in principle, but our contribution is precisely in defining and evaluating that non-trivial interaction as a closed-loop system, which prior work has not directly investigated together.
Q3: "What does ODD mean here, and why does it matter?"
A3: Operational Design Domain — the specific conditions (road types, speeds, weather) under which the system is designed to operate; defining it prevents overclaiming general-purpose autonomy.
KEY TERMS: research gap, closed-loop integration, Operational Design Domain (ODD), unified adaptive intelligence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Proposed Methodology &amp; System Architecture
[75–90 sec] Our proposed architecture is a closed-loop pipeline. Environmental data enters through camera, LiDAR, radar, IMU and simulated V2X; multi-sensor perception performs object detection and tracking; three adaptive-intelligence stages then estimate sensor reliability, quantify uncertainty and perform adaptive sensor fusion; the fused perception feeds trajectory/behaviour prediction and risk assessment; and finally planning, decision-making and vehicle control produce ADAS or autonomous-driving behaviour. The highlighted middle stages — reliability, uncertainty, adaptive fusion — are the core proposed research contribution layered onto an otherwise conventional perception-to-control pipeline.
EMPHASIZE: This is a standard perception-to-control pipeline with three new adaptive-intelligence stages inserted — that's deliberate, since it keeps the system compatible with established ADAS/AD architectures.
LIKELY EXAMINER QUESTIONS:
Q1: "Why insert reliability and uncertainty estimation between detection and fusion rather than elsewhere?"
A1: Reliability needs to be estimated after detection/tracking produces per-sensor observations, and before fusion combines them, so its output can directly reweight the fusion step.
Q2: "What closes the loop in this 'closed-loop pipeline'?"
A2: Vehicle control and driving outcomes feed back into how subsequent sensor observations are interpreted and re-evaluated for reliability, and system feedback will be explored as the design matures.
Q3: "Is ROS 2 used to implement every block shown here?"
A3: Yes — ROS 2 nodes and topics are proposed to connect each pipeline stage, from sensor drivers through to vehicle control, in the CARLA/ROS 2 setup discussed later.
KEY TERMS: closed-loop pipeline, object detection &amp; tracking, adaptive sensor fusion, trajectory prediction, planning &amp; decision.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Technical Novelty &amp; Research Contribution
[90 sec] Our contribution has five interconnected parts. First, dynamic sensor reliability: we estimate a reliability score between 0 and 1 for each sensor using indicators like detection confidence, temporal stability and cross-sensor agreement — sensor trust becomes a dynamic input rather than a fixed assumption. Second, reliability-aware adaptive fusion: as reliability falls for one sensor, its fusion weight is reduced while more reliable sensors compensate; the exact fusion formulation will be finalized experimentally. Third, uncertainty propagation: uncertainty is proposed to flow from perception through fusion into risk assessment and decision-making, not stop at the perception layer. Fourth, risk-adaptive decision-making: risk combines distance, relative velocity, TTC, trajectory, confidence and uncertainty, driving three operating regimes — normal, cautious, conservative. Fifth, and most important, closed-loop adaptive intelligence: integrating all four into one framework. Our novelty statement is explicit — this is system-level integration and adaptive interaction, not invention of any single technique.
EMPHASIZE: Read the novelty statement aloud if asked to justify novelty — it is deliberately conservative and precise.
LIKELY EXAMINER QUESTIONS:
Q1: "What is r_i and how would you actually compute it?"
A1: r_i is a per-sensor reliability score in [0,1], planned to be derived from indicators such as detection confidence, temporal consistency and cross-sensor agreement — the exact formulation is part of future experimentation, not fixed yet.
Q2: "Isn't 'adaptive fusion weighting' already patented/published elsewhere?"
A2: Individual adaptive-weighting schemes exist in the literature and in some patents, which is why our appendix includes prior-art patents; our contribution is the specific combination with uncertainty propagation and risk-adaptive decision-making as one closed-loop system.
Q3: "How would you validate that reliability estimation and risk-adaptive decisions are working correctly?"
A3: Through the baseline-vs-adaptive CARLA experiments described in our validation slide, comparing behaviour under controlled sensor-degradation scenarios.
KEY TERMS: reliability score r_i, uncertainty propagation, TTC, risk-adaptive decision, closed-loop framework.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Application Scope &amp; Technology Platform
[60–75 sec] Our work targets two application layers. Under ADAS, we address forward-collision warning, automatic emergency braking, adaptive cruise control, lane assistance, collision-risk warnings and obstacle detection. Under autonomous driving, we follow the standard perception → localization → prediction → planning → control pipeline. On the platform side, CARLA gives us a controlled digital driving environment for safe, repeatable scenario testing, while ROS 2 is the modular communication framework connecting every module — perception, fusion, reliability, risk, planning and control. Importantly, we scope this as Level-2-style ADAS functionality plus a Level-4-oriented prototype within a clearly defined Operational Design Domain — this does not imply Level-4 certification.
EMPHASIZE: The Level-4 disclaimer is important — say it explicitly and don't let it be skipped.
LIKELY EXAMINER QUESTIONS:
Q1: "What do you mean by 'Level-4-oriented' if you're not claiming Level-4?"
A1: We mean the prototype's architecture is designed in the direction of higher automation levels, but its actual validated capability, scope and ODD are far narrower than a certified Level-4 system.
Q2: "Why not just build a Level-2 ADAS system and skip the AD prototype entirely?"
A2: Building both lets us validate the adaptive-reliability contribution across a wider range of decision complexity, from simple warning/braking logic to fuller planning and control.
Q3: "What exactly does ROS 2 handle versus CARLA?"
A3: CARLA simulates the environment, sensors and vehicle dynamics; ROS 2 is the middleware that lets our perception, fusion, risk and control modules communicate as independent nodes, both inside simulation and in any later hardware validation.
KEY TERMS: ADAS, Operational Design Domain (ODD), Level-2/Level-4 automation, ROS 2 nodes, CARLA.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Validation &amp; Experimental Evaluation Strategy
[75–90 sec] We propose a baseline-vs-proposed comparison: a fixed sensor-fusion baseline with static weighting, against our proposed reliability- and uncertainty-aware adaptive fusion, tested under identical conditions in CARLA with ROS 2. Testing scenarios include normal driving, individually degraded camera/LiDAR/radar, sensor disagreement, pedestrian crossing, dense traffic and V2X hazard cases, using simulated rain, fog, glare, occlusion, noise and sensor dropout as controlled degradation types. Candidate evaluation metrics span detection and tracking performance, collision and near-collision rate, TTC estimation, reliability-estimation accuracy, reaction time, decision stability, planning latency and sensor-failure recovery. It's important to state clearly: no numerical experimental results are claimed at this Zeroth Stage — these are the planned metrics and scenarios for the study ahead.
EMPHASIZE: Say the disclaimer explicitly and early if asked about "results" — do not let the examiner think any numbers here are already measured.
LIKELY EXAMINER QUESTIONS:
Q1: "How will you simulate 'sensor disagreement' specifically in CARLA?"
A1: By configuring scenarios where injected noise or occlusion causes one sensor's output to diverge from another's for the same object, then observing how the reliability and fusion modules respond.
Q2: "Which single metric best captures whether your approach works?"
A2: Likely a combination of collision/near-collision rate against reliability-estimation accuracy, since that would show whether adaptive fusion translates estimated reliability into safer outcomes — though this needs to be evaluated experimentally.
Q3: "Why compare against a 'fixed fusion' baseline rather than another adaptive method?"
A3: Fixed fusion represents the common, well-understood approach in current systems, making it the clearest baseline to isolate the effect of our proposed adaptive mechanism.
KEY TERMS: baseline vs. proposed, TTC, near-collision rate, digital twin, sensor-failure recovery.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Individual Contributions &amp; Ownership
[60–75 sec] Responsibilities are divided across four members, matched to the pipeline they cover. Chintha Deepak owns overall system architecture and adaptive AI pipeline integration. Harshitha P owns computer vision and perception — the camera pipeline, detection, tracking and lane perception. Dhanush S owns sensor fusion and risk intelligence — LiDAR/radar processing, reliability, uncertainty, disagreement handling and risk assessment. Sreekar owns ROS 2 integration, planning, vehicle control, V2X and the hardware prototype. These are proposed/planned contributions at Zeroth Stage; every member is expected to understand the full system for individual viva evaluation.
EMPHASIZE: Since evaluation is individual, every team member should be ready to answer questions about the whole pipeline, not just their own module.
LIKELY EXAMINER QUESTIONS (ask of ANY member):
Q1: "Explain a module that isn't your primary responsibility."
A1: [Each member should be able to summarize every pipeline stage at a conceptual level — reference Slide 7's architecture.]
Q2: "How do your modules interface with a teammate's module?"
A2: For example, perception (Harshitha) feeds detection/tracking output into sensor reliability and fusion (Dhanush), whose adaptive fusion output feeds planning and control (Sreekar), all coordinated under the system architecture (Deepak).
Q3: "Why label these as 'proposed / planned' rather than 'completed'?"
A3: Because this is a Zeroth Stage evaluation — no implementation or experimental work has been finalized yet; responsibilities describe planned ownership going forward.
KEY TERMS: system-level integration, perception pipeline, adaptive fusion, ROS 2 integration, hardware prototype.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IP Potential, Patentability &amp; Publication Potential
[75–90 sec] On the IP side, five potential directions exist: the dynamic sensor reliability estimation mechanism itself, adaptive fusion weighting, reliability-aware risk computation, sensor degradation response, and the integrated adaptive decision pipeline. However, patentability is not established at this stage — it requires formal prior-art search and legal evaluation, and prior-art patents already exist in adjacent areas like autonomous-vehicle reliability assessment and camera/radar sensor fusion, which we list in our backup slides. We explicitly do not claim broad ownership of sensor fusion or reliability assessment as concepts. On publication, a potential paper direction is an experimental evaluation of our adaptive reliability- and uncertainty-aware fusion framework for risk-aware autonomous driving — but publication potential depends on experimental novelty, quantitative results, methodological rigor and appropriate venue selection, none of which is guaranteed yet.
EMPHASIZE: Both IP and publication claims are framed as "potential," not guarantees — this is a deliberate and important academic-integrity choice.
LIKELY EXAMINER QUESTIONS:
Q1: "What would make your IP claim actually novel over the prior art you list?"
A1: The specific combination and mechanism — reliability-driven fusion weighting tied to uncertainty propagation and risk-adaptive decisions as one integrated pipeline — rather than any single technique already covered by existing patents.
Q2: "What target venue would you consider for publication?"
A2: That decision depends on the maturity and rigor of the eventual experimental results; we have not committed to a specific venue at this stage.
Q3: "Why include prior-art patents in your own presentation?"
A3: To be transparent about the existing IP landscape and avoid overclaiming novelty or ownership over already-patented concepts.
KEY TERMS: prior art, claim scope, patentability, publication venue, experimental novelty.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Feasibility, Expected Outcomes &amp; Conclusion
[75–90 sec] On feasibility: CARLA enables controlled simulation, ROS 2 supports modular integration, our team has access to local and university GPU resources, and a simulation-first approach reduces safety and hardware risk before any physical demonstration. Expected outcomes include multi-sensor perception, dynamic sensor-confidence estimation, uncertainty-aware fusion, predictive risk assessment, adaptive ADAS behaviour, and an autonomous-driving prototype validated with a quantitative baseline comparison. Ultimately, we want the vehicle to understand five things: what its sensors perceive, how reliable those perceptions are, how uncertain the information is, what risk is present, and how its driving behaviour should adapt. Our closing statement captures this as one pipeline — sense, detect, trust, fuse, predict, assess, decide, control — and one line: from fixed perception to adaptive intelligence.
EMPHASIZE: End confidently on the tagline — it ties every earlier slide back to one coherent idea.
LIKELY EXAMINER QUESTIONS:
Q1: "What is the single biggest feasibility risk for this project?"
A1: Likely the complexity of tuning adaptive fusion and risk-decision logic to behave sensibly across many degradation scenarios within the capstone timeline — mitigated by our simulation-first, staged development approach.
Q2: "If you had to demonstrate only one outcome by the next evaluation stage, which would it be?"
A2: Likely a working baseline-vs-adaptive fusion comparison under at least one controlled degradation scenario, since it directly tests the core research question.
Q3: "Summarize your entire project in one sentence."
A3: We propose an adaptively intelligent mobility system that estimates how much to trust each sensor in real time and lets that trust reshape fusion, risk assessment and driving decisions.
KEY TERMS: simulation-first development, baseline comparison, adaptive intelligence pipeline (sense-detect-trust-fuse-predict-assess-decide-control).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10162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marL="0" indent="0">
              <a:buNone/>
            </a:pPr>
            <a:r>
              <a:rPr lang="en-US" sz="1500" b="1" kern="0" spc="150" dirty="0">
                <a:solidFill>
                  <a:srgbClr val="22D3EE"/>
                </a:solidFill>
                <a:latin typeface="Calibri" pitchFamily="34" charset="0"/>
                <a:ea typeface="Calibri" pitchFamily="34" charset="-122"/>
                <a:cs typeface="Calibri" pitchFamily="34" charset="-120"/>
              </a:rPr>
              <a:t>FINAL YEAR CAPSTONE PROJECT   •   ARTIFICIAL INTELLIGENCE &amp; ROBOTICS</a:t>
            </a:r>
            <a:endParaRPr lang="en-US" sz="1500" dirty="0"/>
          </a:p>
        </p:txBody>
      </p:sp>
      <p:sp>
        <p:nvSpPr>
          <p:cNvPr id="3" name="Text 1"/>
          <p:cNvSpPr txBox="1"/>
          <p:nvPr/>
        </p:nvSpPr>
        <p:spPr>
          <a:xfrm>
            <a:off x="640080" y="914400"/>
            <a:ext cx="10881360" cy="868680"/>
          </a:xfrm>
          <a:prstGeom prst="rect">
            <a:avLst/>
          </a:prstGeom>
          <a:noFill/>
          <a:ln/>
        </p:spPr>
        <p:txBody>
          <a:bodyPr wrap="square" lIns="0" tIns="0" rIns="0" bIns="0" rtlCol="0" anchor="ctr"/>
          <a:lstStyle/>
          <a:p>
            <a:pPr marL="0" indent="0">
              <a:buNone/>
            </a:pPr>
            <a:r>
              <a:rPr lang="en-US" sz="4000" b="1" dirty="0">
                <a:solidFill>
                  <a:srgbClr val="F5F7FA"/>
                </a:solidFill>
                <a:latin typeface="Cambria" pitchFamily="34" charset="0"/>
                <a:ea typeface="Cambria" pitchFamily="34" charset="-122"/>
                <a:cs typeface="Cambria" pitchFamily="34" charset="-120"/>
              </a:rPr>
              <a:t>Adaptive AI-Driven Intelligent Mobility System</a:t>
            </a:r>
            <a:endParaRPr lang="en-US" sz="4000" dirty="0"/>
          </a:p>
        </p:txBody>
      </p:sp>
      <p:sp>
        <p:nvSpPr>
          <p:cNvPr id="4" name="Text 2"/>
          <p:cNvSpPr txBox="1"/>
          <p:nvPr/>
        </p:nvSpPr>
        <p:spPr>
          <a:xfrm>
            <a:off x="640080" y="1691640"/>
            <a:ext cx="10881360" cy="457200"/>
          </a:xfrm>
          <a:prstGeom prst="rect">
            <a:avLst/>
          </a:prstGeom>
          <a:noFill/>
          <a:ln/>
        </p:spPr>
        <p:txBody>
          <a:bodyPr wrap="square" lIns="0" tIns="0" rIns="0" bIns="0" rtlCol="0" anchor="ctr"/>
          <a:lstStyle/>
          <a:p>
            <a:pPr marL="0" indent="0">
              <a:buNone/>
            </a:pPr>
            <a:r>
              <a:rPr lang="en-US" sz="2000" i="1" dirty="0">
                <a:solidFill>
                  <a:srgbClr val="9AA5B8"/>
                </a:solidFill>
                <a:latin typeface="Calibri" pitchFamily="34" charset="0"/>
                <a:ea typeface="Calibri" pitchFamily="34" charset="-122"/>
                <a:cs typeface="Calibri" pitchFamily="34" charset="-120"/>
              </a:rPr>
              <a:t>For Advanced ADAS and Autonomous Driving</a:t>
            </a:r>
            <a:endParaRPr lang="en-US" sz="2000" dirty="0"/>
          </a:p>
        </p:txBody>
      </p:sp>
      <p:sp>
        <p:nvSpPr>
          <p:cNvPr id="5" name="Shape 3"/>
          <p:cNvSpPr/>
          <p:nvPr/>
        </p:nvSpPr>
        <p:spPr>
          <a:xfrm>
            <a:off x="640080" y="2331720"/>
            <a:ext cx="6858000" cy="1417320"/>
          </a:xfrm>
          <a:prstGeom prst="roundRect">
            <a:avLst>
              <a:gd name="adj" fmla="val 5161"/>
            </a:avLst>
          </a:prstGeom>
          <a:solidFill>
            <a:srgbClr val="141B33"/>
          </a:solidFill>
          <a:ln w="12700">
            <a:solidFill>
              <a:srgbClr val="2A3654"/>
            </a:solidFill>
            <a:prstDash val="solid"/>
          </a:ln>
        </p:spPr>
      </p:sp>
      <p:sp>
        <p:nvSpPr>
          <p:cNvPr id="6" name="Text 4"/>
          <p:cNvSpPr txBox="1"/>
          <p:nvPr/>
        </p:nvSpPr>
        <p:spPr>
          <a:xfrm>
            <a:off x="868680" y="2468880"/>
            <a:ext cx="6400800" cy="1143000"/>
          </a:xfrm>
          <a:prstGeom prst="rect">
            <a:avLst/>
          </a:prstGeom>
          <a:noFill/>
          <a:ln/>
        </p:spPr>
        <p:txBody>
          <a:bodyPr wrap="square" lIns="0" tIns="0" rIns="0" bIns="0" rtlCol="0" anchor="ctr"/>
          <a:lstStyle/>
          <a:p>
            <a:pPr marL="0" indent="0">
              <a:lnSpc>
                <a:spcPct val="120000"/>
              </a:lnSpc>
              <a:buNone/>
            </a:pPr>
            <a:r>
              <a:rPr lang="en-US" sz="1550" dirty="0">
                <a:solidFill>
                  <a:srgbClr val="F5F7FA"/>
                </a:solidFill>
                <a:latin typeface="Calibri" pitchFamily="34" charset="0"/>
                <a:ea typeface="Calibri" pitchFamily="34" charset="-122"/>
                <a:cs typeface="Calibri" pitchFamily="34" charset="-120"/>
              </a:rPr>
              <a:t>An AI- and robotics-based intelligent mobility platform that combines multi-sensor perception with dynamic sensor reliability estimation, uncertainty-aware fusion, predictive risk assessment and adaptive decision-making for robust ADAS and autonomous driving.</a:t>
            </a:r>
            <a:endParaRPr lang="en-US" sz="1550" dirty="0"/>
          </a:p>
        </p:txBody>
      </p:sp>
      <p:sp>
        <p:nvSpPr>
          <p:cNvPr id="7" name="Shape 5"/>
          <p:cNvSpPr/>
          <p:nvPr/>
        </p:nvSpPr>
        <p:spPr>
          <a:xfrm>
            <a:off x="640080" y="3913632"/>
            <a:ext cx="2788920" cy="274320"/>
          </a:xfrm>
          <a:prstGeom prst="roundRect">
            <a:avLst>
              <a:gd name="adj" fmla="val 50000"/>
            </a:avLst>
          </a:prstGeom>
          <a:solidFill>
            <a:srgbClr val="243352"/>
          </a:solidFill>
          <a:ln w="9525">
            <a:solidFill>
              <a:srgbClr val="1A8FA3"/>
            </a:solidFill>
            <a:prstDash val="solid"/>
          </a:ln>
        </p:spPr>
      </p:sp>
      <p:sp>
        <p:nvSpPr>
          <p:cNvPr id="8" name="Text 6"/>
          <p:cNvSpPr txBox="1"/>
          <p:nvPr/>
        </p:nvSpPr>
        <p:spPr>
          <a:xfrm>
            <a:off x="640080" y="3904488"/>
            <a:ext cx="278892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CARLA — Simulation &amp; Validation</a:t>
            </a:r>
            <a:endParaRPr lang="en-US" sz="1300" dirty="0"/>
          </a:p>
        </p:txBody>
      </p:sp>
      <p:sp>
        <p:nvSpPr>
          <p:cNvPr id="9" name="Shape 7"/>
          <p:cNvSpPr/>
          <p:nvPr/>
        </p:nvSpPr>
        <p:spPr>
          <a:xfrm>
            <a:off x="3566160" y="3913632"/>
            <a:ext cx="2514600" cy="274320"/>
          </a:xfrm>
          <a:prstGeom prst="roundRect">
            <a:avLst>
              <a:gd name="adj" fmla="val 50000"/>
            </a:avLst>
          </a:prstGeom>
          <a:solidFill>
            <a:srgbClr val="243352"/>
          </a:solidFill>
          <a:ln w="9525">
            <a:solidFill>
              <a:srgbClr val="1A8FA3"/>
            </a:solidFill>
            <a:prstDash val="solid"/>
          </a:ln>
        </p:spPr>
      </p:sp>
      <p:sp>
        <p:nvSpPr>
          <p:cNvPr id="10" name="Text 8"/>
          <p:cNvSpPr txBox="1"/>
          <p:nvPr/>
        </p:nvSpPr>
        <p:spPr>
          <a:xfrm>
            <a:off x="3566160" y="3904488"/>
            <a:ext cx="251460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ROS 2 — Robotics Middleware</a:t>
            </a:r>
            <a:endParaRPr lang="en-US" sz="1300" dirty="0"/>
          </a:p>
        </p:txBody>
      </p:sp>
      <p:sp>
        <p:nvSpPr>
          <p:cNvPr id="11" name="Shape 9"/>
          <p:cNvSpPr/>
          <p:nvPr/>
        </p:nvSpPr>
        <p:spPr>
          <a:xfrm>
            <a:off x="640080" y="4434840"/>
            <a:ext cx="6858000" cy="1691640"/>
          </a:xfrm>
          <a:prstGeom prst="roundRect">
            <a:avLst>
              <a:gd name="adj" fmla="val 4324"/>
            </a:avLst>
          </a:prstGeom>
          <a:solidFill>
            <a:srgbClr val="141B33"/>
          </a:solidFill>
          <a:ln w="12700">
            <a:solidFill>
              <a:srgbClr val="2A3654"/>
            </a:solidFill>
            <a:prstDash val="solid"/>
          </a:ln>
        </p:spPr>
      </p:sp>
      <p:sp>
        <p:nvSpPr>
          <p:cNvPr id="12" name="Text 10"/>
          <p:cNvSpPr txBox="1"/>
          <p:nvPr/>
        </p:nvSpPr>
        <p:spPr>
          <a:xfrm>
            <a:off x="868680" y="4553712"/>
            <a:ext cx="3200400" cy="256032"/>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Faculty Guide</a:t>
            </a:r>
            <a:endParaRPr lang="en-US" sz="1400" dirty="0"/>
          </a:p>
        </p:txBody>
      </p:sp>
      <p:sp>
        <p:nvSpPr>
          <p:cNvPr id="13" name="Text 11"/>
          <p:cNvSpPr txBox="1"/>
          <p:nvPr/>
        </p:nvSpPr>
        <p:spPr>
          <a:xfrm>
            <a:off x="868680" y="4800600"/>
            <a:ext cx="4206240" cy="274320"/>
          </a:xfrm>
          <a:prstGeom prst="rect">
            <a:avLst/>
          </a:prstGeom>
          <a:noFill/>
          <a:ln/>
        </p:spPr>
        <p:txBody>
          <a:bodyPr wrap="square" lIns="0" tIns="0" rIns="0" bIns="0" rtlCol="0" anchor="ctr"/>
          <a:lstStyle/>
          <a:p>
            <a:pPr marL="0" indent="0">
              <a:buNone/>
            </a:pPr>
            <a:r>
              <a:rPr lang="en-US" sz="1550" dirty="0">
                <a:solidFill>
                  <a:srgbClr val="F5F7FA"/>
                </a:solidFill>
                <a:latin typeface="Calibri" pitchFamily="34" charset="0"/>
                <a:ea typeface="Calibri" pitchFamily="34" charset="-122"/>
                <a:cs typeface="Calibri" pitchFamily="34" charset="-120"/>
              </a:rPr>
              <a:t>Dr. M Venkatesh, Associate Professor</a:t>
            </a:r>
            <a:endParaRPr lang="en-US" sz="1550" dirty="0"/>
          </a:p>
        </p:txBody>
      </p:sp>
      <p:sp>
        <p:nvSpPr>
          <p:cNvPr id="14" name="Text 12"/>
          <p:cNvSpPr txBox="1"/>
          <p:nvPr/>
        </p:nvSpPr>
        <p:spPr>
          <a:xfrm>
            <a:off x="868680" y="5138928"/>
            <a:ext cx="3200400" cy="256032"/>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Team Members</a:t>
            </a:r>
            <a:endParaRPr lang="en-US" sz="1400" dirty="0"/>
          </a:p>
        </p:txBody>
      </p:sp>
      <p:sp>
        <p:nvSpPr>
          <p:cNvPr id="15" name="Text 13"/>
          <p:cNvSpPr txBox="1"/>
          <p:nvPr/>
        </p:nvSpPr>
        <p:spPr>
          <a:xfrm>
            <a:off x="868680" y="5394960"/>
            <a:ext cx="3200400" cy="292608"/>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Chintha Deepak  </a:t>
            </a:r>
            <a:r>
              <a:rPr lang="en-US" sz="1450" dirty="0">
                <a:solidFill>
                  <a:srgbClr val="6B7A99"/>
                </a:solidFill>
                <a:latin typeface="Calibri" pitchFamily="34" charset="0"/>
                <a:ea typeface="Calibri" pitchFamily="34" charset="-122"/>
                <a:cs typeface="Calibri" pitchFamily="34" charset="-120"/>
              </a:rPr>
              <a:t>ENG23RA0029</a:t>
            </a:r>
            <a:endParaRPr lang="en-US" sz="1450" dirty="0"/>
          </a:p>
        </p:txBody>
      </p:sp>
      <p:sp>
        <p:nvSpPr>
          <p:cNvPr id="16" name="Text 14"/>
          <p:cNvSpPr txBox="1"/>
          <p:nvPr/>
        </p:nvSpPr>
        <p:spPr>
          <a:xfrm>
            <a:off x="4206240" y="5394960"/>
            <a:ext cx="3200400" cy="292608"/>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Harshitha P  </a:t>
            </a:r>
            <a:r>
              <a:rPr lang="en-US" sz="1450" dirty="0">
                <a:solidFill>
                  <a:srgbClr val="6B7A99"/>
                </a:solidFill>
                <a:latin typeface="Calibri" pitchFamily="34" charset="0"/>
                <a:ea typeface="Calibri" pitchFamily="34" charset="-122"/>
                <a:cs typeface="Calibri" pitchFamily="34" charset="-120"/>
              </a:rPr>
              <a:t>ENG23RA0008</a:t>
            </a:r>
            <a:endParaRPr lang="en-US" sz="1450" dirty="0"/>
          </a:p>
        </p:txBody>
      </p:sp>
      <p:sp>
        <p:nvSpPr>
          <p:cNvPr id="17" name="Text 15"/>
          <p:cNvSpPr txBox="1"/>
          <p:nvPr/>
        </p:nvSpPr>
        <p:spPr>
          <a:xfrm>
            <a:off x="868680" y="5742432"/>
            <a:ext cx="3200400" cy="292608"/>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Dhanush S  </a:t>
            </a:r>
            <a:r>
              <a:rPr lang="en-US" sz="1450" dirty="0">
                <a:solidFill>
                  <a:srgbClr val="6B7A99"/>
                </a:solidFill>
                <a:latin typeface="Calibri" pitchFamily="34" charset="0"/>
                <a:ea typeface="Calibri" pitchFamily="34" charset="-122"/>
                <a:cs typeface="Calibri" pitchFamily="34" charset="-120"/>
              </a:rPr>
              <a:t>ENG23RA0030</a:t>
            </a:r>
            <a:endParaRPr lang="en-US" sz="1450" dirty="0"/>
          </a:p>
        </p:txBody>
      </p:sp>
      <p:sp>
        <p:nvSpPr>
          <p:cNvPr id="18" name="Text 16"/>
          <p:cNvSpPr txBox="1"/>
          <p:nvPr/>
        </p:nvSpPr>
        <p:spPr>
          <a:xfrm>
            <a:off x="4206240" y="5742432"/>
            <a:ext cx="3200400" cy="292608"/>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M N S J Sreekar  </a:t>
            </a:r>
            <a:r>
              <a:rPr lang="en-US" sz="1450" dirty="0">
                <a:solidFill>
                  <a:srgbClr val="6B7A99"/>
                </a:solidFill>
                <a:latin typeface="Calibri" pitchFamily="34" charset="0"/>
                <a:ea typeface="Calibri" pitchFamily="34" charset="-122"/>
                <a:cs typeface="Calibri" pitchFamily="34" charset="-120"/>
              </a:rPr>
              <a:t>ENG23RA0033</a:t>
            </a:r>
            <a:endParaRPr lang="en-US" sz="1450" dirty="0"/>
          </a:p>
        </p:txBody>
      </p:sp>
      <p:sp>
        <p:nvSpPr>
          <p:cNvPr id="19" name="Shape 17"/>
          <p:cNvSpPr/>
          <p:nvPr/>
        </p:nvSpPr>
        <p:spPr>
          <a:xfrm>
            <a:off x="9235440" y="3108960"/>
            <a:ext cx="914400" cy="914400"/>
          </a:xfrm>
          <a:prstGeom prst="ellipse">
            <a:avLst/>
          </a:prstGeom>
          <a:solidFill>
            <a:srgbClr val="243352"/>
          </a:solidFill>
          <a:ln w="19050">
            <a:solidFill>
              <a:srgbClr val="22D3EE"/>
            </a:solidFill>
            <a:prstDash val="solid"/>
          </a:ln>
        </p:spPr>
      </p:sp>
      <p:sp>
        <p:nvSpPr>
          <p:cNvPr id="20" name="Text 18"/>
          <p:cNvSpPr txBox="1"/>
          <p:nvPr/>
        </p:nvSpPr>
        <p:spPr>
          <a:xfrm>
            <a:off x="9235440" y="3108960"/>
            <a:ext cx="914400" cy="914400"/>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EGO</a:t>
            </a:r>
            <a:endParaRPr lang="en-US" sz="1250" dirty="0"/>
          </a:p>
          <a:p>
            <a:pPr marL="0" indent="0" algn="ctr">
              <a:buNone/>
            </a:pPr>
            <a:r>
              <a:rPr lang="en-US" sz="1250" b="1" dirty="0">
                <a:solidFill>
                  <a:srgbClr val="22D3EE"/>
                </a:solidFill>
                <a:latin typeface="Calibri" pitchFamily="34" charset="0"/>
                <a:ea typeface="Calibri" pitchFamily="34" charset="-122"/>
                <a:cs typeface="Calibri" pitchFamily="34" charset="-120"/>
              </a:rPr>
              <a:t>VEHICLE</a:t>
            </a:r>
            <a:endParaRPr lang="en-US" sz="1250" dirty="0"/>
          </a:p>
        </p:txBody>
      </p:sp>
      <p:sp>
        <p:nvSpPr>
          <p:cNvPr id="21" name="Shape 19"/>
          <p:cNvSpPr/>
          <p:nvPr/>
        </p:nvSpPr>
        <p:spPr>
          <a:xfrm>
            <a:off x="9328868" y="1854124"/>
            <a:ext cx="457200" cy="457200"/>
          </a:xfrm>
          <a:prstGeom prst="ellipse">
            <a:avLst/>
          </a:prstGeom>
          <a:solidFill>
            <a:srgbClr val="141B33"/>
          </a:solidFill>
          <a:ln w="15875">
            <a:solidFill>
              <a:srgbClr val="22D3EE"/>
            </a:solidFill>
            <a:prstDash val="solid"/>
          </a:ln>
        </p:spPr>
      </p:sp>
      <p:sp>
        <p:nvSpPr>
          <p:cNvPr id="22" name="Text 20"/>
          <p:cNvSpPr txBox="1"/>
          <p:nvPr/>
        </p:nvSpPr>
        <p:spPr>
          <a:xfrm>
            <a:off x="9328868" y="1869592"/>
            <a:ext cx="457200" cy="457200"/>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C</a:t>
            </a:r>
            <a:endParaRPr lang="en-US" sz="1500" dirty="0"/>
          </a:p>
        </p:txBody>
      </p:sp>
      <p:sp>
        <p:nvSpPr>
          <p:cNvPr id="23" name="Text 21"/>
          <p:cNvSpPr txBox="1"/>
          <p:nvPr/>
        </p:nvSpPr>
        <p:spPr>
          <a:xfrm>
            <a:off x="9052560" y="2320588"/>
            <a:ext cx="1097280" cy="256032"/>
          </a:xfrm>
          <a:prstGeom prst="rect">
            <a:avLst/>
          </a:prstGeom>
          <a:noFill/>
          <a:ln/>
        </p:spPr>
        <p:txBody>
          <a:bodyPr wrap="square" lIns="0" tIns="0" rIns="0" bIns="0" rtlCol="0" anchor="ctr"/>
          <a:lstStyle/>
          <a:p>
            <a:pPr marL="0" indent="0" algn="ctr">
              <a:buNone/>
            </a:pPr>
            <a:r>
              <a:rPr lang="en-US" sz="1400" dirty="0">
                <a:solidFill>
                  <a:srgbClr val="F5F7FA"/>
                </a:solidFill>
                <a:latin typeface="Calibri" pitchFamily="34" charset="0"/>
                <a:ea typeface="Calibri" pitchFamily="34" charset="-122"/>
                <a:cs typeface="Calibri" pitchFamily="34" charset="-120"/>
              </a:rPr>
              <a:t>Camera</a:t>
            </a:r>
            <a:endParaRPr lang="en-US" sz="1400" dirty="0"/>
          </a:p>
        </p:txBody>
      </p:sp>
      <p:sp>
        <p:nvSpPr>
          <p:cNvPr id="24" name="Shape 22"/>
          <p:cNvSpPr/>
          <p:nvPr/>
        </p:nvSpPr>
        <p:spPr>
          <a:xfrm>
            <a:off x="10830473" y="2660191"/>
            <a:ext cx="457200" cy="457200"/>
          </a:xfrm>
          <a:prstGeom prst="ellipse">
            <a:avLst/>
          </a:prstGeom>
          <a:solidFill>
            <a:srgbClr val="141B33"/>
          </a:solidFill>
          <a:ln w="15875">
            <a:solidFill>
              <a:srgbClr val="22D3EE"/>
            </a:solidFill>
            <a:prstDash val="solid"/>
          </a:ln>
        </p:spPr>
      </p:sp>
      <p:sp>
        <p:nvSpPr>
          <p:cNvPr id="25" name="Text 23"/>
          <p:cNvSpPr txBox="1"/>
          <p:nvPr/>
        </p:nvSpPr>
        <p:spPr>
          <a:xfrm>
            <a:off x="10830473" y="2641903"/>
            <a:ext cx="457200" cy="457200"/>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L</a:t>
            </a:r>
            <a:endParaRPr lang="en-US" sz="1500" dirty="0"/>
          </a:p>
        </p:txBody>
      </p:sp>
      <p:sp>
        <p:nvSpPr>
          <p:cNvPr id="26" name="Text 24"/>
          <p:cNvSpPr txBox="1"/>
          <p:nvPr/>
        </p:nvSpPr>
        <p:spPr>
          <a:xfrm>
            <a:off x="10391561" y="3117391"/>
            <a:ext cx="1097280" cy="256032"/>
          </a:xfrm>
          <a:prstGeom prst="rect">
            <a:avLst/>
          </a:prstGeom>
          <a:noFill/>
          <a:ln/>
        </p:spPr>
        <p:txBody>
          <a:bodyPr wrap="square" lIns="0" tIns="0" rIns="0" bIns="0" rtlCol="0" anchor="ctr"/>
          <a:lstStyle/>
          <a:p>
            <a:pPr marL="0" indent="0" algn="ctr">
              <a:buNone/>
            </a:pPr>
            <a:r>
              <a:rPr lang="en-US" sz="1400" dirty="0">
                <a:solidFill>
                  <a:srgbClr val="F5F7FA"/>
                </a:solidFill>
                <a:latin typeface="Calibri" pitchFamily="34" charset="0"/>
                <a:ea typeface="Calibri" pitchFamily="34" charset="-122"/>
                <a:cs typeface="Calibri" pitchFamily="34" charset="-120"/>
              </a:rPr>
              <a:t>LiDAR</a:t>
            </a:r>
            <a:endParaRPr lang="en-US" sz="1400" dirty="0"/>
          </a:p>
        </p:txBody>
      </p:sp>
      <p:sp>
        <p:nvSpPr>
          <p:cNvPr id="27" name="Shape 25"/>
          <p:cNvSpPr/>
          <p:nvPr/>
        </p:nvSpPr>
        <p:spPr>
          <a:xfrm>
            <a:off x="10249166" y="4449269"/>
            <a:ext cx="457200" cy="457200"/>
          </a:xfrm>
          <a:prstGeom prst="ellipse">
            <a:avLst/>
          </a:prstGeom>
          <a:solidFill>
            <a:srgbClr val="141B33"/>
          </a:solidFill>
          <a:ln w="15875">
            <a:solidFill>
              <a:srgbClr val="22D3EE"/>
            </a:solidFill>
            <a:prstDash val="solid"/>
          </a:ln>
        </p:spPr>
      </p:sp>
      <p:sp>
        <p:nvSpPr>
          <p:cNvPr id="28" name="Text 26"/>
          <p:cNvSpPr txBox="1"/>
          <p:nvPr/>
        </p:nvSpPr>
        <p:spPr>
          <a:xfrm>
            <a:off x="10249166" y="4430981"/>
            <a:ext cx="457200" cy="457200"/>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R</a:t>
            </a:r>
            <a:endParaRPr lang="en-US" sz="1500" dirty="0"/>
          </a:p>
        </p:txBody>
      </p:sp>
      <p:sp>
        <p:nvSpPr>
          <p:cNvPr id="29" name="Text 27"/>
          <p:cNvSpPr txBox="1"/>
          <p:nvPr/>
        </p:nvSpPr>
        <p:spPr>
          <a:xfrm>
            <a:off x="9810254" y="4906469"/>
            <a:ext cx="1097280" cy="256032"/>
          </a:xfrm>
          <a:prstGeom prst="rect">
            <a:avLst/>
          </a:prstGeom>
          <a:noFill/>
          <a:ln/>
        </p:spPr>
        <p:txBody>
          <a:bodyPr wrap="square" lIns="0" tIns="0" rIns="0" bIns="0" rtlCol="0" anchor="ctr"/>
          <a:lstStyle/>
          <a:p>
            <a:pPr marL="0" indent="0" algn="ctr">
              <a:buNone/>
            </a:pPr>
            <a:r>
              <a:rPr lang="en-US" sz="1400" dirty="0">
                <a:solidFill>
                  <a:srgbClr val="F5F7FA"/>
                </a:solidFill>
                <a:latin typeface="Calibri" pitchFamily="34" charset="0"/>
                <a:ea typeface="Calibri" pitchFamily="34" charset="-122"/>
                <a:cs typeface="Calibri" pitchFamily="34" charset="-120"/>
              </a:rPr>
              <a:t>Radar</a:t>
            </a:r>
            <a:endParaRPr lang="en-US" sz="1400" dirty="0"/>
          </a:p>
        </p:txBody>
      </p:sp>
      <p:sp>
        <p:nvSpPr>
          <p:cNvPr id="30" name="Shape 28"/>
          <p:cNvSpPr/>
          <p:nvPr/>
        </p:nvSpPr>
        <p:spPr>
          <a:xfrm>
            <a:off x="8368018" y="4449269"/>
            <a:ext cx="457200" cy="457200"/>
          </a:xfrm>
          <a:prstGeom prst="ellipse">
            <a:avLst/>
          </a:prstGeom>
          <a:solidFill>
            <a:srgbClr val="141B33"/>
          </a:solidFill>
          <a:ln w="15875">
            <a:solidFill>
              <a:srgbClr val="22D3EE"/>
            </a:solidFill>
            <a:prstDash val="solid"/>
          </a:ln>
        </p:spPr>
      </p:sp>
      <p:sp>
        <p:nvSpPr>
          <p:cNvPr id="31" name="Text 29"/>
          <p:cNvSpPr txBox="1"/>
          <p:nvPr/>
        </p:nvSpPr>
        <p:spPr>
          <a:xfrm>
            <a:off x="8368018" y="4430981"/>
            <a:ext cx="457200" cy="457200"/>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I</a:t>
            </a:r>
            <a:endParaRPr lang="en-US" sz="1500" dirty="0"/>
          </a:p>
        </p:txBody>
      </p:sp>
      <p:sp>
        <p:nvSpPr>
          <p:cNvPr id="32" name="Text 30"/>
          <p:cNvSpPr txBox="1"/>
          <p:nvPr/>
        </p:nvSpPr>
        <p:spPr>
          <a:xfrm>
            <a:off x="7929106" y="4906469"/>
            <a:ext cx="1097280" cy="256032"/>
          </a:xfrm>
          <a:prstGeom prst="rect">
            <a:avLst/>
          </a:prstGeom>
          <a:noFill/>
          <a:ln/>
        </p:spPr>
        <p:txBody>
          <a:bodyPr wrap="square" lIns="0" tIns="0" rIns="0" bIns="0" rtlCol="0" anchor="ctr"/>
          <a:lstStyle/>
          <a:p>
            <a:pPr marL="0" indent="0" algn="ctr">
              <a:buNone/>
            </a:pPr>
            <a:r>
              <a:rPr lang="en-US" sz="1400" dirty="0">
                <a:solidFill>
                  <a:srgbClr val="F5F7FA"/>
                </a:solidFill>
                <a:latin typeface="Calibri" pitchFamily="34" charset="0"/>
                <a:ea typeface="Calibri" pitchFamily="34" charset="-122"/>
                <a:cs typeface="Calibri" pitchFamily="34" charset="-120"/>
              </a:rPr>
              <a:t>IMU</a:t>
            </a:r>
            <a:endParaRPr lang="en-US" sz="1400" dirty="0"/>
          </a:p>
        </p:txBody>
      </p:sp>
      <p:sp>
        <p:nvSpPr>
          <p:cNvPr id="33" name="Shape 31"/>
          <p:cNvSpPr/>
          <p:nvPr/>
        </p:nvSpPr>
        <p:spPr>
          <a:xfrm>
            <a:off x="7786711" y="2660191"/>
            <a:ext cx="457200" cy="457200"/>
          </a:xfrm>
          <a:prstGeom prst="ellipse">
            <a:avLst/>
          </a:prstGeom>
          <a:solidFill>
            <a:srgbClr val="141B33"/>
          </a:solidFill>
          <a:ln w="15875">
            <a:solidFill>
              <a:srgbClr val="22D3EE"/>
            </a:solidFill>
            <a:prstDash val="solid"/>
          </a:ln>
        </p:spPr>
      </p:sp>
      <p:sp>
        <p:nvSpPr>
          <p:cNvPr id="34" name="Text 32"/>
          <p:cNvSpPr txBox="1"/>
          <p:nvPr/>
        </p:nvSpPr>
        <p:spPr>
          <a:xfrm>
            <a:off x="7786711" y="2641903"/>
            <a:ext cx="457200" cy="457200"/>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V</a:t>
            </a:r>
            <a:endParaRPr lang="en-US" sz="1500" dirty="0"/>
          </a:p>
        </p:txBody>
      </p:sp>
      <p:sp>
        <p:nvSpPr>
          <p:cNvPr id="35" name="Text 33"/>
          <p:cNvSpPr txBox="1"/>
          <p:nvPr/>
        </p:nvSpPr>
        <p:spPr>
          <a:xfrm>
            <a:off x="7347799" y="3117391"/>
            <a:ext cx="1097280" cy="256032"/>
          </a:xfrm>
          <a:prstGeom prst="rect">
            <a:avLst/>
          </a:prstGeom>
          <a:noFill/>
          <a:ln/>
        </p:spPr>
        <p:txBody>
          <a:bodyPr wrap="square" lIns="0" tIns="0" rIns="0" bIns="0" rtlCol="0" anchor="ctr"/>
          <a:lstStyle/>
          <a:p>
            <a:pPr marL="0" indent="0" algn="ctr">
              <a:buNone/>
            </a:pPr>
            <a:r>
              <a:rPr lang="en-US" sz="1400" dirty="0">
                <a:solidFill>
                  <a:srgbClr val="F5F7FA"/>
                </a:solidFill>
                <a:latin typeface="Calibri" pitchFamily="34" charset="0"/>
                <a:ea typeface="Calibri" pitchFamily="34" charset="-122"/>
                <a:cs typeface="Calibri" pitchFamily="34" charset="-120"/>
              </a:rPr>
              <a:t>V2X</a:t>
            </a:r>
            <a:endParaRPr lang="en-US" sz="1400" dirty="0"/>
          </a:p>
        </p:txBody>
      </p:sp>
      <p:sp>
        <p:nvSpPr>
          <p:cNvPr id="36" name="Text 34"/>
          <p:cNvSpPr txBox="1"/>
          <p:nvPr/>
        </p:nvSpPr>
        <p:spPr>
          <a:xfrm>
            <a:off x="7772400" y="5394960"/>
            <a:ext cx="3749040" cy="457200"/>
          </a:xfrm>
          <a:prstGeom prst="rect">
            <a:avLst/>
          </a:prstGeom>
          <a:noFill/>
          <a:ln/>
        </p:spPr>
        <p:txBody>
          <a:bodyPr wrap="square" lIns="0" tIns="0" rIns="0" bIns="0" rtlCol="0" anchor="ctr"/>
          <a:lstStyle/>
          <a:p>
            <a:pPr marL="0" indent="0" algn="ctr">
              <a:buNone/>
            </a:pPr>
            <a:r>
              <a:rPr lang="en-US" sz="1600" i="1" dirty="0">
                <a:solidFill>
                  <a:srgbClr val="9AA5B8"/>
                </a:solidFill>
                <a:latin typeface="Cambria" pitchFamily="34" charset="0"/>
                <a:ea typeface="Cambria" pitchFamily="34" charset="-122"/>
                <a:cs typeface="Cambria" pitchFamily="34" charset="-120"/>
              </a:rPr>
              <a:t>"From fixed perception to adaptive intelligence."</a:t>
            </a:r>
            <a:endParaRPr lang="en-US" sz="1600" dirty="0"/>
          </a:p>
        </p:txBody>
      </p:sp>
      <p:sp>
        <p:nvSpPr>
          <p:cNvPr id="37" name="Text 35"/>
          <p:cNvSpPr txBox="1"/>
          <p:nvPr/>
        </p:nvSpPr>
        <p:spPr>
          <a:xfrm>
            <a:off x="640080" y="6446520"/>
            <a:ext cx="868680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Zeroth Stage Project Evaluation  •  Research Proposal — Adaptive Perception, Sensor Fusion &amp; Risk-Aware Decision Making</a:t>
            </a:r>
            <a:endParaRPr lang="en-US" sz="1300" dirty="0"/>
          </a:p>
        </p:txBody>
      </p:sp>
      <p:sp>
        <p:nvSpPr>
          <p:cNvPr id="38" name="Text 36"/>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01 / 13</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PROBLEM NEED → PROBLEM STATEMENT</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Why This Problem Matters</a:t>
            </a:r>
            <a:endParaRPr lang="en-US" sz="3000" dirty="0"/>
          </a:p>
        </p:txBody>
      </p:sp>
      <p:sp>
        <p:nvSpPr>
          <p:cNvPr id="4" name="Shape 2"/>
          <p:cNvSpPr/>
          <p:nvPr/>
        </p:nvSpPr>
        <p:spPr>
          <a:xfrm>
            <a:off x="548640" y="1417320"/>
            <a:ext cx="5212080" cy="1160680"/>
          </a:xfrm>
          <a:prstGeom prst="roundRect">
            <a:avLst>
              <a:gd name="adj" fmla="val 8421"/>
            </a:avLst>
          </a:prstGeom>
          <a:solidFill>
            <a:srgbClr val="141B33"/>
          </a:solidFill>
          <a:ln w="12700">
            <a:solidFill>
              <a:srgbClr val="2A3654"/>
            </a:solidFill>
            <a:prstDash val="solid"/>
          </a:ln>
        </p:spPr>
      </p:sp>
      <p:sp>
        <p:nvSpPr>
          <p:cNvPr id="5" name="Shape 3"/>
          <p:cNvSpPr/>
          <p:nvPr/>
        </p:nvSpPr>
        <p:spPr>
          <a:xfrm>
            <a:off x="713232" y="1581912"/>
            <a:ext cx="384048" cy="384048"/>
          </a:xfrm>
          <a:prstGeom prst="ellipse">
            <a:avLst/>
          </a:prstGeom>
          <a:solidFill>
            <a:srgbClr val="141B33"/>
          </a:solidFill>
          <a:ln w="15875">
            <a:solidFill>
              <a:srgbClr val="22D3EE"/>
            </a:solidFill>
            <a:prstDash val="solid"/>
          </a:ln>
        </p:spPr>
      </p:sp>
      <p:sp>
        <p:nvSpPr>
          <p:cNvPr id="6" name="Text 4"/>
          <p:cNvSpPr txBox="1"/>
          <p:nvPr/>
        </p:nvSpPr>
        <p:spPr>
          <a:xfrm>
            <a:off x="713232" y="1563624"/>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D</a:t>
            </a:r>
            <a:endParaRPr lang="en-US" sz="1500" dirty="0"/>
          </a:p>
        </p:txBody>
      </p:sp>
      <p:sp>
        <p:nvSpPr>
          <p:cNvPr id="7" name="Text 5"/>
          <p:cNvSpPr txBox="1"/>
          <p:nvPr/>
        </p:nvSpPr>
        <p:spPr>
          <a:xfrm>
            <a:off x="1188720" y="1554480"/>
            <a:ext cx="438912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Dynamic Agents</a:t>
            </a:r>
            <a:endParaRPr lang="en-US" sz="1600" dirty="0"/>
          </a:p>
        </p:txBody>
      </p:sp>
      <p:sp>
        <p:nvSpPr>
          <p:cNvPr id="8" name="Text 6"/>
          <p:cNvSpPr txBox="1"/>
          <p:nvPr/>
        </p:nvSpPr>
        <p:spPr>
          <a:xfrm>
            <a:off x="749808" y="2084832"/>
            <a:ext cx="4809744" cy="64008"/>
          </a:xfrm>
          <a:prstGeom prst="rect">
            <a:avLst/>
          </a:prstGeom>
          <a:noFill/>
          <a:ln/>
        </p:spPr>
        <p:txBody>
          <a:bodyPr wrap="square" lIns="0" tIns="0" rIns="0" bIns="0" rtlCol="0" anchor="t"/>
          <a:lstStyle/>
          <a:p>
            <a:pPr marL="0" indent="0">
              <a:lnSpc>
                <a:spcPct val="115000"/>
              </a:lnSpc>
              <a:buNone/>
            </a:pPr>
            <a:r>
              <a:rPr lang="en-US" sz="1350" dirty="0">
                <a:solidFill>
                  <a:srgbClr val="9AA5B8"/>
                </a:solidFill>
                <a:latin typeface="Calibri" pitchFamily="34" charset="0"/>
                <a:ea typeface="Calibri" pitchFamily="34" charset="-122"/>
                <a:cs typeface="Calibri" pitchFamily="34" charset="-120"/>
              </a:rPr>
              <a:t>Vehicles, pedestrians and riders move unpredictably and interact simultaneously.</a:t>
            </a:r>
            <a:endParaRPr lang="en-US" sz="1350" dirty="0"/>
          </a:p>
        </p:txBody>
      </p:sp>
      <p:sp>
        <p:nvSpPr>
          <p:cNvPr id="9" name="Shape 7"/>
          <p:cNvSpPr/>
          <p:nvPr/>
        </p:nvSpPr>
        <p:spPr>
          <a:xfrm>
            <a:off x="548640" y="2696872"/>
            <a:ext cx="5212080" cy="1160680"/>
          </a:xfrm>
          <a:prstGeom prst="roundRect">
            <a:avLst>
              <a:gd name="adj" fmla="val 8421"/>
            </a:avLst>
          </a:prstGeom>
          <a:solidFill>
            <a:srgbClr val="141B33"/>
          </a:solidFill>
          <a:ln w="12700">
            <a:solidFill>
              <a:srgbClr val="2A3654"/>
            </a:solidFill>
            <a:prstDash val="solid"/>
          </a:ln>
        </p:spPr>
      </p:sp>
      <p:sp>
        <p:nvSpPr>
          <p:cNvPr id="10" name="Shape 8"/>
          <p:cNvSpPr/>
          <p:nvPr/>
        </p:nvSpPr>
        <p:spPr>
          <a:xfrm>
            <a:off x="713232" y="2861464"/>
            <a:ext cx="384048" cy="384048"/>
          </a:xfrm>
          <a:prstGeom prst="ellipse">
            <a:avLst/>
          </a:prstGeom>
          <a:solidFill>
            <a:srgbClr val="141B33"/>
          </a:solidFill>
          <a:ln w="15875">
            <a:solidFill>
              <a:srgbClr val="22D3EE"/>
            </a:solidFill>
            <a:prstDash val="solid"/>
          </a:ln>
        </p:spPr>
      </p:sp>
      <p:sp>
        <p:nvSpPr>
          <p:cNvPr id="11" name="Text 9"/>
          <p:cNvSpPr txBox="1"/>
          <p:nvPr/>
        </p:nvSpPr>
        <p:spPr>
          <a:xfrm>
            <a:off x="713232" y="2843176"/>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U</a:t>
            </a:r>
            <a:endParaRPr lang="en-US" sz="1500" dirty="0"/>
          </a:p>
        </p:txBody>
      </p:sp>
      <p:sp>
        <p:nvSpPr>
          <p:cNvPr id="12" name="Text 10"/>
          <p:cNvSpPr txBox="1"/>
          <p:nvPr/>
        </p:nvSpPr>
        <p:spPr>
          <a:xfrm>
            <a:off x="1188720" y="2834032"/>
            <a:ext cx="438912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Uncertain Conditions</a:t>
            </a:r>
            <a:endParaRPr lang="en-US" sz="1600" dirty="0"/>
          </a:p>
        </p:txBody>
      </p:sp>
      <p:sp>
        <p:nvSpPr>
          <p:cNvPr id="13" name="Text 11"/>
          <p:cNvSpPr txBox="1"/>
          <p:nvPr/>
        </p:nvSpPr>
        <p:spPr>
          <a:xfrm>
            <a:off x="749808" y="3364384"/>
            <a:ext cx="4809744" cy="64008"/>
          </a:xfrm>
          <a:prstGeom prst="rect">
            <a:avLst/>
          </a:prstGeom>
          <a:noFill/>
          <a:ln/>
        </p:spPr>
        <p:txBody>
          <a:bodyPr wrap="square" lIns="0" tIns="0" rIns="0" bIns="0" rtlCol="0" anchor="t"/>
          <a:lstStyle/>
          <a:p>
            <a:pPr marL="0" indent="0">
              <a:lnSpc>
                <a:spcPct val="115000"/>
              </a:lnSpc>
              <a:buNone/>
            </a:pPr>
            <a:r>
              <a:rPr lang="en-US" sz="1350" dirty="0">
                <a:solidFill>
                  <a:srgbClr val="9AA5B8"/>
                </a:solidFill>
                <a:latin typeface="Calibri" pitchFamily="34" charset="0"/>
                <a:ea typeface="Calibri" pitchFamily="34" charset="-122"/>
                <a:cs typeface="Calibri" pitchFamily="34" charset="-120"/>
              </a:rPr>
              <a:t>Unmarked lanes, occlusions and poor visibility limit what sensors can perceive.</a:t>
            </a:r>
            <a:endParaRPr lang="en-US" sz="1350" dirty="0"/>
          </a:p>
        </p:txBody>
      </p:sp>
      <p:sp>
        <p:nvSpPr>
          <p:cNvPr id="14" name="Shape 12"/>
          <p:cNvSpPr/>
          <p:nvPr/>
        </p:nvSpPr>
        <p:spPr>
          <a:xfrm>
            <a:off x="548640" y="3976424"/>
            <a:ext cx="5212080" cy="1160680"/>
          </a:xfrm>
          <a:prstGeom prst="roundRect">
            <a:avLst>
              <a:gd name="adj" fmla="val 8421"/>
            </a:avLst>
          </a:prstGeom>
          <a:solidFill>
            <a:srgbClr val="141B33"/>
          </a:solidFill>
          <a:ln w="12700">
            <a:solidFill>
              <a:srgbClr val="2A3654"/>
            </a:solidFill>
            <a:prstDash val="solid"/>
          </a:ln>
        </p:spPr>
      </p:sp>
      <p:sp>
        <p:nvSpPr>
          <p:cNvPr id="15" name="Shape 13"/>
          <p:cNvSpPr/>
          <p:nvPr/>
        </p:nvSpPr>
        <p:spPr>
          <a:xfrm>
            <a:off x="713232" y="4141016"/>
            <a:ext cx="384048" cy="384048"/>
          </a:xfrm>
          <a:prstGeom prst="ellipse">
            <a:avLst/>
          </a:prstGeom>
          <a:solidFill>
            <a:srgbClr val="141B33"/>
          </a:solidFill>
          <a:ln w="15875">
            <a:solidFill>
              <a:srgbClr val="22D3EE"/>
            </a:solidFill>
            <a:prstDash val="solid"/>
          </a:ln>
        </p:spPr>
      </p:sp>
      <p:sp>
        <p:nvSpPr>
          <p:cNvPr id="16" name="Text 14"/>
          <p:cNvSpPr txBox="1"/>
          <p:nvPr/>
        </p:nvSpPr>
        <p:spPr>
          <a:xfrm>
            <a:off x="713232" y="4122728"/>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I</a:t>
            </a:r>
            <a:endParaRPr lang="en-US" sz="1500" dirty="0"/>
          </a:p>
        </p:txBody>
      </p:sp>
      <p:sp>
        <p:nvSpPr>
          <p:cNvPr id="17" name="Text 15"/>
          <p:cNvSpPr txBox="1"/>
          <p:nvPr/>
        </p:nvSpPr>
        <p:spPr>
          <a:xfrm>
            <a:off x="1188720" y="4113584"/>
            <a:ext cx="438912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Imperfect Information</a:t>
            </a:r>
            <a:endParaRPr lang="en-US" sz="1600" dirty="0"/>
          </a:p>
        </p:txBody>
      </p:sp>
      <p:sp>
        <p:nvSpPr>
          <p:cNvPr id="18" name="Text 16"/>
          <p:cNvSpPr txBox="1"/>
          <p:nvPr/>
        </p:nvSpPr>
        <p:spPr>
          <a:xfrm>
            <a:off x="749808" y="4643936"/>
            <a:ext cx="4809744" cy="64008"/>
          </a:xfrm>
          <a:prstGeom prst="rect">
            <a:avLst/>
          </a:prstGeom>
          <a:noFill/>
          <a:ln/>
        </p:spPr>
        <p:txBody>
          <a:bodyPr wrap="square" lIns="0" tIns="0" rIns="0" bIns="0" rtlCol="0" anchor="t"/>
          <a:lstStyle/>
          <a:p>
            <a:pPr marL="0" indent="0">
              <a:lnSpc>
                <a:spcPct val="115000"/>
              </a:lnSpc>
              <a:buNone/>
            </a:pPr>
            <a:r>
              <a:rPr lang="en-US" sz="1350" dirty="0">
                <a:solidFill>
                  <a:srgbClr val="9AA5B8"/>
                </a:solidFill>
                <a:latin typeface="Calibri" pitchFamily="34" charset="0"/>
                <a:ea typeface="Calibri" pitchFamily="34" charset="-122"/>
                <a:cs typeface="Calibri" pitchFamily="34" charset="-120"/>
              </a:rPr>
              <a:t>Every perception system operates on incomplete, sometimes conflicting, sensor data.</a:t>
            </a:r>
            <a:endParaRPr lang="en-US" sz="1350" dirty="0"/>
          </a:p>
        </p:txBody>
      </p:sp>
      <p:sp>
        <p:nvSpPr>
          <p:cNvPr id="19" name="Shape 17"/>
          <p:cNvSpPr/>
          <p:nvPr/>
        </p:nvSpPr>
        <p:spPr>
          <a:xfrm>
            <a:off x="548640" y="5274264"/>
            <a:ext cx="5212080" cy="777240"/>
          </a:xfrm>
          <a:prstGeom prst="roundRect">
            <a:avLst>
              <a:gd name="adj" fmla="val 9412"/>
            </a:avLst>
          </a:prstGeom>
          <a:solidFill>
            <a:srgbClr val="243352"/>
          </a:solidFill>
          <a:ln w="12700">
            <a:solidFill>
              <a:srgbClr val="1A8FA3"/>
            </a:solidFill>
            <a:prstDash val="solid"/>
          </a:ln>
        </p:spPr>
      </p:sp>
      <p:sp>
        <p:nvSpPr>
          <p:cNvPr id="20" name="Text 18"/>
          <p:cNvSpPr txBox="1"/>
          <p:nvPr/>
        </p:nvSpPr>
        <p:spPr>
          <a:xfrm>
            <a:off x="731520" y="5347416"/>
            <a:ext cx="4846320" cy="640080"/>
          </a:xfrm>
          <a:prstGeom prst="rect">
            <a:avLst/>
          </a:prstGeom>
          <a:noFill/>
          <a:ln/>
        </p:spPr>
        <p:txBody>
          <a:bodyPr wrap="square" lIns="0" tIns="0" rIns="0" bIns="0" rtlCol="0" anchor="ctr"/>
          <a:lstStyle/>
          <a:p>
            <a:pPr marL="0" indent="0">
              <a:buNone/>
            </a:pPr>
            <a:r>
              <a:rPr lang="en-US" sz="1450" i="1" dirty="0">
                <a:solidFill>
                  <a:srgbClr val="F5F7FA"/>
                </a:solidFill>
                <a:latin typeface="Calibri" pitchFamily="34" charset="0"/>
                <a:ea typeface="Calibri" pitchFamily="34" charset="-122"/>
                <a:cs typeface="Calibri" pitchFamily="34" charset="-120"/>
              </a:rPr>
              <a:t>"Multiple sensors observe the same environment — but each is independently vulnerable to degradation."</a:t>
            </a:r>
            <a:endParaRPr lang="en-US" sz="1450" dirty="0"/>
          </a:p>
        </p:txBody>
      </p:sp>
      <p:sp>
        <p:nvSpPr>
          <p:cNvPr id="21" name="Shape 19"/>
          <p:cNvSpPr/>
          <p:nvPr/>
        </p:nvSpPr>
        <p:spPr>
          <a:xfrm>
            <a:off x="6035040" y="1417320"/>
            <a:ext cx="1874520" cy="1051560"/>
          </a:xfrm>
          <a:prstGeom prst="roundRect">
            <a:avLst>
              <a:gd name="adj" fmla="val 5217"/>
            </a:avLst>
          </a:prstGeom>
          <a:solidFill>
            <a:srgbClr val="141B33"/>
          </a:solidFill>
          <a:ln w="12700">
            <a:solidFill>
              <a:srgbClr val="2A3654"/>
            </a:solidFill>
            <a:prstDash val="solid"/>
          </a:ln>
        </p:spPr>
      </p:sp>
      <p:sp>
        <p:nvSpPr>
          <p:cNvPr id="22" name="Text 20"/>
          <p:cNvSpPr txBox="1"/>
          <p:nvPr/>
        </p:nvSpPr>
        <p:spPr>
          <a:xfrm>
            <a:off x="6144768" y="1508760"/>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Environmental Interference</a:t>
            </a:r>
            <a:endParaRPr lang="en-US" sz="1400" dirty="0"/>
          </a:p>
        </p:txBody>
      </p:sp>
      <p:sp>
        <p:nvSpPr>
          <p:cNvPr id="23" name="Text 21"/>
          <p:cNvSpPr txBox="1"/>
          <p:nvPr/>
        </p:nvSpPr>
        <p:spPr>
          <a:xfrm>
            <a:off x="6144768" y="1984248"/>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Rain, fog, and glare</a:t>
            </a:r>
            <a:endParaRPr lang="en-US" sz="1300" dirty="0"/>
          </a:p>
        </p:txBody>
      </p:sp>
      <p:sp>
        <p:nvSpPr>
          <p:cNvPr id="24" name="Shape 22"/>
          <p:cNvSpPr/>
          <p:nvPr/>
        </p:nvSpPr>
        <p:spPr>
          <a:xfrm>
            <a:off x="8019288" y="1417320"/>
            <a:ext cx="1874520" cy="1051560"/>
          </a:xfrm>
          <a:prstGeom prst="roundRect">
            <a:avLst>
              <a:gd name="adj" fmla="val 5217"/>
            </a:avLst>
          </a:prstGeom>
          <a:solidFill>
            <a:srgbClr val="141B33"/>
          </a:solidFill>
          <a:ln w="12700">
            <a:solidFill>
              <a:srgbClr val="2A3654"/>
            </a:solidFill>
            <a:prstDash val="solid"/>
          </a:ln>
        </p:spPr>
      </p:sp>
      <p:sp>
        <p:nvSpPr>
          <p:cNvPr id="25" name="Text 23"/>
          <p:cNvSpPr txBox="1"/>
          <p:nvPr/>
        </p:nvSpPr>
        <p:spPr>
          <a:xfrm>
            <a:off x="8129016" y="1508760"/>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Occlusion</a:t>
            </a:r>
            <a:endParaRPr lang="en-US" sz="1400" dirty="0"/>
          </a:p>
        </p:txBody>
      </p:sp>
      <p:sp>
        <p:nvSpPr>
          <p:cNvPr id="26" name="Text 24"/>
          <p:cNvSpPr txBox="1"/>
          <p:nvPr/>
        </p:nvSpPr>
        <p:spPr>
          <a:xfrm>
            <a:off x="8129016" y="1984248"/>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Blocked lines of sight</a:t>
            </a:r>
            <a:endParaRPr lang="en-US" sz="1300" dirty="0"/>
          </a:p>
        </p:txBody>
      </p:sp>
      <p:sp>
        <p:nvSpPr>
          <p:cNvPr id="27" name="Shape 25"/>
          <p:cNvSpPr/>
          <p:nvPr/>
        </p:nvSpPr>
        <p:spPr>
          <a:xfrm>
            <a:off x="10003536" y="1417320"/>
            <a:ext cx="1874520" cy="1051560"/>
          </a:xfrm>
          <a:prstGeom prst="roundRect">
            <a:avLst>
              <a:gd name="adj" fmla="val 5217"/>
            </a:avLst>
          </a:prstGeom>
          <a:solidFill>
            <a:srgbClr val="141B33"/>
          </a:solidFill>
          <a:ln w="12700">
            <a:solidFill>
              <a:srgbClr val="2A3654"/>
            </a:solidFill>
            <a:prstDash val="solid"/>
          </a:ln>
        </p:spPr>
      </p:sp>
      <p:sp>
        <p:nvSpPr>
          <p:cNvPr id="28" name="Text 26"/>
          <p:cNvSpPr txBox="1"/>
          <p:nvPr/>
        </p:nvSpPr>
        <p:spPr>
          <a:xfrm>
            <a:off x="10113264" y="1508760"/>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Sensor Noise</a:t>
            </a:r>
            <a:endParaRPr lang="en-US" sz="1400" dirty="0"/>
          </a:p>
        </p:txBody>
      </p:sp>
      <p:sp>
        <p:nvSpPr>
          <p:cNvPr id="29" name="Text 27"/>
          <p:cNvSpPr txBox="1"/>
          <p:nvPr/>
        </p:nvSpPr>
        <p:spPr>
          <a:xfrm>
            <a:off x="10113264" y="1984248"/>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Signal-level distortion</a:t>
            </a:r>
            <a:endParaRPr lang="en-US" sz="1300" dirty="0"/>
          </a:p>
        </p:txBody>
      </p:sp>
      <p:sp>
        <p:nvSpPr>
          <p:cNvPr id="30" name="Shape 28"/>
          <p:cNvSpPr/>
          <p:nvPr/>
        </p:nvSpPr>
        <p:spPr>
          <a:xfrm>
            <a:off x="6035040" y="2578608"/>
            <a:ext cx="1874520" cy="1051560"/>
          </a:xfrm>
          <a:prstGeom prst="roundRect">
            <a:avLst>
              <a:gd name="adj" fmla="val 5217"/>
            </a:avLst>
          </a:prstGeom>
          <a:solidFill>
            <a:srgbClr val="141B33"/>
          </a:solidFill>
          <a:ln w="12700">
            <a:solidFill>
              <a:srgbClr val="2A3654"/>
            </a:solidFill>
            <a:prstDash val="solid"/>
          </a:ln>
        </p:spPr>
      </p:sp>
      <p:sp>
        <p:nvSpPr>
          <p:cNvPr id="31" name="Text 29"/>
          <p:cNvSpPr txBox="1"/>
          <p:nvPr/>
        </p:nvSpPr>
        <p:spPr>
          <a:xfrm>
            <a:off x="6144768" y="2670048"/>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Calibration Errors</a:t>
            </a:r>
            <a:endParaRPr lang="en-US" sz="1400" dirty="0"/>
          </a:p>
        </p:txBody>
      </p:sp>
      <p:sp>
        <p:nvSpPr>
          <p:cNvPr id="32" name="Text 30"/>
          <p:cNvSpPr txBox="1"/>
          <p:nvPr/>
        </p:nvSpPr>
        <p:spPr>
          <a:xfrm>
            <a:off x="6144768" y="3145536"/>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Extrinsic/intrinsic drift</a:t>
            </a:r>
            <a:endParaRPr lang="en-US" sz="1300" dirty="0"/>
          </a:p>
        </p:txBody>
      </p:sp>
      <p:sp>
        <p:nvSpPr>
          <p:cNvPr id="33" name="Shape 31"/>
          <p:cNvSpPr/>
          <p:nvPr/>
        </p:nvSpPr>
        <p:spPr>
          <a:xfrm>
            <a:off x="8019288" y="2578608"/>
            <a:ext cx="1874520" cy="1051560"/>
          </a:xfrm>
          <a:prstGeom prst="roundRect">
            <a:avLst>
              <a:gd name="adj" fmla="val 5217"/>
            </a:avLst>
          </a:prstGeom>
          <a:solidFill>
            <a:srgbClr val="141B33"/>
          </a:solidFill>
          <a:ln w="12700">
            <a:solidFill>
              <a:srgbClr val="2A3654"/>
            </a:solidFill>
            <a:prstDash val="solid"/>
          </a:ln>
        </p:spPr>
      </p:sp>
      <p:sp>
        <p:nvSpPr>
          <p:cNvPr id="34" name="Text 32"/>
          <p:cNvSpPr txBox="1"/>
          <p:nvPr/>
        </p:nvSpPr>
        <p:spPr>
          <a:xfrm>
            <a:off x="8129016" y="2670048"/>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Temporary Failure</a:t>
            </a:r>
            <a:endParaRPr lang="en-US" sz="1400" dirty="0"/>
          </a:p>
        </p:txBody>
      </p:sp>
      <p:sp>
        <p:nvSpPr>
          <p:cNvPr id="35" name="Text 33"/>
          <p:cNvSpPr txBox="1"/>
          <p:nvPr/>
        </p:nvSpPr>
        <p:spPr>
          <a:xfrm>
            <a:off x="8129016" y="3145536"/>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Dropout or blackout</a:t>
            </a:r>
            <a:endParaRPr lang="en-US" sz="1300" dirty="0"/>
          </a:p>
        </p:txBody>
      </p:sp>
      <p:sp>
        <p:nvSpPr>
          <p:cNvPr id="36" name="Shape 34"/>
          <p:cNvSpPr/>
          <p:nvPr/>
        </p:nvSpPr>
        <p:spPr>
          <a:xfrm>
            <a:off x="10003536" y="2578608"/>
            <a:ext cx="1874520" cy="1051560"/>
          </a:xfrm>
          <a:prstGeom prst="roundRect">
            <a:avLst>
              <a:gd name="adj" fmla="val 5217"/>
            </a:avLst>
          </a:prstGeom>
          <a:solidFill>
            <a:srgbClr val="141B33"/>
          </a:solidFill>
          <a:ln w="12700">
            <a:solidFill>
              <a:srgbClr val="2A3654"/>
            </a:solidFill>
            <a:prstDash val="solid"/>
          </a:ln>
        </p:spPr>
      </p:sp>
      <p:sp>
        <p:nvSpPr>
          <p:cNvPr id="37" name="Text 35"/>
          <p:cNvSpPr txBox="1"/>
          <p:nvPr/>
        </p:nvSpPr>
        <p:spPr>
          <a:xfrm>
            <a:off x="10113264" y="2670048"/>
            <a:ext cx="1655064" cy="457200"/>
          </a:xfrm>
          <a:prstGeom prst="rect">
            <a:avLst/>
          </a:prstGeom>
          <a:noFill/>
          <a:ln/>
        </p:spPr>
        <p:txBody>
          <a:bodyPr wrap="square" lIns="0" tIns="0" rIns="0" bIns="0" rtlCol="0" anchor="t"/>
          <a:lstStyle/>
          <a:p>
            <a:pPr marL="0" indent="0">
              <a:buNone/>
            </a:pPr>
            <a:r>
              <a:rPr lang="en-US" sz="1400" b="1" dirty="0">
                <a:solidFill>
                  <a:srgbClr val="22D3EE"/>
                </a:solidFill>
                <a:latin typeface="Calibri" pitchFamily="34" charset="0"/>
                <a:ea typeface="Calibri" pitchFamily="34" charset="-122"/>
                <a:cs typeface="Calibri" pitchFamily="34" charset="-120"/>
              </a:rPr>
              <a:t>Conflicting Observations</a:t>
            </a:r>
            <a:endParaRPr lang="en-US" sz="1400" dirty="0"/>
          </a:p>
        </p:txBody>
      </p:sp>
      <p:sp>
        <p:nvSpPr>
          <p:cNvPr id="38" name="Text 36"/>
          <p:cNvSpPr txBox="1"/>
          <p:nvPr/>
        </p:nvSpPr>
        <p:spPr>
          <a:xfrm>
            <a:off x="10113264" y="3145536"/>
            <a:ext cx="1655064" cy="411480"/>
          </a:xfrm>
          <a:prstGeom prst="rect">
            <a:avLst/>
          </a:prstGeom>
          <a:noFill/>
          <a:ln/>
        </p:spPr>
        <p:txBody>
          <a:bodyPr wrap="square" lIns="0" tIns="0" rIns="0" bIns="0" rtlCol="0" anchor="ctr"/>
          <a:lstStyle/>
          <a:p>
            <a:pPr marL="0" indent="0">
              <a:buNone/>
            </a:pPr>
            <a:r>
              <a:rPr lang="en-US" sz="1300" dirty="0">
                <a:solidFill>
                  <a:srgbClr val="9AA5B8"/>
                </a:solidFill>
                <a:latin typeface="Calibri" pitchFamily="34" charset="0"/>
                <a:ea typeface="Calibri" pitchFamily="34" charset="-122"/>
                <a:cs typeface="Calibri" pitchFamily="34" charset="-120"/>
              </a:rPr>
              <a:t>Cross-sensor disagreement</a:t>
            </a:r>
            <a:endParaRPr lang="en-US" sz="1300" dirty="0"/>
          </a:p>
        </p:txBody>
      </p:sp>
      <p:sp>
        <p:nvSpPr>
          <p:cNvPr id="39" name="Text 37"/>
          <p:cNvSpPr txBox="1"/>
          <p:nvPr/>
        </p:nvSpPr>
        <p:spPr>
          <a:xfrm>
            <a:off x="6035040" y="3685032"/>
            <a:ext cx="2743200" cy="256032"/>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Core Issue</a:t>
            </a:r>
            <a:endParaRPr lang="en-US" sz="1450" dirty="0"/>
          </a:p>
        </p:txBody>
      </p:sp>
      <p:sp>
        <p:nvSpPr>
          <p:cNvPr id="40" name="Shape 38"/>
          <p:cNvSpPr/>
          <p:nvPr/>
        </p:nvSpPr>
        <p:spPr>
          <a:xfrm>
            <a:off x="6035040" y="3995928"/>
            <a:ext cx="1874520" cy="566928"/>
          </a:xfrm>
          <a:prstGeom prst="roundRect">
            <a:avLst>
              <a:gd name="adj" fmla="val 9677"/>
            </a:avLst>
          </a:prstGeom>
          <a:solidFill>
            <a:srgbClr val="243352"/>
          </a:solidFill>
          <a:ln w="12700">
            <a:solidFill>
              <a:srgbClr val="22D3EE"/>
            </a:solidFill>
            <a:prstDash val="solid"/>
          </a:ln>
        </p:spPr>
      </p:sp>
      <p:sp>
        <p:nvSpPr>
          <p:cNvPr id="41" name="Text 39"/>
          <p:cNvSpPr txBox="1"/>
          <p:nvPr/>
        </p:nvSpPr>
        <p:spPr>
          <a:xfrm>
            <a:off x="6080760" y="3995928"/>
            <a:ext cx="1783080" cy="566928"/>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Fixed-Confidence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Perception</a:t>
            </a:r>
            <a:endParaRPr lang="en-US" sz="1300" dirty="0"/>
          </a:p>
        </p:txBody>
      </p:sp>
      <p:sp>
        <p:nvSpPr>
          <p:cNvPr id="42" name="Shape 40"/>
          <p:cNvSpPr/>
          <p:nvPr/>
        </p:nvSpPr>
        <p:spPr>
          <a:xfrm>
            <a:off x="7927848" y="4215384"/>
            <a:ext cx="219456" cy="128016"/>
          </a:xfrm>
          <a:prstGeom prst="rightArrow">
            <a:avLst/>
          </a:prstGeom>
          <a:solidFill>
            <a:srgbClr val="1A8FA3"/>
          </a:solidFill>
          <a:ln/>
        </p:spPr>
      </p:sp>
      <p:sp>
        <p:nvSpPr>
          <p:cNvPr id="43" name="Shape 41"/>
          <p:cNvSpPr/>
          <p:nvPr/>
        </p:nvSpPr>
        <p:spPr>
          <a:xfrm>
            <a:off x="8165592" y="3995928"/>
            <a:ext cx="1874520" cy="566928"/>
          </a:xfrm>
          <a:prstGeom prst="roundRect">
            <a:avLst>
              <a:gd name="adj" fmla="val 9677"/>
            </a:avLst>
          </a:prstGeom>
          <a:solidFill>
            <a:srgbClr val="243352"/>
          </a:solidFill>
          <a:ln w="12700">
            <a:solidFill>
              <a:srgbClr val="22D3EE"/>
            </a:solidFill>
            <a:prstDash val="solid"/>
          </a:ln>
        </p:spPr>
      </p:sp>
      <p:sp>
        <p:nvSpPr>
          <p:cNvPr id="44" name="Text 42"/>
          <p:cNvSpPr txBox="1"/>
          <p:nvPr/>
        </p:nvSpPr>
        <p:spPr>
          <a:xfrm>
            <a:off x="8211312" y="3995928"/>
            <a:ext cx="1783080" cy="566928"/>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Ignores Changing</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Sensor Reliability</a:t>
            </a:r>
            <a:endParaRPr lang="en-US" sz="1300" dirty="0"/>
          </a:p>
        </p:txBody>
      </p:sp>
      <p:sp>
        <p:nvSpPr>
          <p:cNvPr id="45" name="Shape 43"/>
          <p:cNvSpPr/>
          <p:nvPr/>
        </p:nvSpPr>
        <p:spPr>
          <a:xfrm>
            <a:off x="10058400" y="4215384"/>
            <a:ext cx="219456" cy="128016"/>
          </a:xfrm>
          <a:prstGeom prst="rightArrow">
            <a:avLst/>
          </a:prstGeom>
          <a:solidFill>
            <a:srgbClr val="1A8FA3"/>
          </a:solidFill>
          <a:ln/>
        </p:spPr>
      </p:sp>
      <p:sp>
        <p:nvSpPr>
          <p:cNvPr id="46" name="Shape 44"/>
          <p:cNvSpPr/>
          <p:nvPr/>
        </p:nvSpPr>
        <p:spPr>
          <a:xfrm>
            <a:off x="10296144" y="3995928"/>
            <a:ext cx="1874520" cy="566928"/>
          </a:xfrm>
          <a:prstGeom prst="roundRect">
            <a:avLst>
              <a:gd name="adj" fmla="val 9677"/>
            </a:avLst>
          </a:prstGeom>
          <a:solidFill>
            <a:srgbClr val="3A1030"/>
          </a:solidFill>
          <a:ln w="12700">
            <a:solidFill>
              <a:srgbClr val="E85D75"/>
            </a:solidFill>
            <a:prstDash val="solid"/>
          </a:ln>
        </p:spPr>
      </p:sp>
      <p:sp>
        <p:nvSpPr>
          <p:cNvPr id="47" name="Text 45"/>
          <p:cNvSpPr txBox="1"/>
          <p:nvPr/>
        </p:nvSpPr>
        <p:spPr>
          <a:xfrm>
            <a:off x="10341864" y="3995928"/>
            <a:ext cx="1783080" cy="566928"/>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Potentially Unsafe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Driving Decisions</a:t>
            </a:r>
            <a:endParaRPr lang="en-US" sz="1300" dirty="0"/>
          </a:p>
        </p:txBody>
      </p:sp>
      <p:sp>
        <p:nvSpPr>
          <p:cNvPr id="48" name="Text 46"/>
          <p:cNvSpPr txBox="1"/>
          <p:nvPr/>
        </p:nvSpPr>
        <p:spPr>
          <a:xfrm>
            <a:off x="6035040" y="4754880"/>
            <a:ext cx="548640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Sensor unreliability, if left unmodeled, can silently propagate into downstream decisions.</a:t>
            </a:r>
            <a:endParaRPr lang="en-US" sz="1300" dirty="0"/>
          </a:p>
        </p:txBody>
      </p:sp>
      <p:sp>
        <p:nvSpPr>
          <p:cNvPr id="49" name="Text 47"/>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02 / 13</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SCOPE OF WORK</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463040"/>
            <a:ext cx="3246120" cy="1170432"/>
          </a:xfrm>
          <a:prstGeom prst="roundRect">
            <a:avLst>
              <a:gd name="adj" fmla="val 6250"/>
            </a:avLst>
          </a:prstGeom>
          <a:solidFill>
            <a:srgbClr val="141B33"/>
          </a:solidFill>
          <a:ln w="12700">
            <a:solidFill>
              <a:srgbClr val="2A3654"/>
            </a:solidFill>
            <a:prstDash val="solid"/>
          </a:ln>
        </p:spPr>
      </p:sp>
      <p:sp>
        <p:nvSpPr>
          <p:cNvPr id="5" name="Text 3"/>
          <p:cNvSpPr txBox="1"/>
          <p:nvPr/>
        </p:nvSpPr>
        <p:spPr>
          <a:xfrm>
            <a:off x="685800" y="1554480"/>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685800" y="2029968"/>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Develop a multi-sensor perception framework.</a:t>
            </a:r>
            <a:endParaRPr lang="en-US" sz="1450" dirty="0"/>
          </a:p>
        </p:txBody>
      </p:sp>
      <p:sp>
        <p:nvSpPr>
          <p:cNvPr id="7" name="Shape 5"/>
          <p:cNvSpPr/>
          <p:nvPr/>
        </p:nvSpPr>
        <p:spPr>
          <a:xfrm>
            <a:off x="3959352" y="1463040"/>
            <a:ext cx="3246120" cy="1170432"/>
          </a:xfrm>
          <a:prstGeom prst="roundRect">
            <a:avLst>
              <a:gd name="adj" fmla="val 6250"/>
            </a:avLst>
          </a:prstGeom>
          <a:solidFill>
            <a:srgbClr val="141B33"/>
          </a:solidFill>
          <a:ln w="12700">
            <a:solidFill>
              <a:srgbClr val="2A3654"/>
            </a:solidFill>
            <a:prstDash val="solid"/>
          </a:ln>
        </p:spPr>
      </p:sp>
      <p:sp>
        <p:nvSpPr>
          <p:cNvPr id="8" name="Text 6"/>
          <p:cNvSpPr txBox="1"/>
          <p:nvPr/>
        </p:nvSpPr>
        <p:spPr>
          <a:xfrm>
            <a:off x="4096512" y="1554480"/>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02</a:t>
            </a:r>
            <a:endParaRPr lang="en-US" sz="2400" dirty="0"/>
          </a:p>
        </p:txBody>
      </p:sp>
      <p:sp>
        <p:nvSpPr>
          <p:cNvPr id="9" name="Text 7"/>
          <p:cNvSpPr txBox="1"/>
          <p:nvPr/>
        </p:nvSpPr>
        <p:spPr>
          <a:xfrm>
            <a:off x="4096512" y="2029968"/>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Estimate dynamic sensor reliability.</a:t>
            </a:r>
            <a:endParaRPr lang="en-US" sz="1450" dirty="0"/>
          </a:p>
        </p:txBody>
      </p:sp>
      <p:sp>
        <p:nvSpPr>
          <p:cNvPr id="10" name="Shape 8"/>
          <p:cNvSpPr/>
          <p:nvPr/>
        </p:nvSpPr>
        <p:spPr>
          <a:xfrm>
            <a:off x="7370064" y="1463040"/>
            <a:ext cx="3246120" cy="1170432"/>
          </a:xfrm>
          <a:prstGeom prst="roundRect">
            <a:avLst>
              <a:gd name="adj" fmla="val 6250"/>
            </a:avLst>
          </a:prstGeom>
          <a:solidFill>
            <a:srgbClr val="141B33"/>
          </a:solidFill>
          <a:ln w="12700">
            <a:solidFill>
              <a:srgbClr val="2A3654"/>
            </a:solidFill>
            <a:prstDash val="solid"/>
          </a:ln>
        </p:spPr>
      </p:sp>
      <p:sp>
        <p:nvSpPr>
          <p:cNvPr id="11" name="Text 9"/>
          <p:cNvSpPr txBox="1"/>
          <p:nvPr/>
        </p:nvSpPr>
        <p:spPr>
          <a:xfrm>
            <a:off x="7507224" y="1554480"/>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03</a:t>
            </a:r>
            <a:endParaRPr lang="en-US" sz="2400" dirty="0"/>
          </a:p>
        </p:txBody>
      </p:sp>
      <p:sp>
        <p:nvSpPr>
          <p:cNvPr id="12" name="Text 10"/>
          <p:cNvSpPr txBox="1"/>
          <p:nvPr/>
        </p:nvSpPr>
        <p:spPr>
          <a:xfrm>
            <a:off x="7507224" y="2029968"/>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Detect cross-modal sensor disagreement.</a:t>
            </a:r>
            <a:endParaRPr lang="en-US" sz="1450" dirty="0"/>
          </a:p>
        </p:txBody>
      </p:sp>
      <p:sp>
        <p:nvSpPr>
          <p:cNvPr id="13" name="Shape 11"/>
          <p:cNvSpPr/>
          <p:nvPr/>
        </p:nvSpPr>
        <p:spPr>
          <a:xfrm>
            <a:off x="548640" y="2798064"/>
            <a:ext cx="3246120" cy="1170432"/>
          </a:xfrm>
          <a:prstGeom prst="roundRect">
            <a:avLst>
              <a:gd name="adj" fmla="val 6250"/>
            </a:avLst>
          </a:prstGeom>
          <a:solidFill>
            <a:srgbClr val="141B33"/>
          </a:solidFill>
          <a:ln w="12700">
            <a:solidFill>
              <a:srgbClr val="2A3654"/>
            </a:solidFill>
            <a:prstDash val="solid"/>
          </a:ln>
        </p:spPr>
      </p:sp>
      <p:sp>
        <p:nvSpPr>
          <p:cNvPr id="14" name="Text 12"/>
          <p:cNvSpPr txBox="1"/>
          <p:nvPr/>
        </p:nvSpPr>
        <p:spPr>
          <a:xfrm>
            <a:off x="685800" y="2889504"/>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04</a:t>
            </a:r>
            <a:endParaRPr lang="en-US" sz="2400" dirty="0"/>
          </a:p>
        </p:txBody>
      </p:sp>
      <p:sp>
        <p:nvSpPr>
          <p:cNvPr id="15" name="Text 13"/>
          <p:cNvSpPr txBox="1"/>
          <p:nvPr/>
        </p:nvSpPr>
        <p:spPr>
          <a:xfrm>
            <a:off x="685800" y="3364992"/>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Develop uncertainty-aware sensor fusion.</a:t>
            </a:r>
            <a:endParaRPr lang="en-US" sz="1450" dirty="0"/>
          </a:p>
        </p:txBody>
      </p:sp>
      <p:sp>
        <p:nvSpPr>
          <p:cNvPr id="16" name="Shape 14"/>
          <p:cNvSpPr/>
          <p:nvPr/>
        </p:nvSpPr>
        <p:spPr>
          <a:xfrm>
            <a:off x="3959352" y="2798064"/>
            <a:ext cx="3246120" cy="1170432"/>
          </a:xfrm>
          <a:prstGeom prst="roundRect">
            <a:avLst>
              <a:gd name="adj" fmla="val 6250"/>
            </a:avLst>
          </a:prstGeom>
          <a:solidFill>
            <a:srgbClr val="141B33"/>
          </a:solidFill>
          <a:ln w="12700">
            <a:solidFill>
              <a:srgbClr val="2A3654"/>
            </a:solidFill>
            <a:prstDash val="solid"/>
          </a:ln>
        </p:spPr>
      </p:sp>
      <p:sp>
        <p:nvSpPr>
          <p:cNvPr id="17" name="Text 15"/>
          <p:cNvSpPr txBox="1"/>
          <p:nvPr/>
        </p:nvSpPr>
        <p:spPr>
          <a:xfrm>
            <a:off x="4096512" y="2889504"/>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05</a:t>
            </a:r>
            <a:endParaRPr lang="en-US" sz="2400" dirty="0"/>
          </a:p>
        </p:txBody>
      </p:sp>
      <p:sp>
        <p:nvSpPr>
          <p:cNvPr id="18" name="Text 16"/>
          <p:cNvSpPr txBox="1"/>
          <p:nvPr/>
        </p:nvSpPr>
        <p:spPr>
          <a:xfrm>
            <a:off x="4096512" y="3364992"/>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Develop predictive risk assessment.</a:t>
            </a:r>
            <a:endParaRPr lang="en-US" sz="1450" dirty="0"/>
          </a:p>
        </p:txBody>
      </p:sp>
      <p:sp>
        <p:nvSpPr>
          <p:cNvPr id="19" name="Shape 17"/>
          <p:cNvSpPr/>
          <p:nvPr/>
        </p:nvSpPr>
        <p:spPr>
          <a:xfrm>
            <a:off x="7370064" y="2798064"/>
            <a:ext cx="3246120" cy="1170432"/>
          </a:xfrm>
          <a:prstGeom prst="roundRect">
            <a:avLst>
              <a:gd name="adj" fmla="val 6250"/>
            </a:avLst>
          </a:prstGeom>
          <a:solidFill>
            <a:srgbClr val="141B33"/>
          </a:solidFill>
          <a:ln w="12700">
            <a:solidFill>
              <a:srgbClr val="2A3654"/>
            </a:solidFill>
            <a:prstDash val="solid"/>
          </a:ln>
        </p:spPr>
      </p:sp>
      <p:sp>
        <p:nvSpPr>
          <p:cNvPr id="20" name="Text 18"/>
          <p:cNvSpPr txBox="1"/>
          <p:nvPr/>
        </p:nvSpPr>
        <p:spPr>
          <a:xfrm>
            <a:off x="7507224" y="2889504"/>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06</a:t>
            </a:r>
            <a:endParaRPr lang="en-US" sz="2400" dirty="0"/>
          </a:p>
        </p:txBody>
      </p:sp>
      <p:sp>
        <p:nvSpPr>
          <p:cNvPr id="21" name="Text 19"/>
          <p:cNvSpPr txBox="1"/>
          <p:nvPr/>
        </p:nvSpPr>
        <p:spPr>
          <a:xfrm>
            <a:off x="7507224" y="3364992"/>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Integrate adaptive, risk-aware decision making.</a:t>
            </a:r>
            <a:endParaRPr lang="en-US" sz="1450" dirty="0"/>
          </a:p>
        </p:txBody>
      </p:sp>
      <p:sp>
        <p:nvSpPr>
          <p:cNvPr id="22" name="Shape 20"/>
          <p:cNvSpPr/>
          <p:nvPr/>
        </p:nvSpPr>
        <p:spPr>
          <a:xfrm>
            <a:off x="548640" y="4133088"/>
            <a:ext cx="3246120" cy="1170432"/>
          </a:xfrm>
          <a:prstGeom prst="roundRect">
            <a:avLst>
              <a:gd name="adj" fmla="val 6250"/>
            </a:avLst>
          </a:prstGeom>
          <a:solidFill>
            <a:srgbClr val="141B33"/>
          </a:solidFill>
          <a:ln w="12700">
            <a:solidFill>
              <a:srgbClr val="2A3654"/>
            </a:solidFill>
            <a:prstDash val="solid"/>
          </a:ln>
        </p:spPr>
      </p:sp>
      <p:sp>
        <p:nvSpPr>
          <p:cNvPr id="23" name="Text 21"/>
          <p:cNvSpPr txBox="1"/>
          <p:nvPr/>
        </p:nvSpPr>
        <p:spPr>
          <a:xfrm>
            <a:off x="685800" y="4224528"/>
            <a:ext cx="91440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07</a:t>
            </a:r>
            <a:endParaRPr lang="en-US" sz="2400" dirty="0"/>
          </a:p>
        </p:txBody>
      </p:sp>
      <p:sp>
        <p:nvSpPr>
          <p:cNvPr id="24" name="Text 22"/>
          <p:cNvSpPr txBox="1"/>
          <p:nvPr/>
        </p:nvSpPr>
        <p:spPr>
          <a:xfrm>
            <a:off x="685800" y="4700016"/>
            <a:ext cx="2971800" cy="530352"/>
          </a:xfrm>
          <a:prstGeom prst="rect">
            <a:avLst/>
          </a:prstGeom>
          <a:noFill/>
          <a:ln/>
        </p:spPr>
        <p:txBody>
          <a:bodyPr wrap="square" lIns="0" tIns="0" rIns="0" bIns="0" rtlCol="0" anchor="t"/>
          <a:lstStyle/>
          <a:p>
            <a:pPr marL="0" indent="0">
              <a:lnSpc>
                <a:spcPct val="110000"/>
              </a:lnSpc>
              <a:buNone/>
            </a:pPr>
            <a:r>
              <a:rPr lang="en-US" sz="1450" dirty="0">
                <a:solidFill>
                  <a:srgbClr val="F5F7FA"/>
                </a:solidFill>
                <a:latin typeface="Calibri" pitchFamily="34" charset="0"/>
                <a:ea typeface="Calibri" pitchFamily="34" charset="-122"/>
                <a:cs typeface="Calibri" pitchFamily="34" charset="-120"/>
              </a:rPr>
              <a:t>Validate the system using CARLA and ROS 2.</a:t>
            </a:r>
            <a:endParaRPr lang="en-US" sz="1450" dirty="0"/>
          </a:p>
        </p:txBody>
      </p:sp>
      <p:sp>
        <p:nvSpPr>
          <p:cNvPr id="25" name="Shape 23"/>
          <p:cNvSpPr/>
          <p:nvPr/>
        </p:nvSpPr>
        <p:spPr>
          <a:xfrm>
            <a:off x="548640" y="5577840"/>
            <a:ext cx="11064240" cy="960120"/>
          </a:xfrm>
          <a:prstGeom prst="roundRect">
            <a:avLst>
              <a:gd name="adj" fmla="val 7619"/>
            </a:avLst>
          </a:prstGeom>
          <a:solidFill>
            <a:srgbClr val="243352"/>
          </a:solidFill>
          <a:ln w="12700">
            <a:solidFill>
              <a:srgbClr val="1A8FA3"/>
            </a:solidFill>
            <a:prstDash val="solid"/>
          </a:ln>
        </p:spPr>
      </p:sp>
      <p:sp>
        <p:nvSpPr>
          <p:cNvPr id="26" name="Text 24"/>
          <p:cNvSpPr txBox="1"/>
          <p:nvPr/>
        </p:nvSpPr>
        <p:spPr>
          <a:xfrm>
            <a:off x="777240" y="5669280"/>
            <a:ext cx="2743200" cy="27432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Application Scope</a:t>
            </a:r>
            <a:endParaRPr lang="en-US" sz="1450" dirty="0"/>
          </a:p>
        </p:txBody>
      </p:sp>
      <p:sp>
        <p:nvSpPr>
          <p:cNvPr id="27" name="Text 25"/>
          <p:cNvSpPr txBox="1"/>
          <p:nvPr/>
        </p:nvSpPr>
        <p:spPr>
          <a:xfrm>
            <a:off x="777240" y="6016752"/>
            <a:ext cx="10607040" cy="457200"/>
          </a:xfrm>
          <a:prstGeom prst="rect">
            <a:avLst/>
          </a:prstGeom>
          <a:noFill/>
          <a:ln/>
        </p:spPr>
        <p:txBody>
          <a:bodyPr wrap="square" lIns="0" tIns="0" rIns="0" bIns="0" rtlCol="0" anchor="ctr"/>
          <a:lstStyle/>
          <a:p>
            <a:pPr marL="0" indent="0">
              <a:buNone/>
            </a:pPr>
            <a:r>
              <a:rPr lang="en-US" sz="1450" b="1" dirty="0">
                <a:solidFill>
                  <a:srgbClr val="F5F7FA"/>
                </a:solidFill>
                <a:latin typeface="Calibri" pitchFamily="34" charset="0"/>
                <a:ea typeface="Calibri" pitchFamily="34" charset="-122"/>
                <a:cs typeface="Calibri" pitchFamily="34" charset="-120"/>
              </a:rPr>
              <a:t>ADAS:  </a:t>
            </a:r>
            <a:r>
              <a:rPr lang="en-US" sz="1450" dirty="0">
                <a:solidFill>
                  <a:srgbClr val="9AA5B8"/>
                </a:solidFill>
                <a:latin typeface="Calibri" pitchFamily="34" charset="0"/>
                <a:ea typeface="Calibri" pitchFamily="34" charset="-122"/>
                <a:cs typeface="Calibri" pitchFamily="34" charset="-120"/>
              </a:rPr>
              <a:t>FCW, AEB, ACC, Lane Assistance    </a:t>
            </a:r>
            <a:r>
              <a:rPr lang="en-US" sz="1450" b="1" dirty="0">
                <a:solidFill>
                  <a:srgbClr val="F5F7FA"/>
                </a:solidFill>
                <a:latin typeface="Calibri" pitchFamily="34" charset="0"/>
                <a:ea typeface="Calibri" pitchFamily="34" charset="-122"/>
                <a:cs typeface="Calibri" pitchFamily="34" charset="-120"/>
              </a:rPr>
              <a:t>Autonomous Driving:  </a:t>
            </a:r>
            <a:r>
              <a:rPr lang="en-US" sz="1450" dirty="0">
                <a:solidFill>
                  <a:srgbClr val="9AA5B8"/>
                </a:solidFill>
                <a:latin typeface="Calibri" pitchFamily="34" charset="0"/>
                <a:ea typeface="Calibri" pitchFamily="34" charset="-122"/>
                <a:cs typeface="Calibri" pitchFamily="34" charset="-120"/>
              </a:rPr>
              <a:t>Perception → Prediction → Planning → Control</a:t>
            </a:r>
            <a:endParaRPr lang="en-US" sz="1450" dirty="0"/>
          </a:p>
        </p:txBody>
      </p:sp>
      <p:sp>
        <p:nvSpPr>
          <p:cNvPr id="28" name="Text 26"/>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03 / 13</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PRIOR ART &amp; RELATED WORK</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Existing Work &amp; Literature Review</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114803"/>
        </p:xfrm>
        <a:graphic>
          <a:graphicData uri="http://schemas.openxmlformats.org/drawingml/2006/table">
            <a:tbl>
              <a:tblPr/>
              <a:tblGrid>
                <a:gridCol w="26517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87829">
                <a:tc>
                  <a:txBody>
                    <a:bodyPr/>
                    <a:lstStyle/>
                    <a:p>
                      <a:pPr marL="0" indent="0">
                        <a:buNone/>
                      </a:pPr>
                      <a:r>
                        <a:rPr lang="en-US" sz="1450" b="1" dirty="0">
                          <a:solidFill>
                            <a:srgbClr val="0B1120"/>
                          </a:solidFill>
                        </a:rPr>
                        <a:t>Research Area</a:t>
                      </a:r>
                      <a:endParaRPr lang="en-US" sz="14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50" b="1" dirty="0">
                          <a:solidFill>
                            <a:srgbClr val="0B1120"/>
                          </a:solidFill>
                        </a:rPr>
                        <a:t>What Existing Work Addresses</a:t>
                      </a:r>
                      <a:endParaRPr lang="en-US" sz="14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50" b="1" dirty="0">
                          <a:solidFill>
                            <a:srgbClr val="0B1120"/>
                          </a:solidFill>
                        </a:rPr>
                        <a:t>Relevant Limitation</a:t>
                      </a:r>
                      <a:endParaRPr lang="en-US" sz="14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587829">
                <a:tc>
                  <a:txBody>
                    <a:bodyPr/>
                    <a:lstStyle/>
                    <a:p>
                      <a:pPr marL="0" indent="0">
                        <a:buNone/>
                      </a:pPr>
                      <a:r>
                        <a:rPr lang="en-US" sz="1350" b="1" dirty="0">
                          <a:solidFill>
                            <a:srgbClr val="F5F7FA"/>
                          </a:solidFill>
                        </a:rPr>
                        <a:t>Multi-Sensor Fusion</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Combines camera, LiDAR and radar information</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Fusion may use predefined / static assumptions about sensor reliability</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1"/>
                  </a:ext>
                </a:extLst>
              </a:tr>
              <a:tr h="587829">
                <a:tc>
                  <a:txBody>
                    <a:bodyPr/>
                    <a:lstStyle/>
                    <a:p>
                      <a:pPr marL="0" indent="0">
                        <a:buNone/>
                      </a:pPr>
                      <a:r>
                        <a:rPr lang="en-US" sz="1350" b="1" dirty="0">
                          <a:solidFill>
                            <a:srgbClr val="F5F7FA"/>
                          </a:solidFill>
                        </a:rPr>
                        <a:t>Sensor Fault Detection</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Identifies faulty / degraded sensors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Fault identification is not always directly integrated into downstream fusion and decision layers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2"/>
                  </a:ext>
                </a:extLst>
              </a:tr>
              <a:tr h="587829">
                <a:tc>
                  <a:txBody>
                    <a:bodyPr/>
                    <a:lstStyle/>
                    <a:p>
                      <a:pPr marL="0" indent="0">
                        <a:buNone/>
                      </a:pPr>
                      <a:r>
                        <a:rPr lang="en-US" sz="1350" b="1" dirty="0">
                          <a:solidFill>
                            <a:srgbClr val="F5F7FA"/>
                          </a:solidFill>
                        </a:rPr>
                        <a:t>Uncertainty Estimation</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Quantifies confidence / uncertainty</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Often not propagated into complete driving decisions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3"/>
                  </a:ext>
                </a:extLst>
              </a:tr>
              <a:tr h="587829">
                <a:tc>
                  <a:txBody>
                    <a:bodyPr/>
                    <a:lstStyle/>
                    <a:p>
                      <a:pPr marL="0" indent="0">
                        <a:buNone/>
                      </a:pPr>
                      <a:r>
                        <a:rPr lang="en-US" sz="1350" b="1" dirty="0">
                          <a:solidFill>
                            <a:srgbClr val="F5F7FA"/>
                          </a:solidFill>
                        </a:rPr>
                        <a:t>Risk-Aware Driving</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Adapts behaviour according to environmental risk</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Sensor-level reliability may remain decoupled from risk reasoning</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4"/>
                  </a:ext>
                </a:extLst>
              </a:tr>
              <a:tr h="587829">
                <a:tc>
                  <a:txBody>
                    <a:bodyPr/>
                    <a:lstStyle/>
                    <a:p>
                      <a:pPr marL="0" indent="0">
                        <a:buNone/>
                      </a:pPr>
                      <a:r>
                        <a:rPr lang="en-US" sz="1350" b="1" dirty="0">
                          <a:solidFill>
                            <a:srgbClr val="F5F7FA"/>
                          </a:solidFill>
                        </a:rPr>
                        <a:t>Cooperative Perception / V2X</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Shares perception information between vehicles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50" dirty="0">
                          <a:solidFill>
                            <a:srgbClr val="9AA5B8"/>
                          </a:solidFill>
                        </a:rPr>
                        <a:t>Communication reliability, delay and consistency remain challenges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5"/>
                  </a:ext>
                </a:extLst>
              </a:tr>
              <a:tr h="587829">
                <a:tc>
                  <a:txBody>
                    <a:bodyPr/>
                    <a:lstStyle/>
                    <a:p>
                      <a:pPr marL="0" indent="0">
                        <a:buNone/>
                      </a:pPr>
                      <a:r>
                        <a:rPr lang="en-US" sz="1350" b="1" dirty="0">
                          <a:solidFill>
                            <a:srgbClr val="F5F7FA"/>
                          </a:solidFill>
                        </a:rPr>
                        <a:t>CARLA / Simulation</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Provides controlled autonomous-driving scenarios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50" dirty="0">
                          <a:solidFill>
                            <a:srgbClr val="9AA5B8"/>
                          </a:solidFill>
                        </a:rPr>
                        <a:t>Limited focus on integrated adaptive sensor-reliability experiments</a:t>
                      </a:r>
                      <a:endParaRPr lang="en-US" sz="135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6"/>
                  </a:ext>
                </a:extLst>
              </a:tr>
            </a:tbl>
          </a:graphicData>
        </a:graphic>
      </p:graphicFrame>
      <p:sp>
        <p:nvSpPr>
          <p:cNvPr id="4" name="Shape 2"/>
          <p:cNvSpPr/>
          <p:nvPr/>
        </p:nvSpPr>
        <p:spPr>
          <a:xfrm>
            <a:off x="548640" y="5715000"/>
            <a:ext cx="11064240" cy="566928"/>
          </a:xfrm>
          <a:prstGeom prst="roundRect">
            <a:avLst>
              <a:gd name="adj" fmla="val 12903"/>
            </a:avLst>
          </a:prstGeom>
          <a:solidFill>
            <a:srgbClr val="243352"/>
          </a:solidFill>
          <a:ln w="12700">
            <a:solidFill>
              <a:srgbClr val="1A8FA3"/>
            </a:solidFill>
            <a:prstDash val="solid"/>
          </a:ln>
        </p:spPr>
      </p:sp>
      <p:sp>
        <p:nvSpPr>
          <p:cNvPr id="6" name="Text 3"/>
          <p:cNvSpPr txBox="1"/>
          <p:nvPr/>
        </p:nvSpPr>
        <p:spPr>
          <a:xfrm>
            <a:off x="777240" y="5715000"/>
            <a:ext cx="10607040" cy="566928"/>
          </a:xfrm>
          <a:prstGeom prst="rect">
            <a:avLst/>
          </a:prstGeom>
          <a:noFill/>
          <a:ln/>
        </p:spPr>
        <p:txBody>
          <a:bodyPr wrap="square" lIns="0" tIns="0" rIns="0" bIns="0" rtlCol="0" anchor="ctr"/>
          <a:lstStyle/>
          <a:p>
            <a:pPr marL="0" indent="0">
              <a:buNone/>
            </a:pPr>
            <a:r>
              <a:rPr lang="en-US" sz="1450" i="1" dirty="0">
                <a:solidFill>
                  <a:srgbClr val="F5F7FA"/>
                </a:solidFill>
                <a:latin typeface="Calibri" pitchFamily="34" charset="0"/>
                <a:ea typeface="Calibri" pitchFamily="34" charset="-122"/>
                <a:cs typeface="Calibri" pitchFamily="34" charset="-120"/>
              </a:rPr>
              <a:t>Existing research provides strong individual components. Our focus is on their adaptive interaction within a unified closed-loop system.</a:t>
            </a:r>
            <a:endParaRPr lang="en-US" sz="1450" dirty="0"/>
          </a:p>
        </p:txBody>
      </p:sp>
      <p:sp>
        <p:nvSpPr>
          <p:cNvPr id="7" name="Text 4"/>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04 / 13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POSITIONING</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Existing Work vs. Proposed Adaptive Mobility System</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4585716"/>
        </p:xfrm>
        <a:graphic>
          <a:graphicData uri="http://schemas.openxmlformats.org/drawingml/2006/table">
            <a:tbl>
              <a:tblPr/>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452628">
                <a:tc>
                  <a:txBody>
                    <a:bodyPr/>
                    <a:lstStyle/>
                    <a:p>
                      <a:pPr marL="0" indent="0">
                        <a:buNone/>
                      </a:pPr>
                      <a:r>
                        <a:rPr lang="en-US" sz="1400" b="1" dirty="0">
                          <a:solidFill>
                            <a:srgbClr val="0B1120"/>
                          </a:solidFill>
                        </a:rPr>
                        <a:t>Aspect</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Existing Approaches</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Our Proposed System</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452628">
                <a:tc>
                  <a:txBody>
                    <a:bodyPr/>
                    <a:lstStyle/>
                    <a:p>
                      <a:pPr marL="0" indent="0">
                        <a:buNone/>
                      </a:pPr>
                      <a:r>
                        <a:rPr lang="en-US" sz="1300" b="1" dirty="0">
                          <a:solidFill>
                            <a:srgbClr val="F5F7FA"/>
                          </a:solidFill>
                        </a:rPr>
                        <a:t>Multi-Sensor Fusion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Camera/LiDAR/Radar data are combined.</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F5F7FA"/>
                          </a:solidFill>
                        </a:rPr>
                        <a:t>Fusion contribution adapts according to estimated sensor reliability and uncertainty.</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1"/>
                  </a:ext>
                </a:extLst>
              </a:tr>
              <a:tr h="452628">
                <a:tc>
                  <a:txBody>
                    <a:bodyPr/>
                    <a:lstStyle/>
                    <a:p>
                      <a:pPr marL="0" indent="0">
                        <a:buNone/>
                      </a:pPr>
                      <a:r>
                        <a:rPr lang="en-US" sz="1300" b="1" dirty="0">
                          <a:solidFill>
                            <a:srgbClr val="F5F7FA"/>
                          </a:solidFill>
                        </a:rPr>
                        <a:t>Sensor Reliability</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Sensor degradation/faults may be studied separately.</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F5F7FA"/>
                          </a:solidFill>
                        </a:rPr>
                        <a:t>Reliability is estimated dynamically and used downstream.</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2"/>
                  </a:ext>
                </a:extLst>
              </a:tr>
              <a:tr h="452628">
                <a:tc>
                  <a:txBody>
                    <a:bodyPr/>
                    <a:lstStyle/>
                    <a:p>
                      <a:pPr marL="0" indent="0">
                        <a:buNone/>
                      </a:pPr>
                      <a:r>
                        <a:rPr lang="en-US" sz="1300" b="1" dirty="0">
                          <a:solidFill>
                            <a:srgbClr val="F5F7FA"/>
                          </a:solidFill>
                        </a:rPr>
                        <a:t>Uncertainty</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Often considered at perception/tracking level.</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F5F7FA"/>
                          </a:solidFill>
                        </a:rPr>
                        <a:t>Proposed to influence fusion and risk assessment.</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3"/>
                  </a:ext>
                </a:extLst>
              </a:tr>
              <a:tr h="452628">
                <a:tc>
                  <a:txBody>
                    <a:bodyPr/>
                    <a:lstStyle/>
                    <a:p>
                      <a:pPr marL="0" indent="0">
                        <a:buNone/>
                      </a:pPr>
                      <a:r>
                        <a:rPr lang="en-US" sz="1300" b="1" dirty="0">
                          <a:solidFill>
                            <a:srgbClr val="F5F7FA"/>
                          </a:solidFill>
                        </a:rPr>
                        <a:t>Sensor Disagreement</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May be detected as an inconsistency/fault.</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F5F7FA"/>
                          </a:solidFill>
                        </a:rPr>
                        <a:t>Used as an input to reliability and uncertainty reasoning.</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4"/>
                  </a:ext>
                </a:extLst>
              </a:tr>
              <a:tr h="452628">
                <a:tc>
                  <a:txBody>
                    <a:bodyPr/>
                    <a:lstStyle/>
                    <a:p>
                      <a:pPr marL="0" indent="0">
                        <a:buNone/>
                      </a:pPr>
                      <a:r>
                        <a:rPr lang="en-US" sz="1300" b="1" dirty="0">
                          <a:solidFill>
                            <a:srgbClr val="F5F7FA"/>
                          </a:solidFill>
                        </a:rPr>
                        <a:t>Risk Assessment</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Often uses scene/object/trajectory information.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F5F7FA"/>
                          </a:solidFill>
                        </a:rPr>
                        <a:t>Combines distance, relative velocity, TTC, trajectory, confidence and uncertainty.</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5"/>
                  </a:ext>
                </a:extLst>
              </a:tr>
              <a:tr h="452628">
                <a:tc>
                  <a:txBody>
                    <a:bodyPr/>
                    <a:lstStyle/>
                    <a:p>
                      <a:pPr marL="0" indent="0">
                        <a:buNone/>
                      </a:pPr>
                      <a:r>
                        <a:rPr lang="en-US" sz="1300" b="1" dirty="0">
                          <a:solidFill>
                            <a:srgbClr val="F5F7FA"/>
                          </a:solidFill>
                        </a:rPr>
                        <a:t>Decision Making</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May use predefined behaviour/thresholds.</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F5F7FA"/>
                          </a:solidFill>
                        </a:rPr>
                        <a:t>Proposed to adapt according to changing risk and confidence.</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6"/>
                  </a:ext>
                </a:extLst>
              </a:tr>
              <a:tr h="452628">
                <a:tc>
                  <a:txBody>
                    <a:bodyPr/>
                    <a:lstStyle/>
                    <a:p>
                      <a:pPr marL="0" indent="0">
                        <a:buNone/>
                      </a:pPr>
                      <a:r>
                        <a:rPr lang="en-US" sz="1300" b="1" dirty="0">
                          <a:solidFill>
                            <a:srgbClr val="F5F7FA"/>
                          </a:solidFill>
                        </a:rPr>
                        <a:t>Sensor Degradation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Often handled at individual-module level.</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F5F7FA"/>
                          </a:solidFill>
                        </a:rPr>
                        <a:t>System-level adaptive response is proposed.</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7"/>
                  </a:ext>
                </a:extLst>
              </a:tr>
              <a:tr h="452628">
                <a:tc>
                  <a:txBody>
                    <a:bodyPr/>
                    <a:lstStyle/>
                    <a:p>
                      <a:pPr marL="0" indent="0">
                        <a:buNone/>
                      </a:pPr>
                      <a:r>
                        <a:rPr lang="en-US" sz="1300" b="1" dirty="0">
                          <a:solidFill>
                            <a:srgbClr val="F5F7FA"/>
                          </a:solidFill>
                        </a:rPr>
                        <a:t>V2X</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Cooperative perception enables information sharing.</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F5F7FA"/>
                          </a:solidFill>
                        </a:rPr>
                        <a:t>V2X information is integrated as an additional perception source.</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8"/>
                  </a:ext>
                </a:extLst>
              </a:tr>
              <a:tr h="452628">
                <a:tc>
                  <a:txBody>
                    <a:bodyPr/>
                    <a:lstStyle/>
                    <a:p>
                      <a:pPr marL="0" indent="0">
                        <a:buNone/>
                      </a:pPr>
                      <a:r>
                        <a:rPr lang="en-US" sz="1300" b="1" dirty="0">
                          <a:solidFill>
                            <a:srgbClr val="F5F7FA"/>
                          </a:solidFill>
                        </a:rPr>
                        <a:t>Validation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General autonomous-driving simulation.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F5F7FA"/>
                          </a:solidFill>
                        </a:rPr>
                        <a:t>Controlled sensor-degradation scenarios with baseline-vs-adaptive comparison.</a:t>
                      </a:r>
                      <a:endParaRPr lang="en-US" sz="13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6233F"/>
                    </a:solidFill>
                  </a:tcPr>
                </a:tc>
                <a:extLst>
                  <a:ext uri="{0D108BD9-81ED-4DB2-BD59-A6C34878D82A}">
                    <a16:rowId xmlns:a16="http://schemas.microsoft.com/office/drawing/2014/main" val="10009"/>
                  </a:ext>
                </a:extLst>
              </a:tr>
            </a:tbl>
          </a:graphicData>
        </a:graphic>
      </p:graphicFrame>
      <p:sp>
        <p:nvSpPr>
          <p:cNvPr id="5" name="Shape 2"/>
          <p:cNvSpPr/>
          <p:nvPr/>
        </p:nvSpPr>
        <p:spPr>
          <a:xfrm>
            <a:off x="457200" y="5989320"/>
            <a:ext cx="11247120" cy="384048"/>
          </a:xfrm>
          <a:prstGeom prst="roundRect">
            <a:avLst>
              <a:gd name="adj" fmla="val 14286"/>
            </a:avLst>
          </a:prstGeom>
          <a:solidFill>
            <a:srgbClr val="243352"/>
          </a:solidFill>
          <a:ln/>
        </p:spPr>
      </p:sp>
      <p:sp>
        <p:nvSpPr>
          <p:cNvPr id="4" name="Text 3"/>
          <p:cNvSpPr txBox="1"/>
          <p:nvPr/>
        </p:nvSpPr>
        <p:spPr>
          <a:xfrm>
            <a:off x="640080" y="5989320"/>
            <a:ext cx="10881360" cy="384048"/>
          </a:xfrm>
          <a:prstGeom prst="rect">
            <a:avLst/>
          </a:prstGeom>
          <a:noFill/>
          <a:ln/>
        </p:spPr>
        <p:txBody>
          <a:bodyPr wrap="square" lIns="0" tIns="0" rIns="0" bIns="0" rtlCol="0" anchor="ctr"/>
          <a:lstStyle/>
          <a:p>
            <a:pPr marL="0" indent="0">
              <a:buNone/>
            </a:pPr>
            <a:r>
              <a:rPr lang="en-US" sz="1300" i="1" dirty="0">
                <a:solidFill>
                  <a:srgbClr val="F5F7FA"/>
                </a:solidFill>
                <a:latin typeface="Calibri" pitchFamily="34" charset="0"/>
                <a:ea typeface="Calibri" pitchFamily="34" charset="-122"/>
                <a:cs typeface="Calibri" pitchFamily="34" charset="-120"/>
              </a:rPr>
              <a:t>Existing work provides the individual building blocks; our project investigates how these components can interact adaptively in one closed-loop intelligent mobility system.</a:t>
            </a:r>
            <a:endParaRPr lang="en-US" sz="1300" dirty="0"/>
          </a:p>
        </p:txBody>
      </p:sp>
      <p:sp>
        <p:nvSpPr>
          <p:cNvPr id="7" name="Text 4"/>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05 / 13</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SYNTHESIS</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Research Gap &amp; Research Question</a:t>
            </a:r>
            <a:endParaRPr lang="en-US" sz="3000" dirty="0"/>
          </a:p>
        </p:txBody>
      </p:sp>
      <p:sp>
        <p:nvSpPr>
          <p:cNvPr id="4" name="Shape 2"/>
          <p:cNvSpPr/>
          <p:nvPr/>
        </p:nvSpPr>
        <p:spPr>
          <a:xfrm>
            <a:off x="548640" y="1463040"/>
            <a:ext cx="2084832" cy="502920"/>
          </a:xfrm>
          <a:prstGeom prst="roundRect">
            <a:avLst>
              <a:gd name="adj" fmla="val 10909"/>
            </a:avLst>
          </a:prstGeom>
          <a:solidFill>
            <a:srgbClr val="141B33"/>
          </a:solidFill>
          <a:ln w="12700">
            <a:solidFill>
              <a:srgbClr val="3A4568"/>
            </a:solidFill>
            <a:prstDash val="solid"/>
          </a:ln>
        </p:spPr>
      </p:sp>
      <p:sp>
        <p:nvSpPr>
          <p:cNvPr id="5" name="Text 3"/>
          <p:cNvSpPr txBox="1"/>
          <p:nvPr/>
        </p:nvSpPr>
        <p:spPr>
          <a:xfrm>
            <a:off x="594360" y="1463040"/>
            <a:ext cx="1993392" cy="502920"/>
          </a:xfrm>
          <a:prstGeom prst="rect">
            <a:avLst/>
          </a:prstGeom>
          <a:noFill/>
          <a:ln/>
        </p:spPr>
        <p:txBody>
          <a:bodyPr wrap="square" lIns="0" tIns="0" rIns="0" bIns="0" rtlCol="0" anchor="ctr"/>
          <a:lstStyle/>
          <a:p>
            <a:pPr marL="0" indent="0" algn="ctr">
              <a:buNone/>
            </a:pPr>
            <a:r>
              <a:rPr lang="en-US" sz="1350" b="1" dirty="0">
                <a:solidFill>
                  <a:srgbClr val="9AA5B8"/>
                </a:solidFill>
                <a:latin typeface="Calibri" pitchFamily="34" charset="0"/>
                <a:ea typeface="Calibri" pitchFamily="34" charset="-122"/>
                <a:cs typeface="Calibri" pitchFamily="34" charset="-120"/>
              </a:rPr>
              <a:t>Sensor Fusion</a:t>
            </a:r>
            <a:endParaRPr lang="en-US" sz="1350" dirty="0"/>
          </a:p>
        </p:txBody>
      </p:sp>
      <p:sp>
        <p:nvSpPr>
          <p:cNvPr id="6" name="Shape 4"/>
          <p:cNvSpPr/>
          <p:nvPr/>
        </p:nvSpPr>
        <p:spPr>
          <a:xfrm>
            <a:off x="2724912" y="1463040"/>
            <a:ext cx="2084832" cy="502920"/>
          </a:xfrm>
          <a:prstGeom prst="roundRect">
            <a:avLst>
              <a:gd name="adj" fmla="val 10909"/>
            </a:avLst>
          </a:prstGeom>
          <a:solidFill>
            <a:srgbClr val="141B33"/>
          </a:solidFill>
          <a:ln w="12700">
            <a:solidFill>
              <a:srgbClr val="3A4568"/>
            </a:solidFill>
            <a:prstDash val="solid"/>
          </a:ln>
        </p:spPr>
      </p:sp>
      <p:sp>
        <p:nvSpPr>
          <p:cNvPr id="7" name="Text 5"/>
          <p:cNvSpPr txBox="1"/>
          <p:nvPr/>
        </p:nvSpPr>
        <p:spPr>
          <a:xfrm>
            <a:off x="2770632" y="1463040"/>
            <a:ext cx="1993392" cy="502920"/>
          </a:xfrm>
          <a:prstGeom prst="rect">
            <a:avLst/>
          </a:prstGeom>
          <a:noFill/>
          <a:ln/>
        </p:spPr>
        <p:txBody>
          <a:bodyPr wrap="square" lIns="0" tIns="0" rIns="0" bIns="0" rtlCol="0" anchor="ctr"/>
          <a:lstStyle/>
          <a:p>
            <a:pPr marL="0" indent="0" algn="ctr">
              <a:buNone/>
            </a:pPr>
            <a:r>
              <a:rPr lang="en-US" sz="1350" b="1" dirty="0">
                <a:solidFill>
                  <a:srgbClr val="9AA5B8"/>
                </a:solidFill>
                <a:latin typeface="Calibri" pitchFamily="34" charset="0"/>
                <a:ea typeface="Calibri" pitchFamily="34" charset="-122"/>
                <a:cs typeface="Calibri" pitchFamily="34" charset="-120"/>
              </a:rPr>
              <a:t>Reliability</a:t>
            </a:r>
            <a:endParaRPr lang="en-US" sz="1350" dirty="0"/>
          </a:p>
        </p:txBody>
      </p:sp>
      <p:sp>
        <p:nvSpPr>
          <p:cNvPr id="8" name="Shape 6"/>
          <p:cNvSpPr/>
          <p:nvPr/>
        </p:nvSpPr>
        <p:spPr>
          <a:xfrm>
            <a:off x="4901184" y="1463040"/>
            <a:ext cx="2084832" cy="502920"/>
          </a:xfrm>
          <a:prstGeom prst="roundRect">
            <a:avLst>
              <a:gd name="adj" fmla="val 10909"/>
            </a:avLst>
          </a:prstGeom>
          <a:solidFill>
            <a:srgbClr val="141B33"/>
          </a:solidFill>
          <a:ln w="12700">
            <a:solidFill>
              <a:srgbClr val="3A4568"/>
            </a:solidFill>
            <a:prstDash val="solid"/>
          </a:ln>
        </p:spPr>
      </p:sp>
      <p:sp>
        <p:nvSpPr>
          <p:cNvPr id="9" name="Text 7"/>
          <p:cNvSpPr txBox="1"/>
          <p:nvPr/>
        </p:nvSpPr>
        <p:spPr>
          <a:xfrm>
            <a:off x="4946904" y="1463040"/>
            <a:ext cx="1993392" cy="502920"/>
          </a:xfrm>
          <a:prstGeom prst="rect">
            <a:avLst/>
          </a:prstGeom>
          <a:noFill/>
          <a:ln/>
        </p:spPr>
        <p:txBody>
          <a:bodyPr wrap="square" lIns="0" tIns="0" rIns="0" bIns="0" rtlCol="0" anchor="ctr"/>
          <a:lstStyle/>
          <a:p>
            <a:pPr marL="0" indent="0" algn="ctr">
              <a:buNone/>
            </a:pPr>
            <a:r>
              <a:rPr lang="en-US" sz="1350" b="1" dirty="0">
                <a:solidFill>
                  <a:srgbClr val="9AA5B8"/>
                </a:solidFill>
                <a:latin typeface="Calibri" pitchFamily="34" charset="0"/>
                <a:ea typeface="Calibri" pitchFamily="34" charset="-122"/>
                <a:cs typeface="Calibri" pitchFamily="34" charset="-120"/>
              </a:rPr>
              <a:t>Uncertainty</a:t>
            </a:r>
            <a:endParaRPr lang="en-US" sz="1350" dirty="0"/>
          </a:p>
        </p:txBody>
      </p:sp>
      <p:sp>
        <p:nvSpPr>
          <p:cNvPr id="10" name="Shape 8"/>
          <p:cNvSpPr/>
          <p:nvPr/>
        </p:nvSpPr>
        <p:spPr>
          <a:xfrm>
            <a:off x="7077456" y="1463040"/>
            <a:ext cx="2084832" cy="502920"/>
          </a:xfrm>
          <a:prstGeom prst="roundRect">
            <a:avLst>
              <a:gd name="adj" fmla="val 10909"/>
            </a:avLst>
          </a:prstGeom>
          <a:solidFill>
            <a:srgbClr val="141B33"/>
          </a:solidFill>
          <a:ln w="12700">
            <a:solidFill>
              <a:srgbClr val="3A4568"/>
            </a:solidFill>
            <a:prstDash val="solid"/>
          </a:ln>
        </p:spPr>
      </p:sp>
      <p:sp>
        <p:nvSpPr>
          <p:cNvPr id="11" name="Text 9"/>
          <p:cNvSpPr txBox="1"/>
          <p:nvPr/>
        </p:nvSpPr>
        <p:spPr>
          <a:xfrm>
            <a:off x="7123176" y="1463040"/>
            <a:ext cx="1993392" cy="502920"/>
          </a:xfrm>
          <a:prstGeom prst="rect">
            <a:avLst/>
          </a:prstGeom>
          <a:noFill/>
          <a:ln/>
        </p:spPr>
        <p:txBody>
          <a:bodyPr wrap="square" lIns="0" tIns="0" rIns="0" bIns="0" rtlCol="0" anchor="ctr"/>
          <a:lstStyle/>
          <a:p>
            <a:pPr marL="0" indent="0" algn="ctr">
              <a:buNone/>
            </a:pPr>
            <a:r>
              <a:rPr lang="en-US" sz="1350" b="1" dirty="0">
                <a:solidFill>
                  <a:srgbClr val="9AA5B8"/>
                </a:solidFill>
                <a:latin typeface="Calibri" pitchFamily="34" charset="0"/>
                <a:ea typeface="Calibri" pitchFamily="34" charset="-122"/>
                <a:cs typeface="Calibri" pitchFamily="34" charset="-120"/>
              </a:rPr>
              <a:t>Risk Assessment</a:t>
            </a:r>
            <a:endParaRPr lang="en-US" sz="1350" dirty="0"/>
          </a:p>
        </p:txBody>
      </p:sp>
      <p:sp>
        <p:nvSpPr>
          <p:cNvPr id="12" name="Shape 10"/>
          <p:cNvSpPr/>
          <p:nvPr/>
        </p:nvSpPr>
        <p:spPr>
          <a:xfrm>
            <a:off x="9253728" y="1463040"/>
            <a:ext cx="2084832" cy="502920"/>
          </a:xfrm>
          <a:prstGeom prst="roundRect">
            <a:avLst>
              <a:gd name="adj" fmla="val 10909"/>
            </a:avLst>
          </a:prstGeom>
          <a:solidFill>
            <a:srgbClr val="141B33"/>
          </a:solidFill>
          <a:ln w="12700">
            <a:solidFill>
              <a:srgbClr val="3A4568"/>
            </a:solidFill>
            <a:prstDash val="solid"/>
          </a:ln>
        </p:spPr>
      </p:sp>
      <p:sp>
        <p:nvSpPr>
          <p:cNvPr id="13" name="Text 11"/>
          <p:cNvSpPr txBox="1"/>
          <p:nvPr/>
        </p:nvSpPr>
        <p:spPr>
          <a:xfrm>
            <a:off x="9299448" y="1463040"/>
            <a:ext cx="1993392" cy="502920"/>
          </a:xfrm>
          <a:prstGeom prst="rect">
            <a:avLst/>
          </a:prstGeom>
          <a:noFill/>
          <a:ln/>
        </p:spPr>
        <p:txBody>
          <a:bodyPr wrap="square" lIns="0" tIns="0" rIns="0" bIns="0" rtlCol="0" anchor="ctr"/>
          <a:lstStyle/>
          <a:p>
            <a:pPr marL="0" indent="0" algn="ctr">
              <a:buNone/>
            </a:pPr>
            <a:r>
              <a:rPr lang="en-US" sz="1350" b="1" dirty="0">
                <a:solidFill>
                  <a:srgbClr val="9AA5B8"/>
                </a:solidFill>
                <a:latin typeface="Calibri" pitchFamily="34" charset="0"/>
                <a:ea typeface="Calibri" pitchFamily="34" charset="-122"/>
                <a:cs typeface="Calibri" pitchFamily="34" charset="-120"/>
              </a:rPr>
              <a:t>Decision Making</a:t>
            </a:r>
            <a:endParaRPr lang="en-US" sz="1350" dirty="0"/>
          </a:p>
        </p:txBody>
      </p:sp>
      <p:sp>
        <p:nvSpPr>
          <p:cNvPr id="14" name="Text 12"/>
          <p:cNvSpPr txBox="1"/>
          <p:nvPr/>
        </p:nvSpPr>
        <p:spPr>
          <a:xfrm>
            <a:off x="548640" y="2029968"/>
            <a:ext cx="10972800" cy="274320"/>
          </a:xfrm>
          <a:prstGeom prst="rect">
            <a:avLst/>
          </a:prstGeom>
          <a:noFill/>
          <a:ln/>
        </p:spPr>
        <p:txBody>
          <a:bodyPr wrap="square" lIns="0" tIns="0" rIns="0" bIns="0" rtlCol="0" anchor="ctr"/>
          <a:lstStyle/>
          <a:p>
            <a:pPr marL="0" indent="0" algn="ctr">
              <a:buNone/>
            </a:pPr>
            <a:r>
              <a:rPr lang="en-US" sz="1400" i="1" dirty="0">
                <a:solidFill>
                  <a:srgbClr val="6B7A99"/>
                </a:solidFill>
                <a:latin typeface="Calibri" pitchFamily="34" charset="0"/>
                <a:ea typeface="Calibri" pitchFamily="34" charset="-122"/>
                <a:cs typeface="Calibri" pitchFamily="34" charset="-120"/>
              </a:rPr>
              <a:t>Studied largely as separate problems in existing research</a:t>
            </a:r>
            <a:endParaRPr lang="en-US" sz="1400" dirty="0"/>
          </a:p>
        </p:txBody>
      </p:sp>
      <p:sp>
        <p:nvSpPr>
          <p:cNvPr id="15" name="Shape 13"/>
          <p:cNvSpPr/>
          <p:nvPr/>
        </p:nvSpPr>
        <p:spPr>
          <a:xfrm>
            <a:off x="708660" y="2468880"/>
            <a:ext cx="2514600" cy="548640"/>
          </a:xfrm>
          <a:prstGeom prst="roundRect">
            <a:avLst>
              <a:gd name="adj" fmla="val 10000"/>
            </a:avLst>
          </a:prstGeom>
          <a:solidFill>
            <a:srgbClr val="243352"/>
          </a:solidFill>
          <a:ln w="12700">
            <a:solidFill>
              <a:srgbClr val="22D3EE"/>
            </a:solidFill>
            <a:prstDash val="solid"/>
          </a:ln>
        </p:spPr>
      </p:sp>
      <p:sp>
        <p:nvSpPr>
          <p:cNvPr id="16" name="Text 14"/>
          <p:cNvSpPr txBox="1"/>
          <p:nvPr/>
        </p:nvSpPr>
        <p:spPr>
          <a:xfrm>
            <a:off x="754380" y="2468880"/>
            <a:ext cx="2423160" cy="54864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Dynamic</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Reliability</a:t>
            </a:r>
            <a:endParaRPr lang="en-US" sz="1400" dirty="0"/>
          </a:p>
        </p:txBody>
      </p:sp>
      <p:sp>
        <p:nvSpPr>
          <p:cNvPr id="17" name="Text 15"/>
          <p:cNvSpPr txBox="1"/>
          <p:nvPr/>
        </p:nvSpPr>
        <p:spPr>
          <a:xfrm>
            <a:off x="3223260" y="2560320"/>
            <a:ext cx="228600" cy="3657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3451860" y="2468880"/>
            <a:ext cx="2514600" cy="548640"/>
          </a:xfrm>
          <a:prstGeom prst="roundRect">
            <a:avLst>
              <a:gd name="adj" fmla="val 10000"/>
            </a:avLst>
          </a:prstGeom>
          <a:solidFill>
            <a:srgbClr val="243352"/>
          </a:solidFill>
          <a:ln w="12700">
            <a:solidFill>
              <a:srgbClr val="22D3EE"/>
            </a:solidFill>
            <a:prstDash val="solid"/>
          </a:ln>
        </p:spPr>
      </p:sp>
      <p:sp>
        <p:nvSpPr>
          <p:cNvPr id="19" name="Text 17"/>
          <p:cNvSpPr txBox="1"/>
          <p:nvPr/>
        </p:nvSpPr>
        <p:spPr>
          <a:xfrm>
            <a:off x="3497580" y="2468880"/>
            <a:ext cx="2423160" cy="54864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Uncertainty-Aware</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Fusion</a:t>
            </a:r>
            <a:endParaRPr lang="en-US" sz="1400" dirty="0"/>
          </a:p>
        </p:txBody>
      </p:sp>
      <p:sp>
        <p:nvSpPr>
          <p:cNvPr id="20" name="Text 18"/>
          <p:cNvSpPr txBox="1"/>
          <p:nvPr/>
        </p:nvSpPr>
        <p:spPr>
          <a:xfrm>
            <a:off x="5966460" y="2560320"/>
            <a:ext cx="228600" cy="3657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6195060" y="2468880"/>
            <a:ext cx="2514600" cy="548640"/>
          </a:xfrm>
          <a:prstGeom prst="roundRect">
            <a:avLst>
              <a:gd name="adj" fmla="val 10000"/>
            </a:avLst>
          </a:prstGeom>
          <a:solidFill>
            <a:srgbClr val="243352"/>
          </a:solidFill>
          <a:ln w="12700">
            <a:solidFill>
              <a:srgbClr val="22D3EE"/>
            </a:solidFill>
            <a:prstDash val="solid"/>
          </a:ln>
        </p:spPr>
      </p:sp>
      <p:sp>
        <p:nvSpPr>
          <p:cNvPr id="22" name="Text 20"/>
          <p:cNvSpPr txBox="1"/>
          <p:nvPr/>
        </p:nvSpPr>
        <p:spPr>
          <a:xfrm>
            <a:off x="6240780" y="2468880"/>
            <a:ext cx="2423160" cy="54864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Predictive</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Risk</a:t>
            </a:r>
            <a:endParaRPr lang="en-US" sz="1400" dirty="0"/>
          </a:p>
        </p:txBody>
      </p:sp>
      <p:sp>
        <p:nvSpPr>
          <p:cNvPr id="23" name="Text 21"/>
          <p:cNvSpPr txBox="1"/>
          <p:nvPr/>
        </p:nvSpPr>
        <p:spPr>
          <a:xfrm>
            <a:off x="8709660" y="2560320"/>
            <a:ext cx="228600" cy="3657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938260" y="2468880"/>
            <a:ext cx="2514600" cy="548640"/>
          </a:xfrm>
          <a:prstGeom prst="roundRect">
            <a:avLst>
              <a:gd name="adj" fmla="val 10000"/>
            </a:avLst>
          </a:prstGeom>
          <a:solidFill>
            <a:srgbClr val="243352"/>
          </a:solidFill>
          <a:ln w="12700">
            <a:solidFill>
              <a:srgbClr val="22D3EE"/>
            </a:solidFill>
            <a:prstDash val="solid"/>
          </a:ln>
        </p:spPr>
      </p:sp>
      <p:sp>
        <p:nvSpPr>
          <p:cNvPr id="25" name="Text 23"/>
          <p:cNvSpPr txBox="1"/>
          <p:nvPr/>
        </p:nvSpPr>
        <p:spPr>
          <a:xfrm>
            <a:off x="8983980" y="2468880"/>
            <a:ext cx="2423160" cy="54864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Adaptive</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Decision</a:t>
            </a:r>
            <a:endParaRPr lang="en-US" sz="1400" dirty="0"/>
          </a:p>
        </p:txBody>
      </p:sp>
      <p:sp>
        <p:nvSpPr>
          <p:cNvPr id="26" name="Shape 24"/>
          <p:cNvSpPr/>
          <p:nvPr/>
        </p:nvSpPr>
        <p:spPr>
          <a:xfrm>
            <a:off x="6016752" y="3035808"/>
            <a:ext cx="128016" cy="182880"/>
          </a:xfrm>
          <a:prstGeom prst="downArrow">
            <a:avLst/>
          </a:prstGeom>
          <a:solidFill>
            <a:srgbClr val="1A8FA3"/>
          </a:solidFill>
          <a:ln/>
        </p:spPr>
      </p:sp>
      <p:sp>
        <p:nvSpPr>
          <p:cNvPr id="27" name="Shape 25"/>
          <p:cNvSpPr/>
          <p:nvPr/>
        </p:nvSpPr>
        <p:spPr>
          <a:xfrm>
            <a:off x="3337560" y="3246120"/>
            <a:ext cx="5486400" cy="502920"/>
          </a:xfrm>
          <a:prstGeom prst="roundRect">
            <a:avLst>
              <a:gd name="adj" fmla="val 50909"/>
            </a:avLst>
          </a:prstGeom>
          <a:solidFill>
            <a:srgbClr val="22D3EE"/>
          </a:solidFill>
          <a:ln/>
        </p:spPr>
      </p:sp>
      <p:sp>
        <p:nvSpPr>
          <p:cNvPr id="28" name="Text 26"/>
          <p:cNvSpPr txBox="1"/>
          <p:nvPr/>
        </p:nvSpPr>
        <p:spPr>
          <a:xfrm>
            <a:off x="3337560" y="3246120"/>
            <a:ext cx="5486400" cy="502920"/>
          </a:xfrm>
          <a:prstGeom prst="rect">
            <a:avLst/>
          </a:prstGeom>
          <a:noFill/>
          <a:ln/>
        </p:spPr>
        <p:txBody>
          <a:bodyPr wrap="square" lIns="0" tIns="0" rIns="0" bIns="0" rtlCol="0" anchor="ctr"/>
          <a:lstStyle/>
          <a:p>
            <a:pPr marL="0" indent="0" algn="ctr">
              <a:buNone/>
            </a:pPr>
            <a:r>
              <a:rPr lang="en-US" sz="1500" b="1" dirty="0">
                <a:solidFill>
                  <a:srgbClr val="0B1120"/>
                </a:solidFill>
                <a:latin typeface="Calibri" pitchFamily="34" charset="0"/>
                <a:ea typeface="Calibri" pitchFamily="34" charset="-122"/>
                <a:cs typeface="Calibri" pitchFamily="34" charset="-120"/>
              </a:rPr>
              <a:t>UNIFIED ADAPTIVE INTELLIGENCE LAYER</a:t>
            </a:r>
            <a:endParaRPr lang="en-US" sz="1500" dirty="0"/>
          </a:p>
        </p:txBody>
      </p:sp>
      <p:sp>
        <p:nvSpPr>
          <p:cNvPr id="29" name="Shape 27"/>
          <p:cNvSpPr/>
          <p:nvPr/>
        </p:nvSpPr>
        <p:spPr>
          <a:xfrm>
            <a:off x="548640" y="3931920"/>
            <a:ext cx="11064240" cy="960120"/>
          </a:xfrm>
          <a:prstGeom prst="roundRect">
            <a:avLst>
              <a:gd name="adj" fmla="val 7619"/>
            </a:avLst>
          </a:prstGeom>
          <a:solidFill>
            <a:srgbClr val="141B33"/>
          </a:solidFill>
          <a:ln w="12700">
            <a:solidFill>
              <a:srgbClr val="22D3EE"/>
            </a:solidFill>
            <a:prstDash val="solid"/>
          </a:ln>
        </p:spPr>
      </p:sp>
      <p:sp>
        <p:nvSpPr>
          <p:cNvPr id="30" name="Text 28"/>
          <p:cNvSpPr txBox="1"/>
          <p:nvPr/>
        </p:nvSpPr>
        <p:spPr>
          <a:xfrm>
            <a:off x="777240" y="4005072"/>
            <a:ext cx="3657600" cy="228600"/>
          </a:xfrm>
          <a:prstGeom prst="rect">
            <a:avLst/>
          </a:prstGeom>
          <a:noFill/>
          <a:ln/>
        </p:spPr>
        <p:txBody>
          <a:bodyPr wrap="square" lIns="0" tIns="0" rIns="0" bIns="0" rtlCol="0" anchor="ctr"/>
          <a:lstStyle/>
          <a:p>
            <a:pPr marL="0" indent="0">
              <a:buNone/>
            </a:pPr>
            <a:r>
              <a:rPr lang="en-US" sz="1350" b="1" kern="0" spc="150" dirty="0">
                <a:solidFill>
                  <a:srgbClr val="22D3EE"/>
                </a:solidFill>
                <a:latin typeface="Calibri" pitchFamily="34" charset="0"/>
                <a:ea typeface="Calibri" pitchFamily="34" charset="-122"/>
                <a:cs typeface="Calibri" pitchFamily="34" charset="-120"/>
              </a:rPr>
              <a:t>RESEARCH QUESTION</a:t>
            </a:r>
            <a:endParaRPr lang="en-US" sz="1350" dirty="0"/>
          </a:p>
        </p:txBody>
      </p:sp>
      <p:sp>
        <p:nvSpPr>
          <p:cNvPr id="31" name="Text 29"/>
          <p:cNvSpPr txBox="1"/>
          <p:nvPr/>
        </p:nvSpPr>
        <p:spPr>
          <a:xfrm>
            <a:off x="777240" y="4224528"/>
            <a:ext cx="10607040" cy="621792"/>
          </a:xfrm>
          <a:prstGeom prst="rect">
            <a:avLst/>
          </a:prstGeom>
          <a:noFill/>
          <a:ln/>
        </p:spPr>
        <p:txBody>
          <a:bodyPr wrap="square" lIns="0" tIns="0" rIns="0" bIns="0" rtlCol="0" anchor="t"/>
          <a:lstStyle/>
          <a:p>
            <a:pPr marL="0" indent="0">
              <a:buNone/>
            </a:pPr>
            <a:r>
              <a:rPr lang="en-US" sz="1600" i="1" dirty="0">
                <a:solidFill>
                  <a:srgbClr val="F5F7FA"/>
                </a:solidFill>
                <a:latin typeface="Cambria" pitchFamily="34" charset="0"/>
                <a:ea typeface="Cambria" pitchFamily="34" charset="-122"/>
                <a:cs typeface="Cambria" pitchFamily="34" charset="-120"/>
              </a:rPr>
              <a:t>"How can an intelligent mobility system dynamically adapt perception and driving decisions when the reliability of individual sensors changes during operation?"</a:t>
            </a:r>
            <a:endParaRPr lang="en-US" sz="1600" dirty="0"/>
          </a:p>
        </p:txBody>
      </p:sp>
      <p:sp>
        <p:nvSpPr>
          <p:cNvPr id="32" name="Text 30"/>
          <p:cNvSpPr txBox="1"/>
          <p:nvPr/>
        </p:nvSpPr>
        <p:spPr>
          <a:xfrm>
            <a:off x="548640" y="4983480"/>
            <a:ext cx="11064240" cy="320040"/>
          </a:xfrm>
          <a:prstGeom prst="rect">
            <a:avLst/>
          </a:prstGeom>
          <a:noFill/>
          <a:ln/>
        </p:spPr>
        <p:txBody>
          <a:bodyPr wrap="square" lIns="0" tIns="0" rIns="0" bIns="0" rtlCol="0" anchor="ctr"/>
          <a:lstStyle/>
          <a:p>
            <a:pPr marL="0" indent="0">
              <a:buNone/>
            </a:pPr>
            <a:r>
              <a:rPr lang="en-US" sz="1300" b="1" dirty="0">
                <a:solidFill>
                  <a:srgbClr val="9AA5B8"/>
                </a:solidFill>
                <a:latin typeface="Calibri" pitchFamily="34" charset="0"/>
                <a:ea typeface="Calibri" pitchFamily="34" charset="-122"/>
                <a:cs typeface="Calibri" pitchFamily="34" charset="-120"/>
              </a:rPr>
              <a:t>Supporting questions:  </a:t>
            </a:r>
            <a:r>
              <a:rPr lang="en-US" sz="1300" dirty="0">
                <a:solidFill>
                  <a:srgbClr val="6B7A99"/>
                </a:solidFill>
                <a:latin typeface="Calibri" pitchFamily="34" charset="0"/>
                <a:ea typeface="Calibri" pitchFamily="34" charset="-122"/>
                <a:cs typeface="Calibri" pitchFamily="34" charset="-120"/>
              </a:rPr>
              <a:t>sensor reliability estimation  •  cross-sensor disagreement detection  •  uncertainty-driven fusion  •  risk vs. confidence  •  behaviour adaptation within a defined ODD</a:t>
            </a:r>
            <a:endParaRPr lang="en-US" sz="1300" dirty="0"/>
          </a:p>
        </p:txBody>
      </p:sp>
      <p:sp>
        <p:nvSpPr>
          <p:cNvPr id="33" name="Text 31"/>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06 / 13</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PROPOSED METHODOLOGY</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822960" y="1481328"/>
            <a:ext cx="4937760" cy="566928"/>
          </a:xfrm>
          <a:prstGeom prst="roundRect">
            <a:avLst>
              <a:gd name="adj" fmla="val 9677"/>
            </a:avLst>
          </a:prstGeom>
          <a:solidFill>
            <a:srgbClr val="141B33"/>
          </a:solidFill>
          <a:ln w="12700">
            <a:solidFill>
              <a:srgbClr val="3A4568"/>
            </a:solidFill>
            <a:prstDash val="solid"/>
          </a:ln>
        </p:spPr>
      </p:sp>
      <p:sp>
        <p:nvSpPr>
          <p:cNvPr id="5" name="Text 3"/>
          <p:cNvSpPr txBox="1"/>
          <p:nvPr/>
        </p:nvSpPr>
        <p:spPr>
          <a:xfrm>
            <a:off x="868680" y="1481328"/>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Environment</a:t>
            </a:r>
            <a:endParaRPr lang="en-US" sz="1400" dirty="0"/>
          </a:p>
        </p:txBody>
      </p:sp>
      <p:sp>
        <p:nvSpPr>
          <p:cNvPr id="6" name="Shape 4"/>
          <p:cNvSpPr/>
          <p:nvPr/>
        </p:nvSpPr>
        <p:spPr>
          <a:xfrm>
            <a:off x="3227832" y="2048256"/>
            <a:ext cx="128016" cy="146304"/>
          </a:xfrm>
          <a:prstGeom prst="downArrow">
            <a:avLst/>
          </a:prstGeom>
          <a:solidFill>
            <a:srgbClr val="1A8FA3"/>
          </a:solidFill>
          <a:ln/>
        </p:spPr>
      </p:sp>
      <p:sp>
        <p:nvSpPr>
          <p:cNvPr id="7" name="Shape 5"/>
          <p:cNvSpPr/>
          <p:nvPr/>
        </p:nvSpPr>
        <p:spPr>
          <a:xfrm>
            <a:off x="822960" y="2194560"/>
            <a:ext cx="4937760" cy="566928"/>
          </a:xfrm>
          <a:prstGeom prst="roundRect">
            <a:avLst>
              <a:gd name="adj" fmla="val 9677"/>
            </a:avLst>
          </a:prstGeom>
          <a:solidFill>
            <a:srgbClr val="141B33"/>
          </a:solidFill>
          <a:ln w="12700">
            <a:solidFill>
              <a:srgbClr val="3A4568"/>
            </a:solidFill>
            <a:prstDash val="solid"/>
          </a:ln>
        </p:spPr>
      </p:sp>
      <p:sp>
        <p:nvSpPr>
          <p:cNvPr id="8" name="Text 6"/>
          <p:cNvSpPr txBox="1"/>
          <p:nvPr/>
        </p:nvSpPr>
        <p:spPr>
          <a:xfrm>
            <a:off x="868680" y="2194560"/>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Camera / LiDAR / Radar / IMU / V2X</a:t>
            </a:r>
            <a:endParaRPr lang="en-US" sz="1400" dirty="0"/>
          </a:p>
        </p:txBody>
      </p:sp>
      <p:sp>
        <p:nvSpPr>
          <p:cNvPr id="9" name="Shape 7"/>
          <p:cNvSpPr/>
          <p:nvPr/>
        </p:nvSpPr>
        <p:spPr>
          <a:xfrm>
            <a:off x="3227832" y="2761488"/>
            <a:ext cx="128016" cy="146304"/>
          </a:xfrm>
          <a:prstGeom prst="downArrow">
            <a:avLst/>
          </a:prstGeom>
          <a:solidFill>
            <a:srgbClr val="1A8FA3"/>
          </a:solidFill>
          <a:ln/>
        </p:spPr>
      </p:sp>
      <p:sp>
        <p:nvSpPr>
          <p:cNvPr id="10" name="Shape 8"/>
          <p:cNvSpPr/>
          <p:nvPr/>
        </p:nvSpPr>
        <p:spPr>
          <a:xfrm>
            <a:off x="822960" y="2907792"/>
            <a:ext cx="4937760" cy="566928"/>
          </a:xfrm>
          <a:prstGeom prst="roundRect">
            <a:avLst>
              <a:gd name="adj" fmla="val 9677"/>
            </a:avLst>
          </a:prstGeom>
          <a:solidFill>
            <a:srgbClr val="141B33"/>
          </a:solidFill>
          <a:ln w="12700">
            <a:solidFill>
              <a:srgbClr val="3A4568"/>
            </a:solidFill>
            <a:prstDash val="solid"/>
          </a:ln>
        </p:spPr>
      </p:sp>
      <p:sp>
        <p:nvSpPr>
          <p:cNvPr id="11" name="Text 9"/>
          <p:cNvSpPr txBox="1"/>
          <p:nvPr/>
        </p:nvSpPr>
        <p:spPr>
          <a:xfrm>
            <a:off x="868680" y="2907792"/>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Multi-Sensor Perception</a:t>
            </a:r>
            <a:endParaRPr lang="en-US" sz="1400" dirty="0"/>
          </a:p>
        </p:txBody>
      </p:sp>
      <p:sp>
        <p:nvSpPr>
          <p:cNvPr id="12" name="Shape 10"/>
          <p:cNvSpPr/>
          <p:nvPr/>
        </p:nvSpPr>
        <p:spPr>
          <a:xfrm>
            <a:off x="3227832" y="3474720"/>
            <a:ext cx="128016" cy="146304"/>
          </a:xfrm>
          <a:prstGeom prst="downArrow">
            <a:avLst/>
          </a:prstGeom>
          <a:solidFill>
            <a:srgbClr val="1A8FA3"/>
          </a:solidFill>
          <a:ln/>
        </p:spPr>
      </p:sp>
      <p:sp>
        <p:nvSpPr>
          <p:cNvPr id="13" name="Shape 11"/>
          <p:cNvSpPr/>
          <p:nvPr/>
        </p:nvSpPr>
        <p:spPr>
          <a:xfrm>
            <a:off x="822960" y="3621024"/>
            <a:ext cx="4937760" cy="566928"/>
          </a:xfrm>
          <a:prstGeom prst="roundRect">
            <a:avLst>
              <a:gd name="adj" fmla="val 9677"/>
            </a:avLst>
          </a:prstGeom>
          <a:solidFill>
            <a:srgbClr val="141B33"/>
          </a:solidFill>
          <a:ln w="12700">
            <a:solidFill>
              <a:srgbClr val="3A4568"/>
            </a:solidFill>
            <a:prstDash val="solid"/>
          </a:ln>
        </p:spPr>
      </p:sp>
      <p:sp>
        <p:nvSpPr>
          <p:cNvPr id="14" name="Text 12"/>
          <p:cNvSpPr txBox="1"/>
          <p:nvPr/>
        </p:nvSpPr>
        <p:spPr>
          <a:xfrm>
            <a:off x="868680" y="3621024"/>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Object Detection &amp; Tracking</a:t>
            </a:r>
            <a:endParaRPr lang="en-US" sz="1400" dirty="0"/>
          </a:p>
        </p:txBody>
      </p:sp>
      <p:sp>
        <p:nvSpPr>
          <p:cNvPr id="15" name="Shape 13"/>
          <p:cNvSpPr/>
          <p:nvPr/>
        </p:nvSpPr>
        <p:spPr>
          <a:xfrm>
            <a:off x="3227832" y="4187952"/>
            <a:ext cx="128016" cy="146304"/>
          </a:xfrm>
          <a:prstGeom prst="downArrow">
            <a:avLst/>
          </a:prstGeom>
          <a:solidFill>
            <a:srgbClr val="1A8FA3"/>
          </a:solidFill>
          <a:ln/>
        </p:spPr>
      </p:sp>
      <p:sp>
        <p:nvSpPr>
          <p:cNvPr id="16" name="Shape 14"/>
          <p:cNvSpPr/>
          <p:nvPr/>
        </p:nvSpPr>
        <p:spPr>
          <a:xfrm>
            <a:off x="822960" y="4334256"/>
            <a:ext cx="4937760" cy="566928"/>
          </a:xfrm>
          <a:prstGeom prst="roundRect">
            <a:avLst>
              <a:gd name="adj" fmla="val 9677"/>
            </a:avLst>
          </a:prstGeom>
          <a:solidFill>
            <a:srgbClr val="163244"/>
          </a:solidFill>
          <a:ln w="12700">
            <a:solidFill>
              <a:srgbClr val="22D3EE"/>
            </a:solidFill>
            <a:prstDash val="solid"/>
          </a:ln>
        </p:spPr>
      </p:sp>
      <p:sp>
        <p:nvSpPr>
          <p:cNvPr id="17" name="Text 15"/>
          <p:cNvSpPr txBox="1"/>
          <p:nvPr/>
        </p:nvSpPr>
        <p:spPr>
          <a:xfrm>
            <a:off x="868680" y="4334256"/>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Sensor Reliability Estimation</a:t>
            </a:r>
            <a:endParaRPr lang="en-US" sz="1400" dirty="0"/>
          </a:p>
        </p:txBody>
      </p:sp>
      <p:sp>
        <p:nvSpPr>
          <p:cNvPr id="18" name="Shape 16"/>
          <p:cNvSpPr/>
          <p:nvPr/>
        </p:nvSpPr>
        <p:spPr>
          <a:xfrm>
            <a:off x="3227832" y="4901184"/>
            <a:ext cx="128016" cy="146304"/>
          </a:xfrm>
          <a:prstGeom prst="downArrow">
            <a:avLst/>
          </a:prstGeom>
          <a:solidFill>
            <a:srgbClr val="1A8FA3"/>
          </a:solidFill>
          <a:ln/>
        </p:spPr>
      </p:sp>
      <p:sp>
        <p:nvSpPr>
          <p:cNvPr id="19" name="Shape 17"/>
          <p:cNvSpPr/>
          <p:nvPr/>
        </p:nvSpPr>
        <p:spPr>
          <a:xfrm>
            <a:off x="822960" y="5047488"/>
            <a:ext cx="4937760" cy="566928"/>
          </a:xfrm>
          <a:prstGeom prst="roundRect">
            <a:avLst>
              <a:gd name="adj" fmla="val 9677"/>
            </a:avLst>
          </a:prstGeom>
          <a:solidFill>
            <a:srgbClr val="163244"/>
          </a:solidFill>
          <a:ln w="12700">
            <a:solidFill>
              <a:srgbClr val="22D3EE"/>
            </a:solidFill>
            <a:prstDash val="solid"/>
          </a:ln>
        </p:spPr>
      </p:sp>
      <p:sp>
        <p:nvSpPr>
          <p:cNvPr id="20" name="Text 18"/>
          <p:cNvSpPr txBox="1"/>
          <p:nvPr/>
        </p:nvSpPr>
        <p:spPr>
          <a:xfrm>
            <a:off x="868680" y="5047488"/>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Uncertainty Estimation</a:t>
            </a:r>
            <a:endParaRPr lang="en-US" sz="1400" dirty="0"/>
          </a:p>
        </p:txBody>
      </p:sp>
      <p:sp>
        <p:nvSpPr>
          <p:cNvPr id="21" name="Shape 19"/>
          <p:cNvSpPr/>
          <p:nvPr/>
        </p:nvSpPr>
        <p:spPr>
          <a:xfrm>
            <a:off x="5806440" y="4718304"/>
            <a:ext cx="457200" cy="128016"/>
          </a:xfrm>
          <a:prstGeom prst="rightArrow">
            <a:avLst/>
          </a:prstGeom>
          <a:solidFill>
            <a:srgbClr val="1A8FA3"/>
          </a:solidFill>
          <a:ln/>
        </p:spPr>
      </p:sp>
      <p:sp>
        <p:nvSpPr>
          <p:cNvPr id="22" name="Shape 20"/>
          <p:cNvSpPr/>
          <p:nvPr/>
        </p:nvSpPr>
        <p:spPr>
          <a:xfrm>
            <a:off x="6400800" y="1481328"/>
            <a:ext cx="4937760" cy="566928"/>
          </a:xfrm>
          <a:prstGeom prst="roundRect">
            <a:avLst>
              <a:gd name="adj" fmla="val 9677"/>
            </a:avLst>
          </a:prstGeom>
          <a:solidFill>
            <a:srgbClr val="163244"/>
          </a:solidFill>
          <a:ln w="12700">
            <a:solidFill>
              <a:srgbClr val="22D3EE"/>
            </a:solidFill>
            <a:prstDash val="solid"/>
          </a:ln>
        </p:spPr>
      </p:sp>
      <p:sp>
        <p:nvSpPr>
          <p:cNvPr id="23" name="Text 21"/>
          <p:cNvSpPr txBox="1"/>
          <p:nvPr/>
        </p:nvSpPr>
        <p:spPr>
          <a:xfrm>
            <a:off x="6446520" y="1481328"/>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Adaptive Sensor Fusion</a:t>
            </a:r>
            <a:endParaRPr lang="en-US" sz="1400" dirty="0"/>
          </a:p>
        </p:txBody>
      </p:sp>
      <p:sp>
        <p:nvSpPr>
          <p:cNvPr id="24" name="Shape 22"/>
          <p:cNvSpPr/>
          <p:nvPr/>
        </p:nvSpPr>
        <p:spPr>
          <a:xfrm>
            <a:off x="8805672" y="2048256"/>
            <a:ext cx="128016" cy="146304"/>
          </a:xfrm>
          <a:prstGeom prst="downArrow">
            <a:avLst/>
          </a:prstGeom>
          <a:solidFill>
            <a:srgbClr val="1A8FA3"/>
          </a:solidFill>
          <a:ln/>
        </p:spPr>
      </p:sp>
      <p:sp>
        <p:nvSpPr>
          <p:cNvPr id="25" name="Shape 23"/>
          <p:cNvSpPr/>
          <p:nvPr/>
        </p:nvSpPr>
        <p:spPr>
          <a:xfrm>
            <a:off x="6400800" y="2194560"/>
            <a:ext cx="4937760" cy="566928"/>
          </a:xfrm>
          <a:prstGeom prst="roundRect">
            <a:avLst>
              <a:gd name="adj" fmla="val 9677"/>
            </a:avLst>
          </a:prstGeom>
          <a:solidFill>
            <a:srgbClr val="141B33"/>
          </a:solidFill>
          <a:ln w="12700">
            <a:solidFill>
              <a:srgbClr val="3A4568"/>
            </a:solidFill>
            <a:prstDash val="solid"/>
          </a:ln>
        </p:spPr>
      </p:sp>
      <p:sp>
        <p:nvSpPr>
          <p:cNvPr id="26" name="Text 24"/>
          <p:cNvSpPr txBox="1"/>
          <p:nvPr/>
        </p:nvSpPr>
        <p:spPr>
          <a:xfrm>
            <a:off x="6446520" y="2194560"/>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Trajectory / Behaviour Prediction</a:t>
            </a:r>
            <a:endParaRPr lang="en-US" sz="1400" dirty="0"/>
          </a:p>
        </p:txBody>
      </p:sp>
      <p:sp>
        <p:nvSpPr>
          <p:cNvPr id="27" name="Shape 25"/>
          <p:cNvSpPr/>
          <p:nvPr/>
        </p:nvSpPr>
        <p:spPr>
          <a:xfrm>
            <a:off x="8805672" y="2761488"/>
            <a:ext cx="128016" cy="146304"/>
          </a:xfrm>
          <a:prstGeom prst="downArrow">
            <a:avLst/>
          </a:prstGeom>
          <a:solidFill>
            <a:srgbClr val="1A8FA3"/>
          </a:solidFill>
          <a:ln/>
        </p:spPr>
      </p:sp>
      <p:sp>
        <p:nvSpPr>
          <p:cNvPr id="28" name="Shape 26"/>
          <p:cNvSpPr/>
          <p:nvPr/>
        </p:nvSpPr>
        <p:spPr>
          <a:xfrm>
            <a:off x="6400800" y="2907792"/>
            <a:ext cx="4937760" cy="566928"/>
          </a:xfrm>
          <a:prstGeom prst="roundRect">
            <a:avLst>
              <a:gd name="adj" fmla="val 9677"/>
            </a:avLst>
          </a:prstGeom>
          <a:solidFill>
            <a:srgbClr val="141B33"/>
          </a:solidFill>
          <a:ln w="12700">
            <a:solidFill>
              <a:srgbClr val="3A4568"/>
            </a:solidFill>
            <a:prstDash val="solid"/>
          </a:ln>
        </p:spPr>
      </p:sp>
      <p:sp>
        <p:nvSpPr>
          <p:cNvPr id="29" name="Text 27"/>
          <p:cNvSpPr txBox="1"/>
          <p:nvPr/>
        </p:nvSpPr>
        <p:spPr>
          <a:xfrm>
            <a:off x="6446520" y="2907792"/>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Risk Assessment</a:t>
            </a:r>
            <a:endParaRPr lang="en-US" sz="1400" dirty="0"/>
          </a:p>
        </p:txBody>
      </p:sp>
      <p:sp>
        <p:nvSpPr>
          <p:cNvPr id="30" name="Shape 28"/>
          <p:cNvSpPr/>
          <p:nvPr/>
        </p:nvSpPr>
        <p:spPr>
          <a:xfrm>
            <a:off x="8805672" y="3474720"/>
            <a:ext cx="128016" cy="146304"/>
          </a:xfrm>
          <a:prstGeom prst="downArrow">
            <a:avLst/>
          </a:prstGeom>
          <a:solidFill>
            <a:srgbClr val="1A8FA3"/>
          </a:solidFill>
          <a:ln/>
        </p:spPr>
      </p:sp>
      <p:sp>
        <p:nvSpPr>
          <p:cNvPr id="31" name="Shape 29"/>
          <p:cNvSpPr/>
          <p:nvPr/>
        </p:nvSpPr>
        <p:spPr>
          <a:xfrm>
            <a:off x="6400800" y="3621024"/>
            <a:ext cx="4937760" cy="566928"/>
          </a:xfrm>
          <a:prstGeom prst="roundRect">
            <a:avLst>
              <a:gd name="adj" fmla="val 9677"/>
            </a:avLst>
          </a:prstGeom>
          <a:solidFill>
            <a:srgbClr val="141B33"/>
          </a:solidFill>
          <a:ln w="12700">
            <a:solidFill>
              <a:srgbClr val="3A4568"/>
            </a:solidFill>
            <a:prstDash val="solid"/>
          </a:ln>
        </p:spPr>
      </p:sp>
      <p:sp>
        <p:nvSpPr>
          <p:cNvPr id="32" name="Text 30"/>
          <p:cNvSpPr txBox="1"/>
          <p:nvPr/>
        </p:nvSpPr>
        <p:spPr>
          <a:xfrm>
            <a:off x="6446520" y="3621024"/>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Planning &amp; Decision</a:t>
            </a:r>
            <a:endParaRPr lang="en-US" sz="1400" dirty="0"/>
          </a:p>
        </p:txBody>
      </p:sp>
      <p:sp>
        <p:nvSpPr>
          <p:cNvPr id="33" name="Shape 31"/>
          <p:cNvSpPr/>
          <p:nvPr/>
        </p:nvSpPr>
        <p:spPr>
          <a:xfrm>
            <a:off x="8805672" y="4187952"/>
            <a:ext cx="128016" cy="146304"/>
          </a:xfrm>
          <a:prstGeom prst="downArrow">
            <a:avLst/>
          </a:prstGeom>
          <a:solidFill>
            <a:srgbClr val="1A8FA3"/>
          </a:solidFill>
          <a:ln/>
        </p:spPr>
      </p:sp>
      <p:sp>
        <p:nvSpPr>
          <p:cNvPr id="34" name="Shape 32"/>
          <p:cNvSpPr/>
          <p:nvPr/>
        </p:nvSpPr>
        <p:spPr>
          <a:xfrm>
            <a:off x="6400800" y="4334256"/>
            <a:ext cx="4937760" cy="566928"/>
          </a:xfrm>
          <a:prstGeom prst="roundRect">
            <a:avLst>
              <a:gd name="adj" fmla="val 9677"/>
            </a:avLst>
          </a:prstGeom>
          <a:solidFill>
            <a:srgbClr val="141B33"/>
          </a:solidFill>
          <a:ln w="12700">
            <a:solidFill>
              <a:srgbClr val="3A4568"/>
            </a:solidFill>
            <a:prstDash val="solid"/>
          </a:ln>
        </p:spPr>
      </p:sp>
      <p:sp>
        <p:nvSpPr>
          <p:cNvPr id="35" name="Text 33"/>
          <p:cNvSpPr txBox="1"/>
          <p:nvPr/>
        </p:nvSpPr>
        <p:spPr>
          <a:xfrm>
            <a:off x="6446520" y="4334256"/>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Vehicle Control</a:t>
            </a:r>
            <a:endParaRPr lang="en-US" sz="1400" dirty="0"/>
          </a:p>
        </p:txBody>
      </p:sp>
      <p:sp>
        <p:nvSpPr>
          <p:cNvPr id="36" name="Shape 34"/>
          <p:cNvSpPr/>
          <p:nvPr/>
        </p:nvSpPr>
        <p:spPr>
          <a:xfrm>
            <a:off x="8805672" y="4901184"/>
            <a:ext cx="128016" cy="146304"/>
          </a:xfrm>
          <a:prstGeom prst="downArrow">
            <a:avLst/>
          </a:prstGeom>
          <a:solidFill>
            <a:srgbClr val="1A8FA3"/>
          </a:solidFill>
          <a:ln/>
        </p:spPr>
      </p:sp>
      <p:sp>
        <p:nvSpPr>
          <p:cNvPr id="37" name="Shape 35"/>
          <p:cNvSpPr/>
          <p:nvPr/>
        </p:nvSpPr>
        <p:spPr>
          <a:xfrm>
            <a:off x="6400800" y="5047488"/>
            <a:ext cx="4937760" cy="566928"/>
          </a:xfrm>
          <a:prstGeom prst="roundRect">
            <a:avLst>
              <a:gd name="adj" fmla="val 9677"/>
            </a:avLst>
          </a:prstGeom>
          <a:solidFill>
            <a:srgbClr val="141B33"/>
          </a:solidFill>
          <a:ln w="12700">
            <a:solidFill>
              <a:srgbClr val="3A4568"/>
            </a:solidFill>
            <a:prstDash val="solid"/>
          </a:ln>
        </p:spPr>
      </p:sp>
      <p:sp>
        <p:nvSpPr>
          <p:cNvPr id="38" name="Text 36"/>
          <p:cNvSpPr txBox="1"/>
          <p:nvPr/>
        </p:nvSpPr>
        <p:spPr>
          <a:xfrm>
            <a:off x="6446520" y="5047488"/>
            <a:ext cx="4846320" cy="566928"/>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ADAS / Autonomous Driving</a:t>
            </a:r>
            <a:endParaRPr lang="en-US" sz="1400" dirty="0"/>
          </a:p>
        </p:txBody>
      </p:sp>
      <p:sp>
        <p:nvSpPr>
          <p:cNvPr id="39" name="Shape 37"/>
          <p:cNvSpPr/>
          <p:nvPr/>
        </p:nvSpPr>
        <p:spPr>
          <a:xfrm>
            <a:off x="822960" y="6144768"/>
            <a:ext cx="10515600" cy="502920"/>
          </a:xfrm>
          <a:prstGeom prst="roundRect">
            <a:avLst>
              <a:gd name="adj" fmla="val 10909"/>
            </a:avLst>
          </a:prstGeom>
          <a:solidFill>
            <a:srgbClr val="243352"/>
          </a:solidFill>
          <a:ln w="12700">
            <a:solidFill>
              <a:srgbClr val="1A8FA3"/>
            </a:solidFill>
            <a:prstDash val="solid"/>
          </a:ln>
        </p:spPr>
      </p:sp>
      <p:sp>
        <p:nvSpPr>
          <p:cNvPr id="40" name="Text 38"/>
          <p:cNvSpPr txBox="1"/>
          <p:nvPr/>
        </p:nvSpPr>
        <p:spPr>
          <a:xfrm>
            <a:off x="822960" y="6144768"/>
            <a:ext cx="10515600" cy="502920"/>
          </a:xfrm>
          <a:prstGeom prst="rect">
            <a:avLst/>
          </a:prstGeom>
          <a:noFill/>
          <a:ln/>
        </p:spPr>
        <p:txBody>
          <a:bodyPr wrap="square" lIns="0" tIns="0" rIns="0" bIns="0" rtlCol="0" anchor="ctr"/>
          <a:lstStyle/>
          <a:p>
            <a:pPr marL="0" indent="0" algn="ctr">
              <a:buNone/>
            </a:pPr>
            <a:r>
              <a:rPr lang="en-US" sz="1400" i="1" dirty="0">
                <a:solidFill>
                  <a:srgbClr val="F5F7FA"/>
                </a:solidFill>
                <a:latin typeface="Calibri" pitchFamily="34" charset="0"/>
                <a:ea typeface="Calibri" pitchFamily="34" charset="-122"/>
                <a:cs typeface="Calibri" pitchFamily="34" charset="-120"/>
              </a:rPr>
              <a:t>Closed-loop pipeline: perception feeds adaptive fusion, which informs risk-aware planning and control.</a:t>
            </a:r>
            <a:endParaRPr lang="en-US" sz="1400" dirty="0"/>
          </a:p>
        </p:txBody>
      </p:sp>
      <p:sp>
        <p:nvSpPr>
          <p:cNvPr id="41" name="Text 39"/>
          <p:cNvSpPr txBox="1"/>
          <p:nvPr/>
        </p:nvSpPr>
        <p:spPr>
          <a:xfrm>
            <a:off x="822960" y="5650992"/>
            <a:ext cx="10515600" cy="384048"/>
          </a:xfrm>
          <a:prstGeom prst="rect">
            <a:avLst/>
          </a:prstGeom>
          <a:noFill/>
          <a:ln/>
        </p:spPr>
        <p:txBody>
          <a:bodyPr wrap="square" lIns="0" tIns="0" rIns="0" bIns="0" rtlCol="0" anchor="ctr"/>
          <a:lstStyle/>
          <a:p>
            <a:pPr marL="0" indent="0" algn="ctr">
              <a:buNone/>
            </a:pPr>
            <a:r>
              <a:rPr lang="en-US" sz="1350" i="1" dirty="0">
                <a:solidFill>
                  <a:srgbClr val="6B7A99"/>
                </a:solidFill>
                <a:latin typeface="Calibri" pitchFamily="34" charset="0"/>
                <a:ea typeface="Calibri" pitchFamily="34" charset="-122"/>
                <a:cs typeface="Calibri" pitchFamily="34" charset="-120"/>
              </a:rPr>
              <a:t>Each block is a ROS 2 node; the highlighted stages (Sensor Reliability, Uncertainty, Adaptive Fusion) are the core proposed research contribution layered onto a conventional perception-to-control pipeline.</a:t>
            </a:r>
            <a:endParaRPr lang="en-US" sz="1350" dirty="0"/>
          </a:p>
        </p:txBody>
      </p:sp>
      <p:sp>
        <p:nvSpPr>
          <p:cNvPr id="42" name="Text 40"/>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07 / 13</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CONTRIBUTION</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Technical Novelty &amp; Research Contribution</a:t>
            </a:r>
            <a:endParaRPr lang="en-US" sz="3000" dirty="0"/>
          </a:p>
        </p:txBody>
      </p:sp>
      <p:sp>
        <p:nvSpPr>
          <p:cNvPr id="4" name="Shape 2"/>
          <p:cNvSpPr/>
          <p:nvPr/>
        </p:nvSpPr>
        <p:spPr>
          <a:xfrm>
            <a:off x="548640" y="1371600"/>
            <a:ext cx="1755648" cy="530352"/>
          </a:xfrm>
          <a:prstGeom prst="roundRect">
            <a:avLst>
              <a:gd name="adj" fmla="val 10345"/>
            </a:avLst>
          </a:prstGeom>
          <a:solidFill>
            <a:srgbClr val="243352"/>
          </a:solidFill>
          <a:ln w="12700">
            <a:solidFill>
              <a:srgbClr val="22D3EE"/>
            </a:solidFill>
            <a:prstDash val="solid"/>
          </a:ln>
        </p:spPr>
      </p:sp>
      <p:sp>
        <p:nvSpPr>
          <p:cNvPr id="5" name="Text 3"/>
          <p:cNvSpPr txBox="1"/>
          <p:nvPr/>
        </p:nvSpPr>
        <p:spPr>
          <a:xfrm>
            <a:off x="5943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Sensor</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Reliability</a:t>
            </a:r>
            <a:endParaRPr lang="en-US" sz="1300" dirty="0"/>
          </a:p>
        </p:txBody>
      </p:sp>
      <p:sp>
        <p:nvSpPr>
          <p:cNvPr id="6" name="Shape 4"/>
          <p:cNvSpPr/>
          <p:nvPr/>
        </p:nvSpPr>
        <p:spPr>
          <a:xfrm>
            <a:off x="2308860" y="1572768"/>
            <a:ext cx="64008" cy="128016"/>
          </a:xfrm>
          <a:prstGeom prst="rightArrow">
            <a:avLst/>
          </a:prstGeom>
          <a:solidFill>
            <a:srgbClr val="1A8FA3"/>
          </a:solidFill>
          <a:ln/>
        </p:spPr>
      </p:sp>
      <p:sp>
        <p:nvSpPr>
          <p:cNvPr id="7" name="Shape 5"/>
          <p:cNvSpPr/>
          <p:nvPr/>
        </p:nvSpPr>
        <p:spPr>
          <a:xfrm>
            <a:off x="2377440" y="1371600"/>
            <a:ext cx="1755648" cy="530352"/>
          </a:xfrm>
          <a:prstGeom prst="roundRect">
            <a:avLst>
              <a:gd name="adj" fmla="val 10345"/>
            </a:avLst>
          </a:prstGeom>
          <a:solidFill>
            <a:srgbClr val="243352"/>
          </a:solidFill>
          <a:ln w="12700">
            <a:solidFill>
              <a:srgbClr val="22D3EE"/>
            </a:solidFill>
            <a:prstDash val="solid"/>
          </a:ln>
        </p:spPr>
      </p:sp>
      <p:sp>
        <p:nvSpPr>
          <p:cNvPr id="8" name="Text 6"/>
          <p:cNvSpPr txBox="1"/>
          <p:nvPr/>
        </p:nvSpPr>
        <p:spPr>
          <a:xfrm>
            <a:off x="24231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Uncertainty</a:t>
            </a:r>
            <a:endParaRPr lang="en-US" sz="1300" dirty="0"/>
          </a:p>
        </p:txBody>
      </p:sp>
      <p:sp>
        <p:nvSpPr>
          <p:cNvPr id="9" name="Shape 7"/>
          <p:cNvSpPr/>
          <p:nvPr/>
        </p:nvSpPr>
        <p:spPr>
          <a:xfrm>
            <a:off x="4137660" y="1572768"/>
            <a:ext cx="64008" cy="128016"/>
          </a:xfrm>
          <a:prstGeom prst="rightArrow">
            <a:avLst/>
          </a:prstGeom>
          <a:solidFill>
            <a:srgbClr val="1A8FA3"/>
          </a:solidFill>
          <a:ln/>
        </p:spPr>
      </p:sp>
      <p:sp>
        <p:nvSpPr>
          <p:cNvPr id="10" name="Shape 8"/>
          <p:cNvSpPr/>
          <p:nvPr/>
        </p:nvSpPr>
        <p:spPr>
          <a:xfrm>
            <a:off x="4206240" y="1371600"/>
            <a:ext cx="1755648" cy="530352"/>
          </a:xfrm>
          <a:prstGeom prst="roundRect">
            <a:avLst>
              <a:gd name="adj" fmla="val 10345"/>
            </a:avLst>
          </a:prstGeom>
          <a:solidFill>
            <a:srgbClr val="243352"/>
          </a:solidFill>
          <a:ln w="12700">
            <a:solidFill>
              <a:srgbClr val="22D3EE"/>
            </a:solidFill>
            <a:prstDash val="solid"/>
          </a:ln>
        </p:spPr>
      </p:sp>
      <p:sp>
        <p:nvSpPr>
          <p:cNvPr id="11" name="Text 9"/>
          <p:cNvSpPr txBox="1"/>
          <p:nvPr/>
        </p:nvSpPr>
        <p:spPr>
          <a:xfrm>
            <a:off x="42519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Adaptive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Fusion</a:t>
            </a:r>
            <a:endParaRPr lang="en-US" sz="1300" dirty="0"/>
          </a:p>
        </p:txBody>
      </p:sp>
      <p:sp>
        <p:nvSpPr>
          <p:cNvPr id="12" name="Shape 10"/>
          <p:cNvSpPr/>
          <p:nvPr/>
        </p:nvSpPr>
        <p:spPr>
          <a:xfrm>
            <a:off x="5966460" y="1572768"/>
            <a:ext cx="64008" cy="128016"/>
          </a:xfrm>
          <a:prstGeom prst="rightArrow">
            <a:avLst/>
          </a:prstGeom>
          <a:solidFill>
            <a:srgbClr val="1A8FA3"/>
          </a:solidFill>
          <a:ln/>
        </p:spPr>
      </p:sp>
      <p:sp>
        <p:nvSpPr>
          <p:cNvPr id="13" name="Shape 11"/>
          <p:cNvSpPr/>
          <p:nvPr/>
        </p:nvSpPr>
        <p:spPr>
          <a:xfrm>
            <a:off x="6035040" y="1371600"/>
            <a:ext cx="1755648" cy="530352"/>
          </a:xfrm>
          <a:prstGeom prst="roundRect">
            <a:avLst>
              <a:gd name="adj" fmla="val 10345"/>
            </a:avLst>
          </a:prstGeom>
          <a:solidFill>
            <a:srgbClr val="243352"/>
          </a:solidFill>
          <a:ln w="12700">
            <a:solidFill>
              <a:srgbClr val="22D3EE"/>
            </a:solidFill>
            <a:prstDash val="solid"/>
          </a:ln>
        </p:spPr>
      </p:sp>
      <p:sp>
        <p:nvSpPr>
          <p:cNvPr id="14" name="Text 12"/>
          <p:cNvSpPr txBox="1"/>
          <p:nvPr/>
        </p:nvSpPr>
        <p:spPr>
          <a:xfrm>
            <a:off x="60807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Predictive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Risk</a:t>
            </a:r>
            <a:endParaRPr lang="en-US" sz="1300" dirty="0"/>
          </a:p>
        </p:txBody>
      </p:sp>
      <p:sp>
        <p:nvSpPr>
          <p:cNvPr id="15" name="Shape 13"/>
          <p:cNvSpPr/>
          <p:nvPr/>
        </p:nvSpPr>
        <p:spPr>
          <a:xfrm>
            <a:off x="7795260" y="1572768"/>
            <a:ext cx="64008" cy="128016"/>
          </a:xfrm>
          <a:prstGeom prst="rightArrow">
            <a:avLst/>
          </a:prstGeom>
          <a:solidFill>
            <a:srgbClr val="1A8FA3"/>
          </a:solidFill>
          <a:ln/>
        </p:spPr>
      </p:sp>
      <p:sp>
        <p:nvSpPr>
          <p:cNvPr id="16" name="Shape 14"/>
          <p:cNvSpPr/>
          <p:nvPr/>
        </p:nvSpPr>
        <p:spPr>
          <a:xfrm>
            <a:off x="7863840" y="1371600"/>
            <a:ext cx="1755648" cy="530352"/>
          </a:xfrm>
          <a:prstGeom prst="roundRect">
            <a:avLst>
              <a:gd name="adj" fmla="val 10345"/>
            </a:avLst>
          </a:prstGeom>
          <a:solidFill>
            <a:srgbClr val="243352"/>
          </a:solidFill>
          <a:ln w="12700">
            <a:solidFill>
              <a:srgbClr val="22D3EE"/>
            </a:solidFill>
            <a:prstDash val="solid"/>
          </a:ln>
        </p:spPr>
      </p:sp>
      <p:sp>
        <p:nvSpPr>
          <p:cNvPr id="17" name="Text 15"/>
          <p:cNvSpPr txBox="1"/>
          <p:nvPr/>
        </p:nvSpPr>
        <p:spPr>
          <a:xfrm>
            <a:off x="79095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Adaptive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Decision</a:t>
            </a:r>
            <a:endParaRPr lang="en-US" sz="1300" dirty="0"/>
          </a:p>
        </p:txBody>
      </p:sp>
      <p:sp>
        <p:nvSpPr>
          <p:cNvPr id="18" name="Shape 16"/>
          <p:cNvSpPr/>
          <p:nvPr/>
        </p:nvSpPr>
        <p:spPr>
          <a:xfrm>
            <a:off x="9624060" y="1572768"/>
            <a:ext cx="64008" cy="128016"/>
          </a:xfrm>
          <a:prstGeom prst="rightArrow">
            <a:avLst/>
          </a:prstGeom>
          <a:solidFill>
            <a:srgbClr val="1A8FA3"/>
          </a:solidFill>
          <a:ln/>
        </p:spPr>
      </p:sp>
      <p:sp>
        <p:nvSpPr>
          <p:cNvPr id="19" name="Shape 17"/>
          <p:cNvSpPr/>
          <p:nvPr/>
        </p:nvSpPr>
        <p:spPr>
          <a:xfrm>
            <a:off x="9692640" y="1371600"/>
            <a:ext cx="1755648" cy="530352"/>
          </a:xfrm>
          <a:prstGeom prst="roundRect">
            <a:avLst>
              <a:gd name="adj" fmla="val 10345"/>
            </a:avLst>
          </a:prstGeom>
          <a:solidFill>
            <a:srgbClr val="243352"/>
          </a:solidFill>
          <a:ln w="12700">
            <a:solidFill>
              <a:srgbClr val="22D3EE"/>
            </a:solidFill>
            <a:prstDash val="solid"/>
          </a:ln>
        </p:spPr>
      </p:sp>
      <p:sp>
        <p:nvSpPr>
          <p:cNvPr id="20" name="Text 18"/>
          <p:cNvSpPr txBox="1"/>
          <p:nvPr/>
        </p:nvSpPr>
        <p:spPr>
          <a:xfrm>
            <a:off x="9738360" y="1371600"/>
            <a:ext cx="1664208" cy="530352"/>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Vehicle</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Control</a:t>
            </a:r>
            <a:endParaRPr lang="en-US" sz="1300" dirty="0"/>
          </a:p>
        </p:txBody>
      </p:sp>
      <p:sp>
        <p:nvSpPr>
          <p:cNvPr id="21" name="Shape 19"/>
          <p:cNvSpPr/>
          <p:nvPr/>
        </p:nvSpPr>
        <p:spPr>
          <a:xfrm>
            <a:off x="548640" y="2084832"/>
            <a:ext cx="3621024" cy="1850000"/>
          </a:xfrm>
          <a:prstGeom prst="roundRect">
            <a:avLst>
              <a:gd name="adj" fmla="val 5161"/>
            </a:avLst>
          </a:prstGeom>
          <a:solidFill>
            <a:srgbClr val="141B33"/>
          </a:solidFill>
          <a:ln w="12700">
            <a:solidFill>
              <a:srgbClr val="2A3654"/>
            </a:solidFill>
            <a:prstDash val="solid"/>
          </a:ln>
        </p:spPr>
      </p:sp>
      <p:sp>
        <p:nvSpPr>
          <p:cNvPr id="22" name="Shape 20"/>
          <p:cNvSpPr/>
          <p:nvPr/>
        </p:nvSpPr>
        <p:spPr>
          <a:xfrm>
            <a:off x="713232" y="2249424"/>
            <a:ext cx="384048" cy="384048"/>
          </a:xfrm>
          <a:prstGeom prst="ellipse">
            <a:avLst/>
          </a:prstGeom>
          <a:solidFill>
            <a:srgbClr val="141B33"/>
          </a:solidFill>
          <a:ln w="15875">
            <a:solidFill>
              <a:srgbClr val="22D3EE"/>
            </a:solidFill>
            <a:prstDash val="solid"/>
          </a:ln>
        </p:spPr>
      </p:sp>
      <p:sp>
        <p:nvSpPr>
          <p:cNvPr id="23" name="Text 21"/>
          <p:cNvSpPr txBox="1"/>
          <p:nvPr/>
        </p:nvSpPr>
        <p:spPr>
          <a:xfrm>
            <a:off x="713232" y="2231136"/>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1</a:t>
            </a:r>
            <a:endParaRPr lang="en-US" sz="1500" dirty="0"/>
          </a:p>
        </p:txBody>
      </p:sp>
      <p:sp>
        <p:nvSpPr>
          <p:cNvPr id="24" name="Text 22"/>
          <p:cNvSpPr txBox="1"/>
          <p:nvPr/>
        </p:nvSpPr>
        <p:spPr>
          <a:xfrm>
            <a:off x="1188720" y="2221992"/>
            <a:ext cx="2798064"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Dynamic Sensor Reliability</a:t>
            </a:r>
            <a:endParaRPr lang="en-US" sz="1600" dirty="0"/>
          </a:p>
        </p:txBody>
      </p:sp>
      <p:sp>
        <p:nvSpPr>
          <p:cNvPr id="25" name="Text 23"/>
          <p:cNvSpPr txBox="1"/>
          <p:nvPr/>
        </p:nvSpPr>
        <p:spPr>
          <a:xfrm>
            <a:off x="749808" y="2752344"/>
            <a:ext cx="3218688" cy="612648"/>
          </a:xfrm>
          <a:prstGeom prst="rect">
            <a:avLst/>
          </a:prstGeom>
          <a:noFill/>
          <a:ln/>
        </p:spPr>
        <p:txBody>
          <a:bodyPr wrap="square" lIns="0" tIns="0" rIns="0" bIns="0" rtlCol="0" anchor="t"/>
          <a:lstStyle/>
          <a:p>
            <a:pPr marL="0" indent="0">
              <a:lnSpc>
                <a:spcPct val="115000"/>
              </a:lnSpc>
              <a:buNone/>
            </a:pPr>
            <a:r>
              <a:rPr lang="en-US" sz="1100" dirty="0">
                <a:solidFill>
                  <a:srgbClr val="9AA5B8"/>
                </a:solidFill>
                <a:latin typeface="Calibri" pitchFamily="34" charset="0"/>
                <a:ea typeface="Calibri" pitchFamily="34" charset="-122"/>
                <a:cs typeface="Calibri" pitchFamily="34" charset="-120"/>
              </a:rPr>
              <a:t>Estimated using detection confidence, measurement consistency, temporal stability, cross-sensor agreement, missing observations and environmental conditions. Output: reliability score r_i ∈ [0,1]. Sensor trust becomes a dynamic system input rather than a fixed assumption.</a:t>
            </a:r>
            <a:endParaRPr lang="en-US" sz="1100" dirty="0"/>
          </a:p>
        </p:txBody>
      </p:sp>
      <p:sp>
        <p:nvSpPr>
          <p:cNvPr id="26" name="Shape 24"/>
          <p:cNvSpPr/>
          <p:nvPr/>
        </p:nvSpPr>
        <p:spPr>
          <a:xfrm>
            <a:off x="4270248" y="2084832"/>
            <a:ext cx="3621024" cy="1850000"/>
          </a:xfrm>
          <a:prstGeom prst="roundRect">
            <a:avLst>
              <a:gd name="adj" fmla="val 5161"/>
            </a:avLst>
          </a:prstGeom>
          <a:solidFill>
            <a:srgbClr val="141B33"/>
          </a:solidFill>
          <a:ln w="12700">
            <a:solidFill>
              <a:srgbClr val="2A3654"/>
            </a:solidFill>
            <a:prstDash val="solid"/>
          </a:ln>
        </p:spPr>
      </p:sp>
      <p:sp>
        <p:nvSpPr>
          <p:cNvPr id="27" name="Shape 25"/>
          <p:cNvSpPr/>
          <p:nvPr/>
        </p:nvSpPr>
        <p:spPr>
          <a:xfrm>
            <a:off x="4434840" y="2249424"/>
            <a:ext cx="384048" cy="384048"/>
          </a:xfrm>
          <a:prstGeom prst="ellipse">
            <a:avLst/>
          </a:prstGeom>
          <a:solidFill>
            <a:srgbClr val="141B33"/>
          </a:solidFill>
          <a:ln w="15875">
            <a:solidFill>
              <a:srgbClr val="22D3EE"/>
            </a:solidFill>
            <a:prstDash val="solid"/>
          </a:ln>
        </p:spPr>
      </p:sp>
      <p:sp>
        <p:nvSpPr>
          <p:cNvPr id="28" name="Text 26"/>
          <p:cNvSpPr txBox="1"/>
          <p:nvPr/>
        </p:nvSpPr>
        <p:spPr>
          <a:xfrm>
            <a:off x="4434840" y="2231136"/>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2</a:t>
            </a:r>
            <a:endParaRPr lang="en-US" sz="1500" dirty="0"/>
          </a:p>
        </p:txBody>
      </p:sp>
      <p:sp>
        <p:nvSpPr>
          <p:cNvPr id="29" name="Text 27"/>
          <p:cNvSpPr txBox="1"/>
          <p:nvPr/>
        </p:nvSpPr>
        <p:spPr>
          <a:xfrm>
            <a:off x="4910328" y="2221992"/>
            <a:ext cx="2798064"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Reliability-Aware Adaptive Fusion</a:t>
            </a:r>
            <a:endParaRPr lang="en-US" sz="1600" dirty="0"/>
          </a:p>
        </p:txBody>
      </p:sp>
      <p:sp>
        <p:nvSpPr>
          <p:cNvPr id="30" name="Text 28"/>
          <p:cNvSpPr txBox="1"/>
          <p:nvPr/>
        </p:nvSpPr>
        <p:spPr>
          <a:xfrm>
            <a:off x="4471416" y="2752344"/>
            <a:ext cx="3218688" cy="612648"/>
          </a:xfrm>
          <a:prstGeom prst="rect">
            <a:avLst/>
          </a:prstGeom>
          <a:noFill/>
          <a:ln/>
        </p:spPr>
        <p:txBody>
          <a:bodyPr wrap="square" lIns="0" tIns="0" rIns="0" bIns="0" rtlCol="0" anchor="t"/>
          <a:lstStyle/>
          <a:p>
            <a:pPr marL="0" indent="0">
              <a:lnSpc>
                <a:spcPct val="115000"/>
              </a:lnSpc>
              <a:buNone/>
            </a:pPr>
            <a:r>
              <a:rPr lang="en-US" sz="1100" dirty="0">
                <a:solidFill>
                  <a:srgbClr val="9AA5B8"/>
                </a:solidFill>
                <a:latin typeface="Calibri" pitchFamily="34" charset="0"/>
                <a:ea typeface="Calibri" pitchFamily="34" charset="-122"/>
                <a:cs typeface="Calibri" pitchFamily="34" charset="-120"/>
              </a:rPr>
              <a:t>As a sensor's reliability falls, its fusion influence is reduced; reliable modalities compensate. Example: camera degradation shifts weight toward LiDAR/radar. Exact fusion formulation to be finalized during experimentation.</a:t>
            </a:r>
            <a:endParaRPr lang="en-US" sz="1100" dirty="0"/>
          </a:p>
        </p:txBody>
      </p:sp>
      <p:sp>
        <p:nvSpPr>
          <p:cNvPr id="31" name="Shape 29"/>
          <p:cNvSpPr/>
          <p:nvPr/>
        </p:nvSpPr>
        <p:spPr>
          <a:xfrm>
            <a:off x="7991856" y="2084832"/>
            <a:ext cx="3621024" cy="1850000"/>
          </a:xfrm>
          <a:prstGeom prst="roundRect">
            <a:avLst>
              <a:gd name="adj" fmla="val 5161"/>
            </a:avLst>
          </a:prstGeom>
          <a:solidFill>
            <a:srgbClr val="141B33"/>
          </a:solidFill>
          <a:ln w="12700">
            <a:solidFill>
              <a:srgbClr val="2A3654"/>
            </a:solidFill>
            <a:prstDash val="solid"/>
          </a:ln>
        </p:spPr>
      </p:sp>
      <p:sp>
        <p:nvSpPr>
          <p:cNvPr id="32" name="Shape 30"/>
          <p:cNvSpPr/>
          <p:nvPr/>
        </p:nvSpPr>
        <p:spPr>
          <a:xfrm>
            <a:off x="8156448" y="2249424"/>
            <a:ext cx="384048" cy="384048"/>
          </a:xfrm>
          <a:prstGeom prst="ellipse">
            <a:avLst/>
          </a:prstGeom>
          <a:solidFill>
            <a:srgbClr val="141B33"/>
          </a:solidFill>
          <a:ln w="15875">
            <a:solidFill>
              <a:srgbClr val="22D3EE"/>
            </a:solidFill>
            <a:prstDash val="solid"/>
          </a:ln>
        </p:spPr>
      </p:sp>
      <p:sp>
        <p:nvSpPr>
          <p:cNvPr id="33" name="Text 31"/>
          <p:cNvSpPr txBox="1"/>
          <p:nvPr/>
        </p:nvSpPr>
        <p:spPr>
          <a:xfrm>
            <a:off x="8156448" y="2231136"/>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3</a:t>
            </a:r>
            <a:endParaRPr lang="en-US" sz="1500" dirty="0"/>
          </a:p>
        </p:txBody>
      </p:sp>
      <p:sp>
        <p:nvSpPr>
          <p:cNvPr id="34" name="Text 32"/>
          <p:cNvSpPr txBox="1"/>
          <p:nvPr/>
        </p:nvSpPr>
        <p:spPr>
          <a:xfrm>
            <a:off x="8631936" y="2221992"/>
            <a:ext cx="2798064"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Uncertainty Propagation</a:t>
            </a:r>
            <a:endParaRPr lang="en-US" sz="1600" dirty="0"/>
          </a:p>
        </p:txBody>
      </p:sp>
      <p:sp>
        <p:nvSpPr>
          <p:cNvPr id="35" name="Text 33"/>
          <p:cNvSpPr txBox="1"/>
          <p:nvPr/>
        </p:nvSpPr>
        <p:spPr>
          <a:xfrm>
            <a:off x="8193024" y="2752344"/>
            <a:ext cx="3218688" cy="612648"/>
          </a:xfrm>
          <a:prstGeom prst="rect">
            <a:avLst/>
          </a:prstGeom>
          <a:noFill/>
          <a:ln/>
        </p:spPr>
        <p:txBody>
          <a:bodyPr wrap="square" lIns="0" tIns="0" rIns="0" bIns="0" rtlCol="0" anchor="t"/>
          <a:lstStyle/>
          <a:p>
            <a:pPr marL="0" indent="0">
              <a:lnSpc>
                <a:spcPct val="115000"/>
              </a:lnSpc>
              <a:buNone/>
            </a:pPr>
            <a:r>
              <a:rPr lang="en-US" sz="1100" dirty="0">
                <a:solidFill>
                  <a:srgbClr val="9AA5B8"/>
                </a:solidFill>
                <a:latin typeface="Calibri" pitchFamily="34" charset="0"/>
                <a:ea typeface="Calibri" pitchFamily="34" charset="-122"/>
                <a:cs typeface="Calibri" pitchFamily="34" charset="-120"/>
              </a:rPr>
              <a:t>Proposed flow: Perception → Uncertainty → Adaptive Fusion → Risk Assessment → Decision. Uncertainty is not intended to remain only at the perception layer — it is proposed to influence downstream safety reasoning.</a:t>
            </a:r>
            <a:endParaRPr lang="en-US" sz="1100" dirty="0"/>
          </a:p>
        </p:txBody>
      </p:sp>
      <p:sp>
        <p:nvSpPr>
          <p:cNvPr id="36" name="Shape 34"/>
          <p:cNvSpPr/>
          <p:nvPr/>
        </p:nvSpPr>
        <p:spPr>
          <a:xfrm>
            <a:off x="548640" y="4062848"/>
            <a:ext cx="5486400" cy="1620000"/>
          </a:xfrm>
          <a:prstGeom prst="roundRect">
            <a:avLst>
              <a:gd name="adj" fmla="val 6061"/>
            </a:avLst>
          </a:prstGeom>
          <a:solidFill>
            <a:srgbClr val="141B33"/>
          </a:solidFill>
          <a:ln w="12700">
            <a:solidFill>
              <a:srgbClr val="2A3654"/>
            </a:solidFill>
            <a:prstDash val="solid"/>
          </a:ln>
        </p:spPr>
      </p:sp>
      <p:sp>
        <p:nvSpPr>
          <p:cNvPr id="37" name="Shape 35"/>
          <p:cNvSpPr/>
          <p:nvPr/>
        </p:nvSpPr>
        <p:spPr>
          <a:xfrm>
            <a:off x="713232" y="4227440"/>
            <a:ext cx="384048" cy="384048"/>
          </a:xfrm>
          <a:prstGeom prst="ellipse">
            <a:avLst/>
          </a:prstGeom>
          <a:solidFill>
            <a:srgbClr val="141B33"/>
          </a:solidFill>
          <a:ln w="15875">
            <a:solidFill>
              <a:srgbClr val="22D3EE"/>
            </a:solidFill>
            <a:prstDash val="solid"/>
          </a:ln>
        </p:spPr>
      </p:sp>
      <p:sp>
        <p:nvSpPr>
          <p:cNvPr id="38" name="Text 36"/>
          <p:cNvSpPr txBox="1"/>
          <p:nvPr/>
        </p:nvSpPr>
        <p:spPr>
          <a:xfrm>
            <a:off x="713232" y="4209152"/>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4</a:t>
            </a:r>
            <a:endParaRPr lang="en-US" sz="1500" dirty="0"/>
          </a:p>
        </p:txBody>
      </p:sp>
      <p:sp>
        <p:nvSpPr>
          <p:cNvPr id="39" name="Text 37"/>
          <p:cNvSpPr txBox="1"/>
          <p:nvPr/>
        </p:nvSpPr>
        <p:spPr>
          <a:xfrm>
            <a:off x="1188720" y="4200008"/>
            <a:ext cx="466344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Risk-Adaptive Decision</a:t>
            </a:r>
            <a:endParaRPr lang="en-US" sz="1600" dirty="0"/>
          </a:p>
        </p:txBody>
      </p:sp>
      <p:sp>
        <p:nvSpPr>
          <p:cNvPr id="40" name="Text 38"/>
          <p:cNvSpPr txBox="1"/>
          <p:nvPr/>
        </p:nvSpPr>
        <p:spPr>
          <a:xfrm>
            <a:off x="749808" y="4730360"/>
            <a:ext cx="5084064" cy="402336"/>
          </a:xfrm>
          <a:prstGeom prst="rect">
            <a:avLst/>
          </a:prstGeom>
          <a:noFill/>
          <a:ln/>
        </p:spPr>
        <p:txBody>
          <a:bodyPr wrap="square" lIns="0" tIns="0" rIns="0" bIns="0" rtlCol="0" anchor="t"/>
          <a:lstStyle/>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Risk combines distance, relative velocity, TTC, predicted trajectory, sensor confidence, uncertainty and disagreement. Low risk → normal operation; medium risk → increased caution; high risk / low confidence → conservative action.</a:t>
            </a:r>
            <a:endParaRPr lang="en-US" sz="1250" dirty="0"/>
          </a:p>
        </p:txBody>
      </p:sp>
      <p:sp>
        <p:nvSpPr>
          <p:cNvPr id="41" name="Shape 39"/>
          <p:cNvSpPr/>
          <p:nvPr/>
        </p:nvSpPr>
        <p:spPr>
          <a:xfrm>
            <a:off x="6181344" y="4062848"/>
            <a:ext cx="5486400" cy="1620000"/>
          </a:xfrm>
          <a:prstGeom prst="roundRect">
            <a:avLst>
              <a:gd name="adj" fmla="val 6061"/>
            </a:avLst>
          </a:prstGeom>
          <a:solidFill>
            <a:srgbClr val="141B33"/>
          </a:solidFill>
          <a:ln w="12700">
            <a:solidFill>
              <a:srgbClr val="2A3654"/>
            </a:solidFill>
            <a:prstDash val="solid"/>
          </a:ln>
        </p:spPr>
      </p:sp>
      <p:sp>
        <p:nvSpPr>
          <p:cNvPr id="42" name="Shape 40"/>
          <p:cNvSpPr/>
          <p:nvPr/>
        </p:nvSpPr>
        <p:spPr>
          <a:xfrm>
            <a:off x="6345936" y="4227440"/>
            <a:ext cx="384048" cy="384048"/>
          </a:xfrm>
          <a:prstGeom prst="ellipse">
            <a:avLst/>
          </a:prstGeom>
          <a:solidFill>
            <a:srgbClr val="141B33"/>
          </a:solidFill>
          <a:ln w="15875">
            <a:solidFill>
              <a:srgbClr val="22D3EE"/>
            </a:solidFill>
            <a:prstDash val="solid"/>
          </a:ln>
        </p:spPr>
      </p:sp>
      <p:sp>
        <p:nvSpPr>
          <p:cNvPr id="43" name="Text 41"/>
          <p:cNvSpPr txBox="1"/>
          <p:nvPr/>
        </p:nvSpPr>
        <p:spPr>
          <a:xfrm>
            <a:off x="6345936" y="4209152"/>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5</a:t>
            </a:r>
            <a:endParaRPr lang="en-US" sz="1500" dirty="0"/>
          </a:p>
        </p:txBody>
      </p:sp>
      <p:sp>
        <p:nvSpPr>
          <p:cNvPr id="44" name="Text 42"/>
          <p:cNvSpPr txBox="1"/>
          <p:nvPr/>
        </p:nvSpPr>
        <p:spPr>
          <a:xfrm>
            <a:off x="6821424" y="4200008"/>
            <a:ext cx="466344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Closed-Loop Adaptive Intelligence</a:t>
            </a:r>
            <a:endParaRPr lang="en-US" sz="1600" dirty="0"/>
          </a:p>
        </p:txBody>
      </p:sp>
      <p:sp>
        <p:nvSpPr>
          <p:cNvPr id="45" name="Text 43"/>
          <p:cNvSpPr txBox="1"/>
          <p:nvPr/>
        </p:nvSpPr>
        <p:spPr>
          <a:xfrm>
            <a:off x="6382512" y="4730360"/>
            <a:ext cx="5084064" cy="402336"/>
          </a:xfrm>
          <a:prstGeom prst="rect">
            <a:avLst/>
          </a:prstGeom>
          <a:noFill/>
          <a:ln/>
        </p:spPr>
        <p:txBody>
          <a:bodyPr wrap="square" lIns="0" tIns="0" rIns="0" bIns="0" rtlCol="0" anchor="t"/>
          <a:lstStyle/>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The highest-level contribution: integrating dynamic reliability, uncertainty-aware fusion, predictive risk and risk-adaptive decision-making into one closed-loop intelligent mobility framework.</a:t>
            </a:r>
            <a:endParaRPr lang="en-US" sz="1250" dirty="0"/>
          </a:p>
        </p:txBody>
      </p:sp>
      <p:sp>
        <p:nvSpPr>
          <p:cNvPr id="46" name="Shape 44"/>
          <p:cNvSpPr/>
          <p:nvPr/>
        </p:nvSpPr>
        <p:spPr>
          <a:xfrm>
            <a:off x="548640" y="5792848"/>
            <a:ext cx="11064240" cy="566928"/>
          </a:xfrm>
          <a:prstGeom prst="roundRect">
            <a:avLst>
              <a:gd name="adj" fmla="val 12903"/>
            </a:avLst>
          </a:prstGeom>
          <a:solidFill>
            <a:srgbClr val="0F2B33"/>
          </a:solidFill>
          <a:ln w="12700">
            <a:solidFill>
              <a:srgbClr val="22D3EE"/>
            </a:solidFill>
            <a:prstDash val="solid"/>
          </a:ln>
        </p:spPr>
      </p:sp>
      <p:sp>
        <p:nvSpPr>
          <p:cNvPr id="47" name="Text 45"/>
          <p:cNvSpPr txBox="1"/>
          <p:nvPr/>
        </p:nvSpPr>
        <p:spPr>
          <a:xfrm>
            <a:off x="777240" y="5792848"/>
            <a:ext cx="10607040" cy="566928"/>
          </a:xfrm>
          <a:prstGeom prst="rect">
            <a:avLst/>
          </a:prstGeom>
          <a:noFill/>
          <a:ln/>
        </p:spPr>
        <p:txBody>
          <a:bodyPr wrap="square" lIns="0" tIns="0" rIns="0" bIns="0" rtlCol="0" anchor="ctr"/>
          <a:lstStyle/>
          <a:p>
            <a:pPr marL="0" indent="0">
              <a:buNone/>
            </a:pPr>
            <a:r>
              <a:rPr lang="en-US" sz="1300" i="1" dirty="0">
                <a:solidFill>
                  <a:srgbClr val="F5F7FA"/>
                </a:solidFill>
                <a:latin typeface="Calibri" pitchFamily="34" charset="0"/>
                <a:ea typeface="Calibri" pitchFamily="34" charset="-122"/>
                <a:cs typeface="Calibri" pitchFamily="34" charset="-120"/>
              </a:rPr>
              <a:t>"The proposed novelty lies in the system-level integration and adaptive interaction of dynamic sensor reliability, uncertainty-aware fusion, predictive risk assessment and risk-adaptive decision-making — rather than in claiming invention of any individual technique."</a:t>
            </a:r>
            <a:endParaRPr lang="en-US" sz="1300" dirty="0"/>
          </a:p>
        </p:txBody>
      </p:sp>
      <p:sp>
        <p:nvSpPr>
          <p:cNvPr id="48" name="Text 46"/>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08 / 13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APPLICATION SCOPE</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Application Scope &amp; Technology Platform</a:t>
            </a:r>
            <a:endParaRPr lang="en-US" sz="3000" dirty="0"/>
          </a:p>
        </p:txBody>
      </p:sp>
      <p:sp>
        <p:nvSpPr>
          <p:cNvPr id="4" name="Shape 2"/>
          <p:cNvSpPr/>
          <p:nvPr/>
        </p:nvSpPr>
        <p:spPr>
          <a:xfrm>
            <a:off x="548640" y="1417320"/>
            <a:ext cx="3520440" cy="2980944"/>
          </a:xfrm>
          <a:prstGeom prst="roundRect">
            <a:avLst>
              <a:gd name="adj" fmla="val 2623"/>
            </a:avLst>
          </a:prstGeom>
          <a:solidFill>
            <a:srgbClr val="141B33"/>
          </a:solidFill>
          <a:ln w="12700">
            <a:solidFill>
              <a:srgbClr val="2A3654"/>
            </a:solidFill>
            <a:prstDash val="solid"/>
          </a:ln>
        </p:spPr>
      </p:sp>
      <p:sp>
        <p:nvSpPr>
          <p:cNvPr id="5" name="Text 3"/>
          <p:cNvSpPr txBox="1"/>
          <p:nvPr/>
        </p:nvSpPr>
        <p:spPr>
          <a:xfrm>
            <a:off x="749808" y="1581912"/>
            <a:ext cx="311810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ADAS</a:t>
            </a:r>
            <a:endParaRPr lang="en-US" sz="1600" dirty="0"/>
          </a:p>
        </p:txBody>
      </p:sp>
      <p:sp>
        <p:nvSpPr>
          <p:cNvPr id="6" name="Text 4"/>
          <p:cNvSpPr txBox="1"/>
          <p:nvPr/>
        </p:nvSpPr>
        <p:spPr>
          <a:xfrm>
            <a:off x="749808" y="1965960"/>
            <a:ext cx="3118104" cy="2103120"/>
          </a:xfrm>
          <a:prstGeom prst="rect">
            <a:avLst/>
          </a:prstGeom>
          <a:noFill/>
          <a:ln/>
        </p:spPr>
        <p:txBody>
          <a:bodyPr wrap="square" lIns="0" tIns="0" rIns="0" bIns="0" rtlCol="0" anchor="t"/>
          <a:lstStyle/>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Forward Collision Warning</a:t>
            </a:r>
            <a:endParaRPr lang="en-US" sz="1450" dirty="0"/>
          </a:p>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Automatic Emergency Braking</a:t>
            </a:r>
            <a:endParaRPr lang="en-US" sz="1450" dirty="0"/>
          </a:p>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Adaptive Cruise Control</a:t>
            </a:r>
            <a:endParaRPr lang="en-US" sz="1450" dirty="0"/>
          </a:p>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Lane Assistance</a:t>
            </a:r>
            <a:endParaRPr lang="en-US" sz="1450" dirty="0"/>
          </a:p>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Collision-Risk Warning</a:t>
            </a:r>
            <a:endParaRPr lang="en-US" sz="1450" dirty="0"/>
          </a:p>
          <a:p>
            <a:pPr marL="0" indent="0">
              <a:lnSpc>
                <a:spcPct val="115000"/>
              </a:lnSpc>
              <a:buNone/>
            </a:pPr>
            <a:r>
              <a:rPr lang="en-US" sz="1450" dirty="0">
                <a:solidFill>
                  <a:srgbClr val="F5F7FA"/>
                </a:solidFill>
                <a:latin typeface="Calibri" pitchFamily="34" charset="0"/>
                <a:ea typeface="Calibri" pitchFamily="34" charset="-122"/>
                <a:cs typeface="Calibri" pitchFamily="34" charset="-120"/>
              </a:rPr>
              <a:t>• Obstacle Detection</a:t>
            </a:r>
            <a:endParaRPr lang="en-US" sz="1450" dirty="0"/>
          </a:p>
        </p:txBody>
      </p:sp>
      <p:sp>
        <p:nvSpPr>
          <p:cNvPr id="7" name="Shape 5"/>
          <p:cNvSpPr/>
          <p:nvPr/>
        </p:nvSpPr>
        <p:spPr>
          <a:xfrm>
            <a:off x="4206240" y="1417320"/>
            <a:ext cx="3520440" cy="3017520"/>
          </a:xfrm>
          <a:prstGeom prst="roundRect">
            <a:avLst>
              <a:gd name="adj" fmla="val 2623"/>
            </a:avLst>
          </a:prstGeom>
          <a:solidFill>
            <a:srgbClr val="141B33"/>
          </a:solidFill>
          <a:ln w="12700">
            <a:solidFill>
              <a:srgbClr val="2A3654"/>
            </a:solidFill>
            <a:prstDash val="solid"/>
          </a:ln>
        </p:spPr>
      </p:sp>
      <p:sp>
        <p:nvSpPr>
          <p:cNvPr id="8" name="Text 6"/>
          <p:cNvSpPr txBox="1"/>
          <p:nvPr/>
        </p:nvSpPr>
        <p:spPr>
          <a:xfrm>
            <a:off x="4407408" y="1536192"/>
            <a:ext cx="3108960"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Autonomous Driving</a:t>
            </a:r>
            <a:endParaRPr lang="en-US" sz="1600" dirty="0"/>
          </a:p>
        </p:txBody>
      </p:sp>
      <p:sp>
        <p:nvSpPr>
          <p:cNvPr id="9" name="Shape 7"/>
          <p:cNvSpPr/>
          <p:nvPr/>
        </p:nvSpPr>
        <p:spPr>
          <a:xfrm>
            <a:off x="4407408" y="1965960"/>
            <a:ext cx="3108960" cy="384048"/>
          </a:xfrm>
          <a:prstGeom prst="roundRect">
            <a:avLst>
              <a:gd name="adj" fmla="val 14286"/>
            </a:avLst>
          </a:prstGeom>
          <a:solidFill>
            <a:srgbClr val="243352"/>
          </a:solidFill>
          <a:ln w="12700">
            <a:solidFill>
              <a:srgbClr val="22D3EE"/>
            </a:solidFill>
            <a:prstDash val="solid"/>
          </a:ln>
        </p:spPr>
      </p:sp>
      <p:sp>
        <p:nvSpPr>
          <p:cNvPr id="10" name="Text 8"/>
          <p:cNvSpPr txBox="1"/>
          <p:nvPr/>
        </p:nvSpPr>
        <p:spPr>
          <a:xfrm>
            <a:off x="4453128" y="1965960"/>
            <a:ext cx="3017520" cy="384048"/>
          </a:xfrm>
          <a:prstGeom prst="rect">
            <a:avLst/>
          </a:prstGeom>
          <a:noFill/>
          <a:ln/>
        </p:spPr>
        <p:txBody>
          <a:bodyPr wrap="square" lIns="0" tIns="0" rIns="0" bIns="0" rtlCol="0" anchor="ctr"/>
          <a:lstStyle/>
          <a:p>
            <a:pPr marL="0" indent="0" algn="ctr">
              <a:buNone/>
            </a:pPr>
            <a:r>
              <a:rPr lang="en-US" sz="1450" b="1" dirty="0">
                <a:solidFill>
                  <a:srgbClr val="F5F7FA"/>
                </a:solidFill>
                <a:latin typeface="Calibri" pitchFamily="34" charset="0"/>
                <a:ea typeface="Calibri" pitchFamily="34" charset="-122"/>
                <a:cs typeface="Calibri" pitchFamily="34" charset="-120"/>
              </a:rPr>
              <a:t>Perception</a:t>
            </a:r>
            <a:endParaRPr lang="en-US" sz="1450" dirty="0"/>
          </a:p>
        </p:txBody>
      </p:sp>
      <p:sp>
        <p:nvSpPr>
          <p:cNvPr id="11" name="Shape 9"/>
          <p:cNvSpPr/>
          <p:nvPr/>
        </p:nvSpPr>
        <p:spPr>
          <a:xfrm>
            <a:off x="5897880" y="2350008"/>
            <a:ext cx="128016" cy="91440"/>
          </a:xfrm>
          <a:prstGeom prst="downArrow">
            <a:avLst/>
          </a:prstGeom>
          <a:solidFill>
            <a:srgbClr val="1A8FA3"/>
          </a:solidFill>
          <a:ln/>
        </p:spPr>
      </p:sp>
      <p:sp>
        <p:nvSpPr>
          <p:cNvPr id="12" name="Shape 10"/>
          <p:cNvSpPr/>
          <p:nvPr/>
        </p:nvSpPr>
        <p:spPr>
          <a:xfrm>
            <a:off x="4407408" y="2441448"/>
            <a:ext cx="3108960" cy="384048"/>
          </a:xfrm>
          <a:prstGeom prst="roundRect">
            <a:avLst>
              <a:gd name="adj" fmla="val 14286"/>
            </a:avLst>
          </a:prstGeom>
          <a:solidFill>
            <a:srgbClr val="243352"/>
          </a:solidFill>
          <a:ln w="12700">
            <a:solidFill>
              <a:srgbClr val="22D3EE"/>
            </a:solidFill>
            <a:prstDash val="solid"/>
          </a:ln>
        </p:spPr>
      </p:sp>
      <p:sp>
        <p:nvSpPr>
          <p:cNvPr id="13" name="Text 11"/>
          <p:cNvSpPr txBox="1"/>
          <p:nvPr/>
        </p:nvSpPr>
        <p:spPr>
          <a:xfrm>
            <a:off x="4453128" y="2441448"/>
            <a:ext cx="3017520" cy="384048"/>
          </a:xfrm>
          <a:prstGeom prst="rect">
            <a:avLst/>
          </a:prstGeom>
          <a:noFill/>
          <a:ln/>
        </p:spPr>
        <p:txBody>
          <a:bodyPr wrap="square" lIns="0" tIns="0" rIns="0" bIns="0" rtlCol="0" anchor="ctr"/>
          <a:lstStyle/>
          <a:p>
            <a:pPr marL="0" indent="0" algn="ctr">
              <a:buNone/>
            </a:pPr>
            <a:r>
              <a:rPr lang="en-US" sz="1450" b="1" dirty="0">
                <a:solidFill>
                  <a:srgbClr val="F5F7FA"/>
                </a:solidFill>
                <a:latin typeface="Calibri" pitchFamily="34" charset="0"/>
                <a:ea typeface="Calibri" pitchFamily="34" charset="-122"/>
                <a:cs typeface="Calibri" pitchFamily="34" charset="-120"/>
              </a:rPr>
              <a:t>Localization</a:t>
            </a:r>
            <a:endParaRPr lang="en-US" sz="1450" dirty="0"/>
          </a:p>
        </p:txBody>
      </p:sp>
      <p:sp>
        <p:nvSpPr>
          <p:cNvPr id="14" name="Shape 12"/>
          <p:cNvSpPr/>
          <p:nvPr/>
        </p:nvSpPr>
        <p:spPr>
          <a:xfrm>
            <a:off x="5897880" y="2825496"/>
            <a:ext cx="128016" cy="91440"/>
          </a:xfrm>
          <a:prstGeom prst="downArrow">
            <a:avLst/>
          </a:prstGeom>
          <a:solidFill>
            <a:srgbClr val="1A8FA3"/>
          </a:solidFill>
          <a:ln/>
        </p:spPr>
      </p:sp>
      <p:sp>
        <p:nvSpPr>
          <p:cNvPr id="15" name="Shape 13"/>
          <p:cNvSpPr/>
          <p:nvPr/>
        </p:nvSpPr>
        <p:spPr>
          <a:xfrm>
            <a:off x="4407408" y="2916936"/>
            <a:ext cx="3108960" cy="384048"/>
          </a:xfrm>
          <a:prstGeom prst="roundRect">
            <a:avLst>
              <a:gd name="adj" fmla="val 14286"/>
            </a:avLst>
          </a:prstGeom>
          <a:solidFill>
            <a:srgbClr val="243352"/>
          </a:solidFill>
          <a:ln w="12700">
            <a:solidFill>
              <a:srgbClr val="22D3EE"/>
            </a:solidFill>
            <a:prstDash val="solid"/>
          </a:ln>
        </p:spPr>
      </p:sp>
      <p:sp>
        <p:nvSpPr>
          <p:cNvPr id="16" name="Text 14"/>
          <p:cNvSpPr txBox="1"/>
          <p:nvPr/>
        </p:nvSpPr>
        <p:spPr>
          <a:xfrm>
            <a:off x="4453128" y="2916936"/>
            <a:ext cx="3017520" cy="384048"/>
          </a:xfrm>
          <a:prstGeom prst="rect">
            <a:avLst/>
          </a:prstGeom>
          <a:noFill/>
          <a:ln/>
        </p:spPr>
        <p:txBody>
          <a:bodyPr wrap="square" lIns="0" tIns="0" rIns="0" bIns="0" rtlCol="0" anchor="ctr"/>
          <a:lstStyle/>
          <a:p>
            <a:pPr marL="0" indent="0" algn="ctr">
              <a:buNone/>
            </a:pPr>
            <a:r>
              <a:rPr lang="en-US" sz="1450" b="1" dirty="0">
                <a:solidFill>
                  <a:srgbClr val="F5F7FA"/>
                </a:solidFill>
                <a:latin typeface="Calibri" pitchFamily="34" charset="0"/>
                <a:ea typeface="Calibri" pitchFamily="34" charset="-122"/>
                <a:cs typeface="Calibri" pitchFamily="34" charset="-120"/>
              </a:rPr>
              <a:t>Prediction</a:t>
            </a:r>
            <a:endParaRPr lang="en-US" sz="1450" dirty="0"/>
          </a:p>
        </p:txBody>
      </p:sp>
      <p:sp>
        <p:nvSpPr>
          <p:cNvPr id="17" name="Shape 15"/>
          <p:cNvSpPr/>
          <p:nvPr/>
        </p:nvSpPr>
        <p:spPr>
          <a:xfrm>
            <a:off x="5897880" y="3300984"/>
            <a:ext cx="128016" cy="91440"/>
          </a:xfrm>
          <a:prstGeom prst="downArrow">
            <a:avLst/>
          </a:prstGeom>
          <a:solidFill>
            <a:srgbClr val="1A8FA3"/>
          </a:solidFill>
          <a:ln/>
        </p:spPr>
      </p:sp>
      <p:sp>
        <p:nvSpPr>
          <p:cNvPr id="18" name="Shape 16"/>
          <p:cNvSpPr/>
          <p:nvPr/>
        </p:nvSpPr>
        <p:spPr>
          <a:xfrm>
            <a:off x="4407408" y="3392424"/>
            <a:ext cx="3108960" cy="384048"/>
          </a:xfrm>
          <a:prstGeom prst="roundRect">
            <a:avLst>
              <a:gd name="adj" fmla="val 14286"/>
            </a:avLst>
          </a:prstGeom>
          <a:solidFill>
            <a:srgbClr val="243352"/>
          </a:solidFill>
          <a:ln w="12700">
            <a:solidFill>
              <a:srgbClr val="22D3EE"/>
            </a:solidFill>
            <a:prstDash val="solid"/>
          </a:ln>
        </p:spPr>
      </p:sp>
      <p:sp>
        <p:nvSpPr>
          <p:cNvPr id="19" name="Text 17"/>
          <p:cNvSpPr txBox="1"/>
          <p:nvPr/>
        </p:nvSpPr>
        <p:spPr>
          <a:xfrm>
            <a:off x="4453128" y="3392424"/>
            <a:ext cx="3017520" cy="384048"/>
          </a:xfrm>
          <a:prstGeom prst="rect">
            <a:avLst/>
          </a:prstGeom>
          <a:noFill/>
          <a:ln/>
        </p:spPr>
        <p:txBody>
          <a:bodyPr wrap="square" lIns="0" tIns="0" rIns="0" bIns="0" rtlCol="0" anchor="ctr"/>
          <a:lstStyle/>
          <a:p>
            <a:pPr marL="0" indent="0" algn="ctr">
              <a:buNone/>
            </a:pPr>
            <a:r>
              <a:rPr lang="en-US" sz="1450" b="1" dirty="0">
                <a:solidFill>
                  <a:srgbClr val="F5F7FA"/>
                </a:solidFill>
                <a:latin typeface="Calibri" pitchFamily="34" charset="0"/>
                <a:ea typeface="Calibri" pitchFamily="34" charset="-122"/>
                <a:cs typeface="Calibri" pitchFamily="34" charset="-120"/>
              </a:rPr>
              <a:t>Planning</a:t>
            </a:r>
            <a:endParaRPr lang="en-US" sz="1450" dirty="0"/>
          </a:p>
        </p:txBody>
      </p:sp>
      <p:sp>
        <p:nvSpPr>
          <p:cNvPr id="20" name="Shape 18"/>
          <p:cNvSpPr/>
          <p:nvPr/>
        </p:nvSpPr>
        <p:spPr>
          <a:xfrm>
            <a:off x="5897880" y="3776472"/>
            <a:ext cx="128016" cy="91440"/>
          </a:xfrm>
          <a:prstGeom prst="downArrow">
            <a:avLst/>
          </a:prstGeom>
          <a:solidFill>
            <a:srgbClr val="1A8FA3"/>
          </a:solidFill>
          <a:ln/>
        </p:spPr>
      </p:sp>
      <p:sp>
        <p:nvSpPr>
          <p:cNvPr id="21" name="Shape 19"/>
          <p:cNvSpPr/>
          <p:nvPr/>
        </p:nvSpPr>
        <p:spPr>
          <a:xfrm>
            <a:off x="4407408" y="3867912"/>
            <a:ext cx="3108960" cy="384048"/>
          </a:xfrm>
          <a:prstGeom prst="roundRect">
            <a:avLst>
              <a:gd name="adj" fmla="val 14286"/>
            </a:avLst>
          </a:prstGeom>
          <a:solidFill>
            <a:srgbClr val="243352"/>
          </a:solidFill>
          <a:ln w="12700">
            <a:solidFill>
              <a:srgbClr val="22D3EE"/>
            </a:solidFill>
            <a:prstDash val="solid"/>
          </a:ln>
        </p:spPr>
      </p:sp>
      <p:sp>
        <p:nvSpPr>
          <p:cNvPr id="22" name="Text 20"/>
          <p:cNvSpPr txBox="1"/>
          <p:nvPr/>
        </p:nvSpPr>
        <p:spPr>
          <a:xfrm>
            <a:off x="4453128" y="3867912"/>
            <a:ext cx="3017520" cy="384048"/>
          </a:xfrm>
          <a:prstGeom prst="rect">
            <a:avLst/>
          </a:prstGeom>
          <a:noFill/>
          <a:ln/>
        </p:spPr>
        <p:txBody>
          <a:bodyPr wrap="square" lIns="0" tIns="0" rIns="0" bIns="0" rtlCol="0" anchor="ctr"/>
          <a:lstStyle/>
          <a:p>
            <a:pPr marL="0" indent="0" algn="ctr">
              <a:buNone/>
            </a:pPr>
            <a:r>
              <a:rPr lang="en-US" sz="1450" b="1" dirty="0">
                <a:solidFill>
                  <a:srgbClr val="F5F7FA"/>
                </a:solidFill>
                <a:latin typeface="Calibri" pitchFamily="34" charset="0"/>
                <a:ea typeface="Calibri" pitchFamily="34" charset="-122"/>
                <a:cs typeface="Calibri" pitchFamily="34" charset="-120"/>
              </a:rPr>
              <a:t>Control</a:t>
            </a:r>
            <a:endParaRPr lang="en-US" sz="1450" dirty="0"/>
          </a:p>
        </p:txBody>
      </p:sp>
      <p:sp>
        <p:nvSpPr>
          <p:cNvPr id="23" name="Shape 21"/>
          <p:cNvSpPr/>
          <p:nvPr/>
        </p:nvSpPr>
        <p:spPr>
          <a:xfrm>
            <a:off x="7863840" y="1417320"/>
            <a:ext cx="3749040" cy="1298448"/>
          </a:xfrm>
          <a:prstGeom prst="roundRect">
            <a:avLst>
              <a:gd name="adj" fmla="val 5634"/>
            </a:avLst>
          </a:prstGeom>
          <a:solidFill>
            <a:srgbClr val="141B33"/>
          </a:solidFill>
          <a:ln w="12700">
            <a:solidFill>
              <a:srgbClr val="2A3654"/>
            </a:solidFill>
            <a:prstDash val="solid"/>
          </a:ln>
        </p:spPr>
      </p:sp>
      <p:sp>
        <p:nvSpPr>
          <p:cNvPr id="24" name="Shape 22"/>
          <p:cNvSpPr/>
          <p:nvPr/>
        </p:nvSpPr>
        <p:spPr>
          <a:xfrm>
            <a:off x="8028432" y="1581912"/>
            <a:ext cx="384048" cy="384048"/>
          </a:xfrm>
          <a:prstGeom prst="ellipse">
            <a:avLst/>
          </a:prstGeom>
          <a:solidFill>
            <a:srgbClr val="141B33"/>
          </a:solidFill>
          <a:ln w="15875">
            <a:solidFill>
              <a:srgbClr val="22D3EE"/>
            </a:solidFill>
            <a:prstDash val="solid"/>
          </a:ln>
        </p:spPr>
      </p:sp>
      <p:sp>
        <p:nvSpPr>
          <p:cNvPr id="25" name="Text 23"/>
          <p:cNvSpPr txBox="1"/>
          <p:nvPr/>
        </p:nvSpPr>
        <p:spPr>
          <a:xfrm>
            <a:off x="8028432" y="1563624"/>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C</a:t>
            </a:r>
            <a:endParaRPr lang="en-US" sz="1500" dirty="0"/>
          </a:p>
        </p:txBody>
      </p:sp>
      <p:sp>
        <p:nvSpPr>
          <p:cNvPr id="26" name="Text 24"/>
          <p:cNvSpPr txBox="1"/>
          <p:nvPr/>
        </p:nvSpPr>
        <p:spPr>
          <a:xfrm>
            <a:off x="8503920" y="1554480"/>
            <a:ext cx="292608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CARLA</a:t>
            </a:r>
            <a:endParaRPr lang="en-US" sz="1600" dirty="0"/>
          </a:p>
        </p:txBody>
      </p:sp>
      <p:sp>
        <p:nvSpPr>
          <p:cNvPr id="27" name="Text 25"/>
          <p:cNvSpPr txBox="1"/>
          <p:nvPr/>
        </p:nvSpPr>
        <p:spPr>
          <a:xfrm>
            <a:off x="8065008" y="2084832"/>
            <a:ext cx="3346704" cy="493776"/>
          </a:xfrm>
          <a:prstGeom prst="rect">
            <a:avLst/>
          </a:prstGeom>
          <a:noFill/>
          <a:ln/>
        </p:spPr>
        <p:txBody>
          <a:bodyPr wrap="square" lIns="0" tIns="0" rIns="0" bIns="0" rtlCol="0" anchor="t"/>
          <a:lstStyle/>
          <a:p>
            <a:pPr marL="0" indent="0">
              <a:lnSpc>
                <a:spcPct val="115000"/>
              </a:lnSpc>
              <a:buNone/>
            </a:pPr>
            <a:r>
              <a:rPr lang="en-US" sz="1400" dirty="0">
                <a:solidFill>
                  <a:srgbClr val="9AA5B8"/>
                </a:solidFill>
                <a:latin typeface="Calibri" pitchFamily="34" charset="0"/>
                <a:ea typeface="Calibri" pitchFamily="34" charset="-122"/>
                <a:cs typeface="Calibri" pitchFamily="34" charset="-120"/>
              </a:rPr>
              <a:t>Controlled digital driving environment for repeatable, safe scenario testing.</a:t>
            </a:r>
            <a:endParaRPr lang="en-US" sz="1400" dirty="0"/>
          </a:p>
        </p:txBody>
      </p:sp>
      <p:sp>
        <p:nvSpPr>
          <p:cNvPr id="28" name="Shape 26"/>
          <p:cNvSpPr/>
          <p:nvPr/>
        </p:nvSpPr>
        <p:spPr>
          <a:xfrm>
            <a:off x="7863840" y="2834640"/>
            <a:ext cx="3749040" cy="1600200"/>
          </a:xfrm>
          <a:prstGeom prst="roundRect">
            <a:avLst>
              <a:gd name="adj" fmla="val 5333"/>
            </a:avLst>
          </a:prstGeom>
          <a:solidFill>
            <a:srgbClr val="141B33"/>
          </a:solidFill>
          <a:ln w="12700">
            <a:solidFill>
              <a:srgbClr val="2A3654"/>
            </a:solidFill>
            <a:prstDash val="solid"/>
          </a:ln>
        </p:spPr>
      </p:sp>
      <p:sp>
        <p:nvSpPr>
          <p:cNvPr id="29" name="Shape 27"/>
          <p:cNvSpPr/>
          <p:nvPr/>
        </p:nvSpPr>
        <p:spPr>
          <a:xfrm>
            <a:off x="8028432" y="2999232"/>
            <a:ext cx="384048" cy="384048"/>
          </a:xfrm>
          <a:prstGeom prst="ellipse">
            <a:avLst/>
          </a:prstGeom>
          <a:solidFill>
            <a:srgbClr val="141B33"/>
          </a:solidFill>
          <a:ln w="15875">
            <a:solidFill>
              <a:srgbClr val="22D3EE"/>
            </a:solidFill>
            <a:prstDash val="solid"/>
          </a:ln>
        </p:spPr>
      </p:sp>
      <p:sp>
        <p:nvSpPr>
          <p:cNvPr id="30" name="Text 28"/>
          <p:cNvSpPr txBox="1"/>
          <p:nvPr/>
        </p:nvSpPr>
        <p:spPr>
          <a:xfrm>
            <a:off x="8028432" y="2980944"/>
            <a:ext cx="384048" cy="384048"/>
          </a:xfrm>
          <a:prstGeom prst="rect">
            <a:avLst/>
          </a:prstGeom>
          <a:noFill/>
          <a:ln/>
        </p:spPr>
        <p:txBody>
          <a:bodyPr wrap="square" lIns="0" tIns="0" rIns="0" bIns="0"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R</a:t>
            </a:r>
            <a:endParaRPr lang="en-US" sz="1500" dirty="0"/>
          </a:p>
        </p:txBody>
      </p:sp>
      <p:sp>
        <p:nvSpPr>
          <p:cNvPr id="31" name="Text 29"/>
          <p:cNvSpPr txBox="1"/>
          <p:nvPr/>
        </p:nvSpPr>
        <p:spPr>
          <a:xfrm>
            <a:off x="8503920" y="2971800"/>
            <a:ext cx="2926080" cy="38404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ROS 2</a:t>
            </a:r>
            <a:endParaRPr lang="en-US" sz="1600" dirty="0"/>
          </a:p>
        </p:txBody>
      </p:sp>
      <p:sp>
        <p:nvSpPr>
          <p:cNvPr id="32" name="Text 30"/>
          <p:cNvSpPr txBox="1"/>
          <p:nvPr/>
        </p:nvSpPr>
        <p:spPr>
          <a:xfrm>
            <a:off x="8065008" y="3502152"/>
            <a:ext cx="3346704" cy="566928"/>
          </a:xfrm>
          <a:prstGeom prst="rect">
            <a:avLst/>
          </a:prstGeom>
          <a:noFill/>
          <a:ln/>
        </p:spPr>
        <p:txBody>
          <a:bodyPr wrap="square" lIns="0" tIns="0" rIns="0" bIns="0" rtlCol="0" anchor="t"/>
          <a:lstStyle/>
          <a:p>
            <a:pPr marL="0" indent="0">
              <a:lnSpc>
                <a:spcPct val="115000"/>
              </a:lnSpc>
              <a:buNone/>
            </a:pPr>
            <a:r>
              <a:rPr lang="en-US" sz="1400" dirty="0">
                <a:solidFill>
                  <a:srgbClr val="9AA5B8"/>
                </a:solidFill>
                <a:latin typeface="Calibri" pitchFamily="34" charset="0"/>
                <a:ea typeface="Calibri" pitchFamily="34" charset="-122"/>
                <a:cs typeface="Calibri" pitchFamily="34" charset="-120"/>
              </a:rPr>
              <a:t>Modular communication framework connecting perception, fusion, reliability, risk, planning and control.</a:t>
            </a:r>
            <a:endParaRPr lang="en-US" sz="1400" dirty="0"/>
          </a:p>
        </p:txBody>
      </p:sp>
      <p:sp>
        <p:nvSpPr>
          <p:cNvPr id="33" name="Shape 31"/>
          <p:cNvSpPr/>
          <p:nvPr/>
        </p:nvSpPr>
        <p:spPr>
          <a:xfrm>
            <a:off x="548640" y="4526280"/>
            <a:ext cx="11064240" cy="685800"/>
          </a:xfrm>
          <a:prstGeom prst="roundRect">
            <a:avLst>
              <a:gd name="adj" fmla="val 6957"/>
            </a:avLst>
          </a:prstGeom>
          <a:solidFill>
            <a:srgbClr val="243352"/>
          </a:solidFill>
          <a:ln w="12700">
            <a:solidFill>
              <a:srgbClr val="FBBF24"/>
            </a:solidFill>
            <a:prstDash val="solid"/>
          </a:ln>
        </p:spPr>
        <p:txBody>
          <a:bodyPr/>
          <a:lstStyle/>
          <a:p>
            <a:endParaRPr lang="en-IN" dirty="0"/>
          </a:p>
        </p:txBody>
      </p:sp>
      <p:sp>
        <p:nvSpPr>
          <p:cNvPr id="34" name="Text 32"/>
          <p:cNvSpPr txBox="1"/>
          <p:nvPr/>
        </p:nvSpPr>
        <p:spPr>
          <a:xfrm>
            <a:off x="777240" y="4599432"/>
            <a:ext cx="10607040" cy="484632"/>
          </a:xfrm>
          <a:prstGeom prst="rect">
            <a:avLst/>
          </a:prstGeom>
          <a:noFill/>
          <a:ln/>
        </p:spPr>
        <p:txBody>
          <a:bodyPr wrap="square" lIns="0" tIns="0" rIns="0" bIns="0" rtlCol="0" anchor="ctr"/>
          <a:lstStyle/>
          <a:p>
            <a:pPr marL="0" indent="0">
              <a:buNone/>
            </a:pPr>
            <a:r>
              <a:rPr lang="en-US" sz="1450" dirty="0">
                <a:solidFill>
                  <a:srgbClr val="F5F7FA"/>
                </a:solidFill>
                <a:latin typeface="Calibri" pitchFamily="34" charset="0"/>
                <a:ea typeface="Calibri" pitchFamily="34" charset="-122"/>
                <a:cs typeface="Calibri" pitchFamily="34" charset="-120"/>
              </a:rPr>
              <a:t>The project targets Level-2-style ADAS functionality and a Level-4-oriented autonomous-driving prototype within a clearly defined Operational Design Domain.</a:t>
            </a:r>
            <a:endParaRPr lang="en-US" sz="1450" dirty="0"/>
          </a:p>
        </p:txBody>
      </p:sp>
      <p:sp>
        <p:nvSpPr>
          <p:cNvPr id="37" name="Text 35"/>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09 / 13</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VALIDATION PLAN</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Validation &amp; Experimental Evaluation Strategy</a:t>
            </a:r>
            <a:endParaRPr lang="en-US" sz="3000" dirty="0"/>
          </a:p>
        </p:txBody>
      </p:sp>
      <p:sp>
        <p:nvSpPr>
          <p:cNvPr id="4" name="Shape 2"/>
          <p:cNvSpPr/>
          <p:nvPr/>
        </p:nvSpPr>
        <p:spPr>
          <a:xfrm>
            <a:off x="548640" y="1417320"/>
            <a:ext cx="5349240" cy="1480000"/>
          </a:xfrm>
          <a:prstGeom prst="roundRect">
            <a:avLst>
              <a:gd name="adj" fmla="val 7273"/>
            </a:avLst>
          </a:prstGeom>
          <a:solidFill>
            <a:srgbClr val="141B33"/>
          </a:solidFill>
          <a:ln w="12700">
            <a:solidFill>
              <a:srgbClr val="2A3654"/>
            </a:solidFill>
            <a:prstDash val="solid"/>
          </a:ln>
        </p:spPr>
      </p:sp>
      <p:sp>
        <p:nvSpPr>
          <p:cNvPr id="5" name="Text 3"/>
          <p:cNvSpPr txBox="1"/>
          <p:nvPr/>
        </p:nvSpPr>
        <p:spPr>
          <a:xfrm>
            <a:off x="749808" y="1581912"/>
            <a:ext cx="4946904" cy="584000"/>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Baseline — Fixed Sensor Fusion</a:t>
            </a:r>
            <a:endParaRPr lang="en-US" sz="1600" dirty="0"/>
          </a:p>
        </p:txBody>
      </p:sp>
      <p:sp>
        <p:nvSpPr>
          <p:cNvPr id="6" name="Text 4"/>
          <p:cNvSpPr txBox="1"/>
          <p:nvPr/>
        </p:nvSpPr>
        <p:spPr>
          <a:xfrm>
            <a:off x="749808" y="2205912"/>
            <a:ext cx="4946904" cy="640000"/>
          </a:xfrm>
          <a:prstGeom prst="rect">
            <a:avLst/>
          </a:prstGeom>
          <a:noFill/>
          <a:ln/>
        </p:spPr>
        <p:txBody>
          <a:bodyPr wrap="square" lIns="0" tIns="0" rIns="0" bIns="0" rtlCol="0" anchor="t"/>
          <a:lstStyle/>
          <a:p>
            <a:pPr marL="0" indent="0">
              <a:lnSpc>
                <a:spcPct val="115000"/>
              </a:lnSpc>
              <a:buNone/>
            </a:pPr>
            <a:r>
              <a:rPr lang="en-US" sz="1400" dirty="0">
                <a:solidFill>
                  <a:srgbClr val="9AA5B8"/>
                </a:solidFill>
                <a:latin typeface="Calibri" pitchFamily="34" charset="0"/>
                <a:ea typeface="Calibri" pitchFamily="34" charset="-122"/>
                <a:cs typeface="Calibri" pitchFamily="34" charset="-120"/>
              </a:rPr>
              <a:t>Static sensor weighting regardless of changing conditions or reliability.</a:t>
            </a:r>
            <a:endParaRPr lang="en-US" sz="1400" dirty="0"/>
          </a:p>
        </p:txBody>
      </p:sp>
      <p:sp>
        <p:nvSpPr>
          <p:cNvPr id="7" name="Shape 5"/>
          <p:cNvSpPr/>
          <p:nvPr/>
        </p:nvSpPr>
        <p:spPr>
          <a:xfrm>
            <a:off x="6035040" y="1417320"/>
            <a:ext cx="5349240" cy="1480000"/>
          </a:xfrm>
          <a:prstGeom prst="roundRect">
            <a:avLst>
              <a:gd name="adj" fmla="val 7273"/>
            </a:avLst>
          </a:prstGeom>
          <a:solidFill>
            <a:srgbClr val="163244"/>
          </a:solidFill>
          <a:ln w="12700">
            <a:solidFill>
              <a:srgbClr val="2A3654"/>
            </a:solidFill>
            <a:prstDash val="solid"/>
          </a:ln>
        </p:spPr>
      </p:sp>
      <p:sp>
        <p:nvSpPr>
          <p:cNvPr id="8" name="Text 6"/>
          <p:cNvSpPr txBox="1"/>
          <p:nvPr/>
        </p:nvSpPr>
        <p:spPr>
          <a:xfrm>
            <a:off x="6236208" y="1581912"/>
            <a:ext cx="4946904" cy="584000"/>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Proposed — Reliability + Uncertainty-Aware Adaptive Fusion</a:t>
            </a:r>
            <a:endParaRPr lang="en-US" sz="1600" dirty="0"/>
          </a:p>
        </p:txBody>
      </p:sp>
      <p:sp>
        <p:nvSpPr>
          <p:cNvPr id="9" name="Text 7"/>
          <p:cNvSpPr txBox="1"/>
          <p:nvPr/>
        </p:nvSpPr>
        <p:spPr>
          <a:xfrm>
            <a:off x="6236208" y="2205912"/>
            <a:ext cx="4946904" cy="640000"/>
          </a:xfrm>
          <a:prstGeom prst="rect">
            <a:avLst/>
          </a:prstGeom>
          <a:noFill/>
          <a:ln/>
        </p:spPr>
        <p:txBody>
          <a:bodyPr wrap="square" lIns="0" tIns="0" rIns="0" bIns="0" rtlCol="0" anchor="t"/>
          <a:lstStyle/>
          <a:p>
            <a:pPr marL="0" indent="0">
              <a:lnSpc>
                <a:spcPct val="115000"/>
              </a:lnSpc>
              <a:buNone/>
            </a:pPr>
            <a:r>
              <a:rPr lang="en-US" sz="1400" dirty="0">
                <a:solidFill>
                  <a:srgbClr val="F5F7FA"/>
                </a:solidFill>
                <a:latin typeface="Calibri" pitchFamily="34" charset="0"/>
                <a:ea typeface="Calibri" pitchFamily="34" charset="-122"/>
                <a:cs typeface="Calibri" pitchFamily="34" charset="-120"/>
              </a:rPr>
              <a:t>Fusion weighting adapts to real-time sensor conditions; both tested under identical scenarios.</a:t>
            </a:r>
            <a:endParaRPr lang="en-US" sz="1400" dirty="0"/>
          </a:p>
        </p:txBody>
      </p:sp>
      <p:sp>
        <p:nvSpPr>
          <p:cNvPr id="10" name="Text 8"/>
          <p:cNvSpPr txBox="1"/>
          <p:nvPr/>
        </p:nvSpPr>
        <p:spPr>
          <a:xfrm>
            <a:off x="548640" y="3080200"/>
            <a:ext cx="3657600" cy="256032"/>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Testing Scenarios</a:t>
            </a:r>
            <a:endParaRPr lang="en-US" sz="1500" dirty="0"/>
          </a:p>
        </p:txBody>
      </p:sp>
      <p:sp>
        <p:nvSpPr>
          <p:cNvPr id="11" name="Shape 9"/>
          <p:cNvSpPr/>
          <p:nvPr/>
        </p:nvSpPr>
        <p:spPr>
          <a:xfrm>
            <a:off x="548640" y="3381952"/>
            <a:ext cx="2697480" cy="411480"/>
          </a:xfrm>
          <a:prstGeom prst="roundRect">
            <a:avLst>
              <a:gd name="adj" fmla="val 48889"/>
            </a:avLst>
          </a:prstGeom>
          <a:solidFill>
            <a:srgbClr val="141B33"/>
          </a:solidFill>
          <a:ln w="12700">
            <a:solidFill>
              <a:srgbClr val="2A3654"/>
            </a:solidFill>
            <a:prstDash val="solid"/>
          </a:ln>
        </p:spPr>
      </p:sp>
      <p:sp>
        <p:nvSpPr>
          <p:cNvPr id="12" name="Text 10"/>
          <p:cNvSpPr txBox="1"/>
          <p:nvPr/>
        </p:nvSpPr>
        <p:spPr>
          <a:xfrm>
            <a:off x="548640" y="338195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Normal driving</a:t>
            </a:r>
            <a:endParaRPr lang="en-US" sz="1300" dirty="0"/>
          </a:p>
        </p:txBody>
      </p:sp>
      <p:sp>
        <p:nvSpPr>
          <p:cNvPr id="13" name="Shape 11"/>
          <p:cNvSpPr/>
          <p:nvPr/>
        </p:nvSpPr>
        <p:spPr>
          <a:xfrm>
            <a:off x="3337560" y="3381952"/>
            <a:ext cx="2697480" cy="411480"/>
          </a:xfrm>
          <a:prstGeom prst="roundRect">
            <a:avLst>
              <a:gd name="adj" fmla="val 48889"/>
            </a:avLst>
          </a:prstGeom>
          <a:solidFill>
            <a:srgbClr val="141B33"/>
          </a:solidFill>
          <a:ln w="12700">
            <a:solidFill>
              <a:srgbClr val="2A3654"/>
            </a:solidFill>
            <a:prstDash val="solid"/>
          </a:ln>
        </p:spPr>
      </p:sp>
      <p:sp>
        <p:nvSpPr>
          <p:cNvPr id="14" name="Text 12"/>
          <p:cNvSpPr txBox="1"/>
          <p:nvPr/>
        </p:nvSpPr>
        <p:spPr>
          <a:xfrm>
            <a:off x="3337560" y="338195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Camera degradation</a:t>
            </a:r>
            <a:endParaRPr lang="en-US" sz="1300" dirty="0"/>
          </a:p>
        </p:txBody>
      </p:sp>
      <p:sp>
        <p:nvSpPr>
          <p:cNvPr id="15" name="Shape 13"/>
          <p:cNvSpPr/>
          <p:nvPr/>
        </p:nvSpPr>
        <p:spPr>
          <a:xfrm>
            <a:off x="6126480" y="3381952"/>
            <a:ext cx="2697480" cy="411480"/>
          </a:xfrm>
          <a:prstGeom prst="roundRect">
            <a:avLst>
              <a:gd name="adj" fmla="val 48889"/>
            </a:avLst>
          </a:prstGeom>
          <a:solidFill>
            <a:srgbClr val="141B33"/>
          </a:solidFill>
          <a:ln w="12700">
            <a:solidFill>
              <a:srgbClr val="2A3654"/>
            </a:solidFill>
            <a:prstDash val="solid"/>
          </a:ln>
        </p:spPr>
      </p:sp>
      <p:sp>
        <p:nvSpPr>
          <p:cNvPr id="16" name="Text 14"/>
          <p:cNvSpPr txBox="1"/>
          <p:nvPr/>
        </p:nvSpPr>
        <p:spPr>
          <a:xfrm>
            <a:off x="6126480" y="338195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LiDAR degradation</a:t>
            </a:r>
            <a:endParaRPr lang="en-US" sz="1300" dirty="0"/>
          </a:p>
        </p:txBody>
      </p:sp>
      <p:sp>
        <p:nvSpPr>
          <p:cNvPr id="17" name="Shape 15"/>
          <p:cNvSpPr/>
          <p:nvPr/>
        </p:nvSpPr>
        <p:spPr>
          <a:xfrm>
            <a:off x="8915400" y="3381952"/>
            <a:ext cx="2697480" cy="411480"/>
          </a:xfrm>
          <a:prstGeom prst="roundRect">
            <a:avLst>
              <a:gd name="adj" fmla="val 48889"/>
            </a:avLst>
          </a:prstGeom>
          <a:solidFill>
            <a:srgbClr val="141B33"/>
          </a:solidFill>
          <a:ln w="12700">
            <a:solidFill>
              <a:srgbClr val="2A3654"/>
            </a:solidFill>
            <a:prstDash val="solid"/>
          </a:ln>
        </p:spPr>
      </p:sp>
      <p:sp>
        <p:nvSpPr>
          <p:cNvPr id="18" name="Text 16"/>
          <p:cNvSpPr txBox="1"/>
          <p:nvPr/>
        </p:nvSpPr>
        <p:spPr>
          <a:xfrm>
            <a:off x="8915400" y="338195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Radar degradation</a:t>
            </a:r>
            <a:endParaRPr lang="en-US" sz="1300" dirty="0"/>
          </a:p>
        </p:txBody>
      </p:sp>
      <p:sp>
        <p:nvSpPr>
          <p:cNvPr id="19" name="Shape 17"/>
          <p:cNvSpPr/>
          <p:nvPr/>
        </p:nvSpPr>
        <p:spPr>
          <a:xfrm>
            <a:off x="548640" y="3884872"/>
            <a:ext cx="2697480" cy="411480"/>
          </a:xfrm>
          <a:prstGeom prst="roundRect">
            <a:avLst>
              <a:gd name="adj" fmla="val 48889"/>
            </a:avLst>
          </a:prstGeom>
          <a:solidFill>
            <a:srgbClr val="141B33"/>
          </a:solidFill>
          <a:ln w="12700">
            <a:solidFill>
              <a:srgbClr val="2A3654"/>
            </a:solidFill>
            <a:prstDash val="solid"/>
          </a:ln>
        </p:spPr>
      </p:sp>
      <p:sp>
        <p:nvSpPr>
          <p:cNvPr id="20" name="Text 18"/>
          <p:cNvSpPr txBox="1"/>
          <p:nvPr/>
        </p:nvSpPr>
        <p:spPr>
          <a:xfrm>
            <a:off x="548640" y="388487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Sensor disagreement</a:t>
            </a:r>
            <a:endParaRPr lang="en-US" sz="1300" dirty="0"/>
          </a:p>
        </p:txBody>
      </p:sp>
      <p:sp>
        <p:nvSpPr>
          <p:cNvPr id="21" name="Shape 19"/>
          <p:cNvSpPr/>
          <p:nvPr/>
        </p:nvSpPr>
        <p:spPr>
          <a:xfrm>
            <a:off x="3337560" y="3884872"/>
            <a:ext cx="2697480" cy="411480"/>
          </a:xfrm>
          <a:prstGeom prst="roundRect">
            <a:avLst>
              <a:gd name="adj" fmla="val 48889"/>
            </a:avLst>
          </a:prstGeom>
          <a:solidFill>
            <a:srgbClr val="141B33"/>
          </a:solidFill>
          <a:ln w="12700">
            <a:solidFill>
              <a:srgbClr val="2A3654"/>
            </a:solidFill>
            <a:prstDash val="solid"/>
          </a:ln>
        </p:spPr>
      </p:sp>
      <p:sp>
        <p:nvSpPr>
          <p:cNvPr id="22" name="Text 20"/>
          <p:cNvSpPr txBox="1"/>
          <p:nvPr/>
        </p:nvSpPr>
        <p:spPr>
          <a:xfrm>
            <a:off x="3337560" y="388487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Pedestrian crossing</a:t>
            </a:r>
            <a:endParaRPr lang="en-US" sz="1300" dirty="0"/>
          </a:p>
        </p:txBody>
      </p:sp>
      <p:sp>
        <p:nvSpPr>
          <p:cNvPr id="23" name="Shape 21"/>
          <p:cNvSpPr/>
          <p:nvPr/>
        </p:nvSpPr>
        <p:spPr>
          <a:xfrm>
            <a:off x="6126480" y="3884872"/>
            <a:ext cx="2697480" cy="411480"/>
          </a:xfrm>
          <a:prstGeom prst="roundRect">
            <a:avLst>
              <a:gd name="adj" fmla="val 48889"/>
            </a:avLst>
          </a:prstGeom>
          <a:solidFill>
            <a:srgbClr val="141B33"/>
          </a:solidFill>
          <a:ln w="12700">
            <a:solidFill>
              <a:srgbClr val="2A3654"/>
            </a:solidFill>
            <a:prstDash val="solid"/>
          </a:ln>
        </p:spPr>
      </p:sp>
      <p:sp>
        <p:nvSpPr>
          <p:cNvPr id="24" name="Text 22"/>
          <p:cNvSpPr txBox="1"/>
          <p:nvPr/>
        </p:nvSpPr>
        <p:spPr>
          <a:xfrm>
            <a:off x="6126480" y="388487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Dense traffic</a:t>
            </a:r>
            <a:endParaRPr lang="en-US" sz="1300" dirty="0"/>
          </a:p>
        </p:txBody>
      </p:sp>
      <p:sp>
        <p:nvSpPr>
          <p:cNvPr id="25" name="Shape 23"/>
          <p:cNvSpPr/>
          <p:nvPr/>
        </p:nvSpPr>
        <p:spPr>
          <a:xfrm>
            <a:off x="8915400" y="3884872"/>
            <a:ext cx="2697480" cy="411480"/>
          </a:xfrm>
          <a:prstGeom prst="roundRect">
            <a:avLst>
              <a:gd name="adj" fmla="val 48889"/>
            </a:avLst>
          </a:prstGeom>
          <a:solidFill>
            <a:srgbClr val="141B33"/>
          </a:solidFill>
          <a:ln w="12700">
            <a:solidFill>
              <a:srgbClr val="2A3654"/>
            </a:solidFill>
            <a:prstDash val="solid"/>
          </a:ln>
        </p:spPr>
      </p:sp>
      <p:sp>
        <p:nvSpPr>
          <p:cNvPr id="26" name="Text 24"/>
          <p:cNvSpPr txBox="1"/>
          <p:nvPr/>
        </p:nvSpPr>
        <p:spPr>
          <a:xfrm>
            <a:off x="8915400" y="3884872"/>
            <a:ext cx="2697480" cy="411480"/>
          </a:xfrm>
          <a:prstGeom prst="rect">
            <a:avLst/>
          </a:prstGeom>
          <a:noFill/>
          <a:ln/>
        </p:spPr>
        <p:txBody>
          <a:bodyPr wrap="square" lIns="0" tIns="0" rIns="0" bIns="0" rtlCol="0" anchor="ctr"/>
          <a:lstStyle/>
          <a:p>
            <a:pPr marL="0" indent="0" algn="ctr">
              <a:buNone/>
            </a:pPr>
            <a:r>
              <a:rPr lang="en-US" sz="1300" dirty="0">
                <a:solidFill>
                  <a:srgbClr val="F5F7FA"/>
                </a:solidFill>
                <a:latin typeface="Calibri" pitchFamily="34" charset="0"/>
                <a:ea typeface="Calibri" pitchFamily="34" charset="-122"/>
                <a:cs typeface="Calibri" pitchFamily="34" charset="-120"/>
              </a:rPr>
              <a:t>V2X hazard</a:t>
            </a:r>
            <a:endParaRPr lang="en-US" sz="1300" dirty="0"/>
          </a:p>
        </p:txBody>
      </p:sp>
      <p:sp>
        <p:nvSpPr>
          <p:cNvPr id="27" name="Text 25"/>
          <p:cNvSpPr txBox="1"/>
          <p:nvPr/>
        </p:nvSpPr>
        <p:spPr>
          <a:xfrm>
            <a:off x="548640" y="4387792"/>
            <a:ext cx="11064240" cy="27432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Simulated degradation types: rain, fog, glare, occlusion, noise, sensor dropout — injected via the CARLA + ROS 2 digital twin.</a:t>
            </a:r>
            <a:endParaRPr lang="en-US" sz="1300" dirty="0"/>
          </a:p>
        </p:txBody>
      </p:sp>
      <p:sp>
        <p:nvSpPr>
          <p:cNvPr id="28" name="Text 26"/>
          <p:cNvSpPr txBox="1"/>
          <p:nvPr/>
        </p:nvSpPr>
        <p:spPr>
          <a:xfrm>
            <a:off x="548640" y="4753552"/>
            <a:ext cx="3657600" cy="256032"/>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Evaluation Metrics</a:t>
            </a:r>
            <a:endParaRPr lang="en-US" sz="1500" dirty="0"/>
          </a:p>
        </p:txBody>
      </p:sp>
      <p:sp>
        <p:nvSpPr>
          <p:cNvPr id="29" name="Text 27"/>
          <p:cNvSpPr txBox="1"/>
          <p:nvPr/>
        </p:nvSpPr>
        <p:spPr>
          <a:xfrm>
            <a:off x="548640" y="5046160"/>
            <a:ext cx="5349240" cy="1150000"/>
          </a:xfrm>
          <a:prstGeom prst="rect">
            <a:avLst/>
          </a:prstGeom>
          <a:noFill/>
          <a:ln/>
        </p:spPr>
        <p:txBody>
          <a:bodyPr wrap="square" lIns="0" tIns="0" rIns="0" bIns="0" rtlCol="0" anchor="ctr"/>
          <a:lstStyle/>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Detection performance</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Tracking performance</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Collision rate</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Near-collision rate</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TTC estimation</a:t>
            </a:r>
            <a:endParaRPr lang="en-US" sz="1350" dirty="0"/>
          </a:p>
        </p:txBody>
      </p:sp>
      <p:sp>
        <p:nvSpPr>
          <p:cNvPr id="30" name="Text 28"/>
          <p:cNvSpPr txBox="1"/>
          <p:nvPr/>
        </p:nvSpPr>
        <p:spPr>
          <a:xfrm>
            <a:off x="6035040" y="5046160"/>
            <a:ext cx="5349240" cy="1150000"/>
          </a:xfrm>
          <a:prstGeom prst="rect">
            <a:avLst/>
          </a:prstGeom>
          <a:noFill/>
          <a:ln/>
        </p:spPr>
        <p:txBody>
          <a:bodyPr wrap="square" lIns="0" tIns="0" rIns="0" bIns="0" rtlCol="0" anchor="ctr"/>
          <a:lstStyle/>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Reliability estimation accuracy</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Reaction time</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Decision stability</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Planning latency</a:t>
            </a:r>
            <a:endParaRPr lang="en-US" sz="1350" dirty="0"/>
          </a:p>
          <a:p>
            <a:pPr marL="0" indent="0">
              <a:lnSpc>
                <a:spcPct val="120000"/>
              </a:lnSpc>
              <a:buNone/>
            </a:pPr>
            <a:r>
              <a:rPr lang="en-US" sz="1350" dirty="0">
                <a:solidFill>
                  <a:srgbClr val="9AA5B8"/>
                </a:solidFill>
                <a:latin typeface="Calibri" pitchFamily="34" charset="0"/>
                <a:ea typeface="Calibri" pitchFamily="34" charset="-122"/>
                <a:cs typeface="Calibri" pitchFamily="34" charset="-120"/>
              </a:rPr>
              <a:t>•  Sensor-failure recovery</a:t>
            </a:r>
            <a:endParaRPr lang="en-US" sz="1350" dirty="0"/>
          </a:p>
        </p:txBody>
      </p:sp>
      <p:sp>
        <p:nvSpPr>
          <p:cNvPr id="33" name="Text 31"/>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10 / 13</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OWNERSHIP</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Individual Contributions &amp; Ownership</a:t>
            </a:r>
            <a:endParaRPr lang="en-US" sz="3000" dirty="0"/>
          </a:p>
        </p:txBody>
      </p:sp>
      <p:sp>
        <p:nvSpPr>
          <p:cNvPr id="4" name="Shape 2"/>
          <p:cNvSpPr/>
          <p:nvPr/>
        </p:nvSpPr>
        <p:spPr>
          <a:xfrm>
            <a:off x="548640" y="1417320"/>
            <a:ext cx="2697480" cy="4160520"/>
          </a:xfrm>
          <a:prstGeom prst="roundRect">
            <a:avLst>
              <a:gd name="adj" fmla="val 2712"/>
            </a:avLst>
          </a:prstGeom>
          <a:solidFill>
            <a:srgbClr val="141B33"/>
          </a:solidFill>
          <a:ln w="12700">
            <a:solidFill>
              <a:srgbClr val="2A3654"/>
            </a:solidFill>
            <a:prstDash val="solid"/>
          </a:ln>
        </p:spPr>
      </p:sp>
      <p:sp>
        <p:nvSpPr>
          <p:cNvPr id="5" name="Shape 3"/>
          <p:cNvSpPr/>
          <p:nvPr/>
        </p:nvSpPr>
        <p:spPr>
          <a:xfrm>
            <a:off x="1577340" y="1600200"/>
            <a:ext cx="640080" cy="640080"/>
          </a:xfrm>
          <a:prstGeom prst="ellipse">
            <a:avLst/>
          </a:prstGeom>
          <a:solidFill>
            <a:srgbClr val="243352"/>
          </a:solidFill>
          <a:ln w="15875">
            <a:solidFill>
              <a:srgbClr val="22D3EE"/>
            </a:solidFill>
            <a:prstDash val="solid"/>
          </a:ln>
        </p:spPr>
      </p:sp>
      <p:sp>
        <p:nvSpPr>
          <p:cNvPr id="6" name="Text 4"/>
          <p:cNvSpPr txBox="1"/>
          <p:nvPr/>
        </p:nvSpPr>
        <p:spPr>
          <a:xfrm>
            <a:off x="1577340" y="1581912"/>
            <a:ext cx="640080" cy="640080"/>
          </a:xfrm>
          <a:prstGeom prst="rect">
            <a:avLst/>
          </a:prstGeom>
          <a:noFill/>
          <a:ln/>
        </p:spPr>
        <p:txBody>
          <a:bodyPr wrap="square" lIns="0" tIns="0" rIns="0" bIns="0" rtlCol="0" anchor="ctr"/>
          <a:lstStyle/>
          <a:p>
            <a:pPr marL="0" indent="0" algn="ctr">
              <a:buNone/>
            </a:pPr>
            <a:r>
              <a:rPr lang="en-US" sz="1750" b="1" dirty="0">
                <a:solidFill>
                  <a:srgbClr val="22D3EE"/>
                </a:solidFill>
                <a:latin typeface="Calibri" pitchFamily="34" charset="0"/>
                <a:ea typeface="Calibri" pitchFamily="34" charset="-122"/>
                <a:cs typeface="Calibri" pitchFamily="34" charset="-120"/>
              </a:rPr>
              <a:t>CD</a:t>
            </a:r>
            <a:endParaRPr lang="en-US" sz="1750" dirty="0"/>
          </a:p>
        </p:txBody>
      </p:sp>
      <p:sp>
        <p:nvSpPr>
          <p:cNvPr id="7" name="Text 5"/>
          <p:cNvSpPr txBox="1"/>
          <p:nvPr/>
        </p:nvSpPr>
        <p:spPr>
          <a:xfrm>
            <a:off x="685800" y="2331720"/>
            <a:ext cx="2423160" cy="502920"/>
          </a:xfrm>
          <a:prstGeom prst="rect">
            <a:avLst/>
          </a:prstGeom>
          <a:noFill/>
          <a:ln/>
        </p:spPr>
        <p:txBody>
          <a:bodyPr wrap="square" lIns="0" tIns="0" rIns="0" bIns="0" rtlCol="0" anchor="t"/>
          <a:lstStyle/>
          <a:p>
            <a:pPr marL="0" indent="0" algn="ctr">
              <a:buNone/>
            </a:pPr>
            <a:r>
              <a:rPr lang="en-US" sz="1550" b="1" dirty="0">
                <a:solidFill>
                  <a:srgbClr val="F5F7FA"/>
                </a:solidFill>
                <a:latin typeface="Calibri" pitchFamily="34" charset="0"/>
                <a:ea typeface="Calibri" pitchFamily="34" charset="-122"/>
                <a:cs typeface="Calibri" pitchFamily="34" charset="-120"/>
              </a:rPr>
              <a:t>Chintha Deepak</a:t>
            </a:r>
            <a:endParaRPr lang="en-US" sz="1550" dirty="0"/>
          </a:p>
        </p:txBody>
      </p:sp>
      <p:sp>
        <p:nvSpPr>
          <p:cNvPr id="8" name="Text 6"/>
          <p:cNvSpPr txBox="1"/>
          <p:nvPr/>
        </p:nvSpPr>
        <p:spPr>
          <a:xfrm>
            <a:off x="685800" y="2743200"/>
            <a:ext cx="2423160" cy="228600"/>
          </a:xfrm>
          <a:prstGeom prst="rect">
            <a:avLst/>
          </a:prstGeom>
          <a:noFill/>
          <a:ln/>
        </p:spPr>
        <p:txBody>
          <a:bodyPr wrap="square" lIns="0" tIns="0" rIns="0" bIns="0" rtlCol="0" anchor="ctr"/>
          <a:lstStyle/>
          <a:p>
            <a:pPr marL="0" indent="0" algn="ctr">
              <a:buNone/>
            </a:pPr>
            <a:r>
              <a:rPr lang="en-US" sz="1250" dirty="0">
                <a:solidFill>
                  <a:srgbClr val="6B7A99"/>
                </a:solidFill>
                <a:latin typeface="Calibri" pitchFamily="34" charset="0"/>
                <a:ea typeface="Calibri" pitchFamily="34" charset="-122"/>
                <a:cs typeface="Calibri" pitchFamily="34" charset="-120"/>
              </a:rPr>
              <a:t>ENG23RA0029</a:t>
            </a:r>
            <a:endParaRPr lang="en-US" sz="1250" dirty="0"/>
          </a:p>
        </p:txBody>
      </p:sp>
      <p:sp>
        <p:nvSpPr>
          <p:cNvPr id="9" name="Shape 7"/>
          <p:cNvSpPr/>
          <p:nvPr/>
        </p:nvSpPr>
        <p:spPr>
          <a:xfrm>
            <a:off x="822960" y="3063240"/>
            <a:ext cx="2148840" cy="0"/>
          </a:xfrm>
          <a:prstGeom prst="line">
            <a:avLst/>
          </a:prstGeom>
          <a:noFill/>
          <a:ln w="12700">
            <a:solidFill>
              <a:srgbClr val="2A3654"/>
            </a:solidFill>
            <a:prstDash val="solid"/>
          </a:ln>
        </p:spPr>
      </p:sp>
      <p:sp>
        <p:nvSpPr>
          <p:cNvPr id="10" name="Text 8"/>
          <p:cNvSpPr txBox="1"/>
          <p:nvPr/>
        </p:nvSpPr>
        <p:spPr>
          <a:xfrm>
            <a:off x="685800" y="3154680"/>
            <a:ext cx="2423160" cy="411480"/>
          </a:xfrm>
          <a:prstGeom prst="rect">
            <a:avLst/>
          </a:prstGeom>
          <a:noFill/>
          <a:ln/>
        </p:spPr>
        <p:txBody>
          <a:bodyPr wrap="square" lIns="0" tIns="0" rIns="0" bIns="0" rtlCol="0" anchor="ctr"/>
          <a:lstStyle/>
          <a:p>
            <a:pPr algn="ctr"/>
            <a:r>
              <a:rPr lang="en-US" sz="1400" b="1" dirty="0">
                <a:solidFill>
                  <a:srgbClr val="22D3EE"/>
                </a:solidFill>
                <a:latin typeface="Calibri" pitchFamily="34" charset="0"/>
                <a:ea typeface="Calibri" pitchFamily="34" charset="-122"/>
                <a:cs typeface="Calibri" pitchFamily="34" charset="-120"/>
              </a:rPr>
              <a:t> AI Integration, Computer Vision Sensor Fusion &amp; Hardware</a:t>
            </a:r>
            <a:endParaRPr lang="en-US" sz="1400" dirty="0"/>
          </a:p>
        </p:txBody>
      </p:sp>
      <p:sp>
        <p:nvSpPr>
          <p:cNvPr id="11" name="Text 9"/>
          <p:cNvSpPr txBox="1"/>
          <p:nvPr/>
        </p:nvSpPr>
        <p:spPr>
          <a:xfrm>
            <a:off x="749808" y="3730752"/>
            <a:ext cx="2295144" cy="1755648"/>
          </a:xfrm>
          <a:prstGeom prst="rect">
            <a:avLst/>
          </a:prstGeom>
          <a:noFill/>
          <a:ln/>
        </p:spPr>
        <p:txBody>
          <a:bodyPr wrap="square" lIns="0" tIns="0" rIns="0" bIns="0" rtlCol="0" anchor="ctr"/>
          <a:lstStyle/>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Overall architecture</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Adaptive AI pipeline</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AI integration</a:t>
            </a:r>
          </a:p>
          <a:p>
            <a:pPr>
              <a:lnSpc>
                <a:spcPct val="125000"/>
              </a:lnSpc>
            </a:pPr>
            <a:r>
              <a:rPr lang="en-US" sz="1300" dirty="0">
                <a:solidFill>
                  <a:srgbClr val="9AA5B8"/>
                </a:solidFill>
                <a:latin typeface="Calibri" pitchFamily="34" charset="0"/>
                <a:ea typeface="Calibri" pitchFamily="34" charset="-122"/>
                <a:cs typeface="Calibri" pitchFamily="34" charset="-120"/>
              </a:rPr>
              <a:t>•  LiDAR/Radar processing</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Object detection &amp; tracking </a:t>
            </a:r>
          </a:p>
          <a:p>
            <a:pPr>
              <a:lnSpc>
                <a:spcPct val="125000"/>
              </a:lnSpc>
            </a:pPr>
            <a:r>
              <a:rPr lang="en-US" sz="1300" dirty="0">
                <a:solidFill>
                  <a:srgbClr val="9AA5B8"/>
                </a:solidFill>
                <a:latin typeface="Calibri" pitchFamily="34" charset="0"/>
                <a:ea typeface="Calibri" pitchFamily="34" charset="-122"/>
                <a:cs typeface="Calibri" pitchFamily="34" charset="-120"/>
              </a:rPr>
              <a:t>•  V2X integration &amp; Hardware prototype</a:t>
            </a:r>
          </a:p>
          <a:p>
            <a:pPr marL="0" indent="0">
              <a:lnSpc>
                <a:spcPct val="125000"/>
              </a:lnSpc>
              <a:buNone/>
            </a:pPr>
            <a:endParaRPr lang="en-US" sz="1300" dirty="0"/>
          </a:p>
        </p:txBody>
      </p:sp>
      <p:sp>
        <p:nvSpPr>
          <p:cNvPr id="12" name="Shape 10"/>
          <p:cNvSpPr/>
          <p:nvPr/>
        </p:nvSpPr>
        <p:spPr>
          <a:xfrm>
            <a:off x="3364992" y="1417320"/>
            <a:ext cx="2697480" cy="4160520"/>
          </a:xfrm>
          <a:prstGeom prst="roundRect">
            <a:avLst>
              <a:gd name="adj" fmla="val 2712"/>
            </a:avLst>
          </a:prstGeom>
          <a:solidFill>
            <a:srgbClr val="141B33"/>
          </a:solidFill>
          <a:ln w="12700">
            <a:solidFill>
              <a:srgbClr val="2A3654"/>
            </a:solidFill>
            <a:prstDash val="solid"/>
          </a:ln>
        </p:spPr>
      </p:sp>
      <p:sp>
        <p:nvSpPr>
          <p:cNvPr id="13" name="Shape 11"/>
          <p:cNvSpPr/>
          <p:nvPr/>
        </p:nvSpPr>
        <p:spPr>
          <a:xfrm>
            <a:off x="4393692" y="1600200"/>
            <a:ext cx="640080" cy="640080"/>
          </a:xfrm>
          <a:prstGeom prst="ellipse">
            <a:avLst/>
          </a:prstGeom>
          <a:solidFill>
            <a:srgbClr val="243352"/>
          </a:solidFill>
          <a:ln w="15875">
            <a:solidFill>
              <a:srgbClr val="22D3EE"/>
            </a:solidFill>
            <a:prstDash val="solid"/>
          </a:ln>
        </p:spPr>
      </p:sp>
      <p:sp>
        <p:nvSpPr>
          <p:cNvPr id="14" name="Text 12"/>
          <p:cNvSpPr txBox="1"/>
          <p:nvPr/>
        </p:nvSpPr>
        <p:spPr>
          <a:xfrm>
            <a:off x="4393692" y="1581912"/>
            <a:ext cx="640080" cy="640080"/>
          </a:xfrm>
          <a:prstGeom prst="rect">
            <a:avLst/>
          </a:prstGeom>
          <a:noFill/>
          <a:ln/>
        </p:spPr>
        <p:txBody>
          <a:bodyPr wrap="square" lIns="0" tIns="0" rIns="0" bIns="0" rtlCol="0" anchor="ctr"/>
          <a:lstStyle/>
          <a:p>
            <a:pPr marL="0" indent="0" algn="ctr">
              <a:buNone/>
            </a:pPr>
            <a:r>
              <a:rPr lang="en-US" sz="1750" b="1" dirty="0">
                <a:solidFill>
                  <a:srgbClr val="22D3EE"/>
                </a:solidFill>
                <a:latin typeface="Calibri" pitchFamily="34" charset="0"/>
                <a:ea typeface="Calibri" pitchFamily="34" charset="-122"/>
                <a:cs typeface="Calibri" pitchFamily="34" charset="-120"/>
              </a:rPr>
              <a:t>HP</a:t>
            </a:r>
            <a:endParaRPr lang="en-US" sz="1750" dirty="0"/>
          </a:p>
        </p:txBody>
      </p:sp>
      <p:sp>
        <p:nvSpPr>
          <p:cNvPr id="15" name="Text 13"/>
          <p:cNvSpPr txBox="1"/>
          <p:nvPr/>
        </p:nvSpPr>
        <p:spPr>
          <a:xfrm>
            <a:off x="3502152" y="2331720"/>
            <a:ext cx="2423160" cy="502920"/>
          </a:xfrm>
          <a:prstGeom prst="rect">
            <a:avLst/>
          </a:prstGeom>
          <a:noFill/>
          <a:ln/>
        </p:spPr>
        <p:txBody>
          <a:bodyPr wrap="square" lIns="0" tIns="0" rIns="0" bIns="0" rtlCol="0" anchor="t"/>
          <a:lstStyle/>
          <a:p>
            <a:pPr marL="0" indent="0" algn="ctr">
              <a:buNone/>
            </a:pPr>
            <a:r>
              <a:rPr lang="en-US" sz="1550" b="1" dirty="0">
                <a:solidFill>
                  <a:srgbClr val="F5F7FA"/>
                </a:solidFill>
                <a:latin typeface="Calibri" pitchFamily="34" charset="0"/>
                <a:ea typeface="Calibri" pitchFamily="34" charset="-122"/>
                <a:cs typeface="Calibri" pitchFamily="34" charset="-120"/>
              </a:rPr>
              <a:t>Harshitha P</a:t>
            </a:r>
            <a:endParaRPr lang="en-US" sz="1550" dirty="0"/>
          </a:p>
        </p:txBody>
      </p:sp>
      <p:sp>
        <p:nvSpPr>
          <p:cNvPr id="16" name="Text 14"/>
          <p:cNvSpPr txBox="1"/>
          <p:nvPr/>
        </p:nvSpPr>
        <p:spPr>
          <a:xfrm>
            <a:off x="3502152" y="2743200"/>
            <a:ext cx="2423160" cy="228600"/>
          </a:xfrm>
          <a:prstGeom prst="rect">
            <a:avLst/>
          </a:prstGeom>
          <a:noFill/>
          <a:ln/>
        </p:spPr>
        <p:txBody>
          <a:bodyPr wrap="square" lIns="0" tIns="0" rIns="0" bIns="0" rtlCol="0" anchor="ctr"/>
          <a:lstStyle/>
          <a:p>
            <a:pPr marL="0" indent="0" algn="ctr">
              <a:buNone/>
            </a:pPr>
            <a:r>
              <a:rPr lang="en-US" sz="1250" dirty="0">
                <a:solidFill>
                  <a:srgbClr val="6B7A99"/>
                </a:solidFill>
                <a:latin typeface="Calibri" pitchFamily="34" charset="0"/>
                <a:ea typeface="Calibri" pitchFamily="34" charset="-122"/>
                <a:cs typeface="Calibri" pitchFamily="34" charset="-120"/>
              </a:rPr>
              <a:t>ENG23RA0008</a:t>
            </a:r>
            <a:endParaRPr lang="en-US" sz="1250" dirty="0"/>
          </a:p>
        </p:txBody>
      </p:sp>
      <p:sp>
        <p:nvSpPr>
          <p:cNvPr id="17" name="Shape 15"/>
          <p:cNvSpPr/>
          <p:nvPr/>
        </p:nvSpPr>
        <p:spPr>
          <a:xfrm>
            <a:off x="3639312" y="3063240"/>
            <a:ext cx="2148840" cy="0"/>
          </a:xfrm>
          <a:prstGeom prst="line">
            <a:avLst/>
          </a:prstGeom>
          <a:noFill/>
          <a:ln w="12700">
            <a:solidFill>
              <a:srgbClr val="2A3654"/>
            </a:solidFill>
            <a:prstDash val="solid"/>
          </a:ln>
        </p:spPr>
      </p:sp>
      <p:sp>
        <p:nvSpPr>
          <p:cNvPr id="18" name="Text 16"/>
          <p:cNvSpPr txBox="1"/>
          <p:nvPr/>
        </p:nvSpPr>
        <p:spPr>
          <a:xfrm>
            <a:off x="3502152" y="3154680"/>
            <a:ext cx="2423160" cy="365760"/>
          </a:xfrm>
          <a:prstGeom prst="rect">
            <a:avLst/>
          </a:prstGeom>
          <a:noFill/>
          <a:ln/>
        </p:spPr>
        <p:txBody>
          <a:bodyPr wrap="square" lIns="0" tIns="0" rIns="0" bIns="0" rtlCol="0" anchor="ctr"/>
          <a:lstStyle/>
          <a:p>
            <a:pPr marL="0" indent="0" algn="ctr">
              <a:buNone/>
            </a:pPr>
            <a:r>
              <a:rPr lang="en-US" sz="1400" b="1" dirty="0">
                <a:solidFill>
                  <a:srgbClr val="22D3EE"/>
                </a:solidFill>
                <a:latin typeface="Calibri" pitchFamily="34" charset="0"/>
                <a:ea typeface="Calibri" pitchFamily="34" charset="-122"/>
                <a:cs typeface="Calibri" pitchFamily="34" charset="-120"/>
              </a:rPr>
              <a:t>Computer Vision &amp; Perception</a:t>
            </a:r>
            <a:endParaRPr lang="en-US" sz="1400" dirty="0"/>
          </a:p>
        </p:txBody>
      </p:sp>
      <p:sp>
        <p:nvSpPr>
          <p:cNvPr id="19" name="Text 17"/>
          <p:cNvSpPr txBox="1"/>
          <p:nvPr/>
        </p:nvSpPr>
        <p:spPr>
          <a:xfrm>
            <a:off x="3566160" y="3566160"/>
            <a:ext cx="2295144" cy="1920240"/>
          </a:xfrm>
          <a:prstGeom prst="rect">
            <a:avLst/>
          </a:prstGeom>
          <a:noFill/>
          <a:ln/>
        </p:spPr>
        <p:txBody>
          <a:bodyPr wrap="square" lIns="0" tIns="0" rIns="0" bIns="0" rtlCol="0" anchor="ctr"/>
          <a:lstStyle/>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Camera pipeline</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Object detection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Object tracking</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Lane perception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Perception evaluation</a:t>
            </a:r>
            <a:endParaRPr lang="en-US" sz="1300" dirty="0"/>
          </a:p>
        </p:txBody>
      </p:sp>
      <p:sp>
        <p:nvSpPr>
          <p:cNvPr id="20" name="Shape 18"/>
          <p:cNvSpPr/>
          <p:nvPr/>
        </p:nvSpPr>
        <p:spPr>
          <a:xfrm>
            <a:off x="6181344" y="1417320"/>
            <a:ext cx="2697480" cy="4160520"/>
          </a:xfrm>
          <a:prstGeom prst="roundRect">
            <a:avLst>
              <a:gd name="adj" fmla="val 2712"/>
            </a:avLst>
          </a:prstGeom>
          <a:solidFill>
            <a:srgbClr val="141B33"/>
          </a:solidFill>
          <a:ln w="12700">
            <a:solidFill>
              <a:srgbClr val="2A3654"/>
            </a:solidFill>
            <a:prstDash val="solid"/>
          </a:ln>
        </p:spPr>
      </p:sp>
      <p:sp>
        <p:nvSpPr>
          <p:cNvPr id="21" name="Shape 19"/>
          <p:cNvSpPr/>
          <p:nvPr/>
        </p:nvSpPr>
        <p:spPr>
          <a:xfrm>
            <a:off x="7210044" y="1600200"/>
            <a:ext cx="640080" cy="640080"/>
          </a:xfrm>
          <a:prstGeom prst="ellipse">
            <a:avLst/>
          </a:prstGeom>
          <a:solidFill>
            <a:srgbClr val="243352"/>
          </a:solidFill>
          <a:ln w="15875">
            <a:solidFill>
              <a:srgbClr val="22D3EE"/>
            </a:solidFill>
            <a:prstDash val="solid"/>
          </a:ln>
        </p:spPr>
      </p:sp>
      <p:sp>
        <p:nvSpPr>
          <p:cNvPr id="22" name="Text 20"/>
          <p:cNvSpPr txBox="1"/>
          <p:nvPr/>
        </p:nvSpPr>
        <p:spPr>
          <a:xfrm>
            <a:off x="7210044" y="1581912"/>
            <a:ext cx="640080" cy="640080"/>
          </a:xfrm>
          <a:prstGeom prst="rect">
            <a:avLst/>
          </a:prstGeom>
          <a:noFill/>
          <a:ln/>
        </p:spPr>
        <p:txBody>
          <a:bodyPr wrap="square" lIns="0" tIns="0" rIns="0" bIns="0" rtlCol="0" anchor="ctr"/>
          <a:lstStyle/>
          <a:p>
            <a:pPr marL="0" indent="0" algn="ctr">
              <a:buNone/>
            </a:pPr>
            <a:r>
              <a:rPr lang="en-US" sz="1750" b="1" dirty="0">
                <a:solidFill>
                  <a:srgbClr val="22D3EE"/>
                </a:solidFill>
                <a:latin typeface="Calibri" pitchFamily="34" charset="0"/>
                <a:ea typeface="Calibri" pitchFamily="34" charset="-122"/>
                <a:cs typeface="Calibri" pitchFamily="34" charset="-120"/>
              </a:rPr>
              <a:t>DS</a:t>
            </a:r>
            <a:endParaRPr lang="en-US" sz="1750" dirty="0"/>
          </a:p>
        </p:txBody>
      </p:sp>
      <p:sp>
        <p:nvSpPr>
          <p:cNvPr id="23" name="Text 21"/>
          <p:cNvSpPr txBox="1"/>
          <p:nvPr/>
        </p:nvSpPr>
        <p:spPr>
          <a:xfrm>
            <a:off x="6318504" y="2331720"/>
            <a:ext cx="2423160" cy="502920"/>
          </a:xfrm>
          <a:prstGeom prst="rect">
            <a:avLst/>
          </a:prstGeom>
          <a:noFill/>
          <a:ln/>
        </p:spPr>
        <p:txBody>
          <a:bodyPr wrap="square" lIns="0" tIns="0" rIns="0" bIns="0" rtlCol="0" anchor="t"/>
          <a:lstStyle/>
          <a:p>
            <a:pPr marL="0" indent="0" algn="ctr">
              <a:buNone/>
            </a:pPr>
            <a:r>
              <a:rPr lang="en-US" sz="1550" b="1" dirty="0">
                <a:solidFill>
                  <a:srgbClr val="F5F7FA"/>
                </a:solidFill>
                <a:latin typeface="Calibri" pitchFamily="34" charset="0"/>
                <a:ea typeface="Calibri" pitchFamily="34" charset="-122"/>
                <a:cs typeface="Calibri" pitchFamily="34" charset="-120"/>
              </a:rPr>
              <a:t>Dhanush S</a:t>
            </a:r>
            <a:endParaRPr lang="en-US" sz="1550" dirty="0"/>
          </a:p>
        </p:txBody>
      </p:sp>
      <p:sp>
        <p:nvSpPr>
          <p:cNvPr id="24" name="Text 22"/>
          <p:cNvSpPr txBox="1"/>
          <p:nvPr/>
        </p:nvSpPr>
        <p:spPr>
          <a:xfrm>
            <a:off x="6318504" y="2743200"/>
            <a:ext cx="2423160" cy="228600"/>
          </a:xfrm>
          <a:prstGeom prst="rect">
            <a:avLst/>
          </a:prstGeom>
          <a:noFill/>
          <a:ln/>
        </p:spPr>
        <p:txBody>
          <a:bodyPr wrap="square" lIns="0" tIns="0" rIns="0" bIns="0" rtlCol="0" anchor="ctr"/>
          <a:lstStyle/>
          <a:p>
            <a:pPr marL="0" indent="0" algn="ctr">
              <a:buNone/>
            </a:pPr>
            <a:r>
              <a:rPr lang="en-US" sz="1250" dirty="0">
                <a:solidFill>
                  <a:srgbClr val="6B7A99"/>
                </a:solidFill>
                <a:latin typeface="Calibri" pitchFamily="34" charset="0"/>
                <a:ea typeface="Calibri" pitchFamily="34" charset="-122"/>
                <a:cs typeface="Calibri" pitchFamily="34" charset="-120"/>
              </a:rPr>
              <a:t>ENG23RA0030</a:t>
            </a:r>
            <a:endParaRPr lang="en-US" sz="1250" dirty="0"/>
          </a:p>
        </p:txBody>
      </p:sp>
      <p:sp>
        <p:nvSpPr>
          <p:cNvPr id="25" name="Shape 23"/>
          <p:cNvSpPr/>
          <p:nvPr/>
        </p:nvSpPr>
        <p:spPr>
          <a:xfrm>
            <a:off x="6455664" y="3063240"/>
            <a:ext cx="2148840" cy="0"/>
          </a:xfrm>
          <a:prstGeom prst="line">
            <a:avLst/>
          </a:prstGeom>
          <a:noFill/>
          <a:ln w="12700">
            <a:solidFill>
              <a:srgbClr val="2A3654"/>
            </a:solidFill>
            <a:prstDash val="solid"/>
          </a:ln>
        </p:spPr>
      </p:sp>
      <p:sp>
        <p:nvSpPr>
          <p:cNvPr id="26" name="Text 24"/>
          <p:cNvSpPr txBox="1"/>
          <p:nvPr/>
        </p:nvSpPr>
        <p:spPr>
          <a:xfrm>
            <a:off x="6318504" y="3154680"/>
            <a:ext cx="2423160" cy="365760"/>
          </a:xfrm>
          <a:prstGeom prst="rect">
            <a:avLst/>
          </a:prstGeom>
          <a:noFill/>
          <a:ln/>
        </p:spPr>
        <p:txBody>
          <a:bodyPr wrap="square" lIns="0" tIns="0" rIns="0" bIns="0" rtlCol="0" anchor="ctr"/>
          <a:lstStyle/>
          <a:p>
            <a:pPr marL="0" indent="0" algn="ctr">
              <a:buNone/>
            </a:pPr>
            <a:r>
              <a:rPr lang="en-US" sz="1400" b="1" dirty="0">
                <a:solidFill>
                  <a:srgbClr val="22D3EE"/>
                </a:solidFill>
                <a:latin typeface="Calibri" pitchFamily="34" charset="0"/>
                <a:ea typeface="Calibri" pitchFamily="34" charset="-122"/>
                <a:cs typeface="Calibri" pitchFamily="34" charset="-120"/>
              </a:rPr>
              <a:t>Sensor Fusion &amp; Risk Intelligence</a:t>
            </a:r>
            <a:endParaRPr lang="en-US" sz="1400" dirty="0"/>
          </a:p>
        </p:txBody>
      </p:sp>
      <p:sp>
        <p:nvSpPr>
          <p:cNvPr id="27" name="Text 25"/>
          <p:cNvSpPr txBox="1"/>
          <p:nvPr/>
        </p:nvSpPr>
        <p:spPr>
          <a:xfrm>
            <a:off x="6382512" y="3566160"/>
            <a:ext cx="2295144" cy="1920240"/>
          </a:xfrm>
          <a:prstGeom prst="rect">
            <a:avLst/>
          </a:prstGeom>
          <a:noFill/>
          <a:ln/>
        </p:spPr>
        <p:txBody>
          <a:bodyPr wrap="square" lIns="0" tIns="0" rIns="0" bIns="0" rtlCol="0" anchor="ctr"/>
          <a:lstStyle/>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LiDAR/Radar processing</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Sensor reliability</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Uncertainty estimation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Sensor disagreement</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Adaptive fusion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Risk assessment</a:t>
            </a:r>
            <a:endParaRPr lang="en-US" sz="1300" dirty="0"/>
          </a:p>
        </p:txBody>
      </p:sp>
      <p:sp>
        <p:nvSpPr>
          <p:cNvPr id="28" name="Shape 26"/>
          <p:cNvSpPr/>
          <p:nvPr/>
        </p:nvSpPr>
        <p:spPr>
          <a:xfrm>
            <a:off x="8997696" y="1417320"/>
            <a:ext cx="2697480" cy="4160520"/>
          </a:xfrm>
          <a:prstGeom prst="roundRect">
            <a:avLst>
              <a:gd name="adj" fmla="val 2712"/>
            </a:avLst>
          </a:prstGeom>
          <a:solidFill>
            <a:srgbClr val="141B33"/>
          </a:solidFill>
          <a:ln w="12700">
            <a:solidFill>
              <a:srgbClr val="2A3654"/>
            </a:solidFill>
            <a:prstDash val="solid"/>
          </a:ln>
        </p:spPr>
      </p:sp>
      <p:sp>
        <p:nvSpPr>
          <p:cNvPr id="29" name="Shape 27"/>
          <p:cNvSpPr/>
          <p:nvPr/>
        </p:nvSpPr>
        <p:spPr>
          <a:xfrm>
            <a:off x="10026396" y="1600200"/>
            <a:ext cx="640080" cy="640080"/>
          </a:xfrm>
          <a:prstGeom prst="ellipse">
            <a:avLst/>
          </a:prstGeom>
          <a:solidFill>
            <a:srgbClr val="243352"/>
          </a:solidFill>
          <a:ln w="15875">
            <a:solidFill>
              <a:srgbClr val="22D3EE"/>
            </a:solidFill>
            <a:prstDash val="solid"/>
          </a:ln>
        </p:spPr>
      </p:sp>
      <p:sp>
        <p:nvSpPr>
          <p:cNvPr id="30" name="Text 28"/>
          <p:cNvSpPr txBox="1"/>
          <p:nvPr/>
        </p:nvSpPr>
        <p:spPr>
          <a:xfrm>
            <a:off x="10026396" y="1581912"/>
            <a:ext cx="640080" cy="640080"/>
          </a:xfrm>
          <a:prstGeom prst="rect">
            <a:avLst/>
          </a:prstGeom>
          <a:noFill/>
          <a:ln/>
        </p:spPr>
        <p:txBody>
          <a:bodyPr wrap="square" lIns="0" tIns="0" rIns="0" bIns="0" rtlCol="0" anchor="ctr"/>
          <a:lstStyle/>
          <a:p>
            <a:pPr marL="0" indent="0" algn="ctr">
              <a:buNone/>
            </a:pPr>
            <a:r>
              <a:rPr lang="en-US" sz="1750" b="1" dirty="0">
                <a:solidFill>
                  <a:srgbClr val="22D3EE"/>
                </a:solidFill>
                <a:latin typeface="Calibri" pitchFamily="34" charset="0"/>
                <a:ea typeface="Calibri" pitchFamily="34" charset="-122"/>
                <a:cs typeface="Calibri" pitchFamily="34" charset="-120"/>
              </a:rPr>
              <a:t>MN</a:t>
            </a:r>
            <a:endParaRPr lang="en-US" sz="1750" dirty="0"/>
          </a:p>
        </p:txBody>
      </p:sp>
      <p:sp>
        <p:nvSpPr>
          <p:cNvPr id="31" name="Text 29"/>
          <p:cNvSpPr txBox="1"/>
          <p:nvPr/>
        </p:nvSpPr>
        <p:spPr>
          <a:xfrm>
            <a:off x="9134856" y="2331720"/>
            <a:ext cx="2423160" cy="502920"/>
          </a:xfrm>
          <a:prstGeom prst="rect">
            <a:avLst/>
          </a:prstGeom>
          <a:noFill/>
          <a:ln/>
        </p:spPr>
        <p:txBody>
          <a:bodyPr wrap="square" lIns="0" tIns="0" rIns="0" bIns="0" rtlCol="0" anchor="t"/>
          <a:lstStyle/>
          <a:p>
            <a:pPr marL="0" indent="0" algn="ctr">
              <a:buNone/>
            </a:pPr>
            <a:r>
              <a:rPr lang="en-US" sz="1550" b="1" dirty="0">
                <a:solidFill>
                  <a:srgbClr val="F5F7FA"/>
                </a:solidFill>
                <a:latin typeface="Calibri" pitchFamily="34" charset="0"/>
                <a:ea typeface="Calibri" pitchFamily="34" charset="-122"/>
                <a:cs typeface="Calibri" pitchFamily="34" charset="-120"/>
              </a:rPr>
              <a:t>M N S J Sreekar</a:t>
            </a:r>
            <a:endParaRPr lang="en-US" sz="1550" dirty="0"/>
          </a:p>
        </p:txBody>
      </p:sp>
      <p:sp>
        <p:nvSpPr>
          <p:cNvPr id="32" name="Text 30"/>
          <p:cNvSpPr txBox="1"/>
          <p:nvPr/>
        </p:nvSpPr>
        <p:spPr>
          <a:xfrm>
            <a:off x="9134856" y="2743200"/>
            <a:ext cx="2423160" cy="228600"/>
          </a:xfrm>
          <a:prstGeom prst="rect">
            <a:avLst/>
          </a:prstGeom>
          <a:noFill/>
          <a:ln/>
        </p:spPr>
        <p:txBody>
          <a:bodyPr wrap="square" lIns="0" tIns="0" rIns="0" bIns="0" rtlCol="0" anchor="ctr"/>
          <a:lstStyle/>
          <a:p>
            <a:pPr marL="0" indent="0" algn="ctr">
              <a:buNone/>
            </a:pPr>
            <a:r>
              <a:rPr lang="en-US" sz="1250" dirty="0">
                <a:solidFill>
                  <a:srgbClr val="6B7A99"/>
                </a:solidFill>
                <a:latin typeface="Calibri" pitchFamily="34" charset="0"/>
                <a:ea typeface="Calibri" pitchFamily="34" charset="-122"/>
                <a:cs typeface="Calibri" pitchFamily="34" charset="-120"/>
              </a:rPr>
              <a:t>ENG23RA0033</a:t>
            </a:r>
            <a:endParaRPr lang="en-US" sz="1250" dirty="0"/>
          </a:p>
        </p:txBody>
      </p:sp>
      <p:sp>
        <p:nvSpPr>
          <p:cNvPr id="33" name="Shape 31"/>
          <p:cNvSpPr/>
          <p:nvPr/>
        </p:nvSpPr>
        <p:spPr>
          <a:xfrm>
            <a:off x="9272016" y="3063240"/>
            <a:ext cx="2148840" cy="0"/>
          </a:xfrm>
          <a:prstGeom prst="line">
            <a:avLst/>
          </a:prstGeom>
          <a:noFill/>
          <a:ln w="12700">
            <a:solidFill>
              <a:srgbClr val="2A3654"/>
            </a:solidFill>
            <a:prstDash val="solid"/>
          </a:ln>
        </p:spPr>
      </p:sp>
      <p:sp>
        <p:nvSpPr>
          <p:cNvPr id="34" name="Text 32"/>
          <p:cNvSpPr txBox="1"/>
          <p:nvPr/>
        </p:nvSpPr>
        <p:spPr>
          <a:xfrm>
            <a:off x="9134856" y="3154680"/>
            <a:ext cx="2423160" cy="365760"/>
          </a:xfrm>
          <a:prstGeom prst="rect">
            <a:avLst/>
          </a:prstGeom>
          <a:noFill/>
          <a:ln/>
        </p:spPr>
        <p:txBody>
          <a:bodyPr wrap="square" lIns="0" tIns="0" rIns="0" bIns="0" rtlCol="0" anchor="ctr"/>
          <a:lstStyle/>
          <a:p>
            <a:pPr marL="0" indent="0" algn="ctr">
              <a:buNone/>
            </a:pPr>
            <a:r>
              <a:rPr lang="en-US" sz="1400" b="1" dirty="0">
                <a:solidFill>
                  <a:srgbClr val="22D3EE"/>
                </a:solidFill>
                <a:latin typeface="Calibri" pitchFamily="34" charset="0"/>
                <a:ea typeface="Calibri" pitchFamily="34" charset="-122"/>
                <a:cs typeface="Calibri" pitchFamily="34" charset="-120"/>
              </a:rPr>
              <a:t>ROS 2, Planning &amp; Hardware</a:t>
            </a:r>
            <a:endParaRPr lang="en-US" sz="1400" dirty="0"/>
          </a:p>
        </p:txBody>
      </p:sp>
      <p:sp>
        <p:nvSpPr>
          <p:cNvPr id="35" name="Text 33"/>
          <p:cNvSpPr txBox="1"/>
          <p:nvPr/>
        </p:nvSpPr>
        <p:spPr>
          <a:xfrm>
            <a:off x="9198864" y="3566160"/>
            <a:ext cx="2295144" cy="1920240"/>
          </a:xfrm>
          <a:prstGeom prst="rect">
            <a:avLst/>
          </a:prstGeom>
          <a:noFill/>
          <a:ln/>
        </p:spPr>
        <p:txBody>
          <a:bodyPr wrap="square" lIns="0" tIns="0" rIns="0" bIns="0" rtlCol="0" anchor="ctr"/>
          <a:lstStyle/>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ROS 2 integration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Path planning</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Vehicle control</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V2X integration</a:t>
            </a:r>
            <a:endParaRPr lang="en-US" sz="1300" dirty="0"/>
          </a:p>
          <a:p>
            <a:pPr marL="0" indent="0">
              <a:lnSpc>
                <a:spcPct val="125000"/>
              </a:lnSpc>
              <a:buNone/>
            </a:pPr>
            <a:r>
              <a:rPr lang="en-US" sz="1300" dirty="0">
                <a:solidFill>
                  <a:srgbClr val="9AA5B8"/>
                </a:solidFill>
                <a:latin typeface="Calibri" pitchFamily="34" charset="0"/>
                <a:ea typeface="Calibri" pitchFamily="34" charset="-122"/>
                <a:cs typeface="Calibri" pitchFamily="34" charset="-120"/>
              </a:rPr>
              <a:t>•  Hardware prototype</a:t>
            </a:r>
            <a:endParaRPr lang="en-US" sz="1300" dirty="0"/>
          </a:p>
        </p:txBody>
      </p:sp>
      <p:sp>
        <p:nvSpPr>
          <p:cNvPr id="36" name="Shape 34"/>
          <p:cNvSpPr/>
          <p:nvPr/>
        </p:nvSpPr>
        <p:spPr>
          <a:xfrm>
            <a:off x="548640" y="5742432"/>
            <a:ext cx="11064240" cy="566928"/>
          </a:xfrm>
          <a:prstGeom prst="roundRect">
            <a:avLst>
              <a:gd name="adj" fmla="val 9677"/>
            </a:avLst>
          </a:prstGeom>
          <a:solidFill>
            <a:srgbClr val="243352"/>
          </a:solidFill>
          <a:ln/>
        </p:spPr>
      </p:sp>
      <p:sp>
        <p:nvSpPr>
          <p:cNvPr id="37" name="Text 35"/>
          <p:cNvSpPr txBox="1"/>
          <p:nvPr/>
        </p:nvSpPr>
        <p:spPr>
          <a:xfrm>
            <a:off x="731520" y="5742432"/>
            <a:ext cx="10698480" cy="566928"/>
          </a:xfrm>
          <a:prstGeom prst="rect">
            <a:avLst/>
          </a:prstGeom>
          <a:noFill/>
          <a:ln/>
        </p:spPr>
        <p:txBody>
          <a:bodyPr wrap="square" lIns="0" tIns="0" rIns="0" bIns="0" rtlCol="0" anchor="ctr"/>
          <a:lstStyle/>
          <a:p>
            <a:pPr marL="0" indent="0">
              <a:buNone/>
            </a:pPr>
            <a:r>
              <a:rPr lang="en-US" sz="1250" i="1" dirty="0">
                <a:solidFill>
                  <a:srgbClr val="9AA5B8"/>
                </a:solidFill>
                <a:latin typeface="Calibri" pitchFamily="34" charset="0"/>
                <a:ea typeface="Calibri" pitchFamily="34" charset="-122"/>
                <a:cs typeface="Calibri" pitchFamily="34" charset="-120"/>
              </a:rPr>
              <a:t>Responsibilities are divided for development efficiency, but every member is expected to understand the complete system for individual evaluation.  |  Proposed / Planned Individual Contributions — Zeroth Stage.</a:t>
            </a:r>
            <a:endParaRPr lang="en-US" sz="1250" dirty="0"/>
          </a:p>
        </p:txBody>
      </p:sp>
      <p:sp>
        <p:nvSpPr>
          <p:cNvPr id="38" name="Text 36"/>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11 / 13</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IP LANDSCAPE</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IP Potential, Patentability &amp; Publication Potential</a:t>
            </a:r>
            <a:endParaRPr lang="en-US" sz="3000" dirty="0"/>
          </a:p>
        </p:txBody>
      </p:sp>
      <p:sp>
        <p:nvSpPr>
          <p:cNvPr id="4" name="Shape 2"/>
          <p:cNvSpPr/>
          <p:nvPr/>
        </p:nvSpPr>
        <p:spPr>
          <a:xfrm>
            <a:off x="548640" y="1417320"/>
            <a:ext cx="5440680" cy="3246120"/>
          </a:xfrm>
          <a:prstGeom prst="roundRect">
            <a:avLst>
              <a:gd name="adj" fmla="val 2254"/>
            </a:avLst>
          </a:prstGeom>
          <a:solidFill>
            <a:srgbClr val="141B33"/>
          </a:solidFill>
          <a:ln w="12700">
            <a:solidFill>
              <a:srgbClr val="2A3654"/>
            </a:solidFill>
            <a:prstDash val="solid"/>
          </a:ln>
        </p:spPr>
      </p:sp>
      <p:sp>
        <p:nvSpPr>
          <p:cNvPr id="5" name="Text 3"/>
          <p:cNvSpPr txBox="1"/>
          <p:nvPr/>
        </p:nvSpPr>
        <p:spPr>
          <a:xfrm>
            <a:off x="749808" y="1536192"/>
            <a:ext cx="5029200"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Patent / IP Potential</a:t>
            </a:r>
            <a:endParaRPr lang="en-US" sz="1600" dirty="0"/>
          </a:p>
        </p:txBody>
      </p:sp>
      <p:sp>
        <p:nvSpPr>
          <p:cNvPr id="6" name="Text 4"/>
          <p:cNvSpPr txBox="1"/>
          <p:nvPr/>
        </p:nvSpPr>
        <p:spPr>
          <a:xfrm>
            <a:off x="749808" y="1874520"/>
            <a:ext cx="5029200" cy="1234440"/>
          </a:xfrm>
          <a:prstGeom prst="rect">
            <a:avLst/>
          </a:prstGeom>
          <a:noFill/>
          <a:ln/>
        </p:spPr>
        <p:txBody>
          <a:bodyPr wrap="square" lIns="0" tIns="0" rIns="0" bIns="0" rtlCol="0" anchor="ctr"/>
          <a:lstStyle/>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Dynamic sensor reliability estimation mechanism</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Adaptive sensor-fusion weighting</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Reliability-aware risk computation</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Sensor degradation response</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Integrated adaptive decision pipeline</a:t>
            </a:r>
            <a:endParaRPr lang="en-US" sz="1350" dirty="0"/>
          </a:p>
        </p:txBody>
      </p:sp>
      <p:sp>
        <p:nvSpPr>
          <p:cNvPr id="7" name="Text 5"/>
          <p:cNvSpPr txBox="1"/>
          <p:nvPr/>
        </p:nvSpPr>
        <p:spPr>
          <a:xfrm>
            <a:off x="749808" y="3254680"/>
            <a:ext cx="5029200" cy="1005840"/>
          </a:xfrm>
          <a:prstGeom prst="rect">
            <a:avLst/>
          </a:prstGeom>
          <a:noFill/>
          <a:ln/>
        </p:spPr>
        <p:txBody>
          <a:bodyPr wrap="square" lIns="0" tIns="0" rIns="0" bIns="0" rtlCol="0" anchor="ctr"/>
          <a:lstStyle/>
          <a:p>
            <a:pPr marL="0" indent="0">
              <a:lnSpc>
                <a:spcPct val="120000"/>
              </a:lnSpc>
              <a:buNone/>
            </a:pPr>
            <a:r>
              <a:rPr lang="en-US" sz="1250" dirty="0">
                <a:solidFill>
                  <a:srgbClr val="9AA5B8"/>
                </a:solidFill>
                <a:latin typeface="Calibri" pitchFamily="34" charset="0"/>
                <a:ea typeface="Calibri" pitchFamily="34" charset="-122"/>
                <a:cs typeface="Calibri" pitchFamily="34" charset="-120"/>
              </a:rPr>
              <a:t>Potential IP would need to be defined around a specific technical mechanism, implementation and claim scope. Prior-art patents already exist in areas such as autonomous-vehicle reliability assessment and camera/radar/laser sensor fusion — see Backup B. We do not claim broad ownership of sensor fusion or reliability assessment.</a:t>
            </a:r>
            <a:endParaRPr lang="en-US" sz="1250" dirty="0"/>
          </a:p>
        </p:txBody>
      </p:sp>
      <p:sp>
        <p:nvSpPr>
          <p:cNvPr id="10" name="Shape 8"/>
          <p:cNvSpPr/>
          <p:nvPr/>
        </p:nvSpPr>
        <p:spPr>
          <a:xfrm>
            <a:off x="6172200" y="1417320"/>
            <a:ext cx="5440680" cy="3246120"/>
          </a:xfrm>
          <a:prstGeom prst="roundRect">
            <a:avLst>
              <a:gd name="adj" fmla="val 2254"/>
            </a:avLst>
          </a:prstGeom>
          <a:solidFill>
            <a:srgbClr val="141B33"/>
          </a:solidFill>
          <a:ln w="12700">
            <a:solidFill>
              <a:srgbClr val="2A3654"/>
            </a:solidFill>
            <a:prstDash val="solid"/>
          </a:ln>
        </p:spPr>
      </p:sp>
      <p:sp>
        <p:nvSpPr>
          <p:cNvPr id="11" name="Text 9"/>
          <p:cNvSpPr txBox="1"/>
          <p:nvPr/>
        </p:nvSpPr>
        <p:spPr>
          <a:xfrm>
            <a:off x="6373368" y="1536192"/>
            <a:ext cx="5029200"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Publication Potential</a:t>
            </a:r>
            <a:endParaRPr lang="en-US" sz="1600" dirty="0"/>
          </a:p>
        </p:txBody>
      </p:sp>
      <p:sp>
        <p:nvSpPr>
          <p:cNvPr id="12" name="Text 10"/>
          <p:cNvSpPr txBox="1"/>
          <p:nvPr/>
        </p:nvSpPr>
        <p:spPr>
          <a:xfrm>
            <a:off x="6373368" y="1901952"/>
            <a:ext cx="5029200" cy="228600"/>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Potential paper direction:</a:t>
            </a:r>
            <a:endParaRPr lang="en-US" sz="1300" dirty="0"/>
          </a:p>
        </p:txBody>
      </p:sp>
      <p:sp>
        <p:nvSpPr>
          <p:cNvPr id="13" name="Text 11"/>
          <p:cNvSpPr txBox="1"/>
          <p:nvPr/>
        </p:nvSpPr>
        <p:spPr>
          <a:xfrm>
            <a:off x="6373368" y="2148840"/>
            <a:ext cx="5029200" cy="548640"/>
          </a:xfrm>
          <a:prstGeom prst="rect">
            <a:avLst/>
          </a:prstGeom>
          <a:noFill/>
          <a:ln/>
        </p:spPr>
        <p:txBody>
          <a:bodyPr wrap="square" lIns="0" tIns="0" rIns="0" bIns="0" rtlCol="0" anchor="ctr"/>
          <a:lstStyle/>
          <a:p>
            <a:pPr marL="0" indent="0">
              <a:buNone/>
            </a:pPr>
            <a:r>
              <a:rPr lang="en-US" sz="1350" i="1" dirty="0">
                <a:solidFill>
                  <a:srgbClr val="F5F7FA"/>
                </a:solidFill>
                <a:latin typeface="Calibri" pitchFamily="34" charset="0"/>
                <a:ea typeface="Calibri" pitchFamily="34" charset="-122"/>
                <a:cs typeface="Calibri" pitchFamily="34" charset="-120"/>
              </a:rPr>
              <a:t>"Experimental Evaluation of an Adaptive Reliability- and Uncertainty-Aware Sensor Fusion Framework for Risk-Aware Autonomous Driving"</a:t>
            </a:r>
            <a:endParaRPr lang="en-US" sz="1350" dirty="0"/>
          </a:p>
        </p:txBody>
      </p:sp>
      <p:sp>
        <p:nvSpPr>
          <p:cNvPr id="14" name="Text 12"/>
          <p:cNvSpPr txBox="1"/>
          <p:nvPr/>
        </p:nvSpPr>
        <p:spPr>
          <a:xfrm>
            <a:off x="6373368" y="2743200"/>
            <a:ext cx="5029200" cy="1097280"/>
          </a:xfrm>
          <a:prstGeom prst="rect">
            <a:avLst/>
          </a:prstGeom>
          <a:noFill/>
          <a:ln/>
        </p:spPr>
        <p:txBody>
          <a:bodyPr wrap="square" lIns="0" tIns="0" rIns="0" bIns="0" rtlCol="0" anchor="ctr"/>
          <a:lstStyle/>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Adaptive sensor reliability</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Uncertainty-aware fusion</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Risk-aware decisions</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Sensor degradation experiments</a:t>
            </a:r>
            <a:endParaRPr lang="en-US" sz="1350" dirty="0"/>
          </a:p>
          <a:p>
            <a:pPr marL="0" indent="0">
              <a:lnSpc>
                <a:spcPct val="125000"/>
              </a:lnSpc>
              <a:buNone/>
            </a:pPr>
            <a:r>
              <a:rPr lang="en-US" sz="1350" dirty="0">
                <a:solidFill>
                  <a:srgbClr val="9AA5B8"/>
                </a:solidFill>
                <a:latin typeface="Calibri" pitchFamily="34" charset="0"/>
                <a:ea typeface="Calibri" pitchFamily="34" charset="-122"/>
                <a:cs typeface="Calibri" pitchFamily="34" charset="-120"/>
              </a:rPr>
              <a:t>•  Quantitative baseline comparison</a:t>
            </a:r>
            <a:endParaRPr lang="en-US" sz="1350" dirty="0"/>
          </a:p>
        </p:txBody>
      </p:sp>
      <p:sp>
        <p:nvSpPr>
          <p:cNvPr id="18" name="Text 16"/>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12 / 13</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CLOSING</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Feasibility, Expected Outcomes &amp; Conclusion</a:t>
            </a:r>
            <a:endParaRPr lang="en-US" sz="3000" dirty="0"/>
          </a:p>
        </p:txBody>
      </p:sp>
      <p:sp>
        <p:nvSpPr>
          <p:cNvPr id="4" name="Shape 2"/>
          <p:cNvSpPr/>
          <p:nvPr/>
        </p:nvSpPr>
        <p:spPr>
          <a:xfrm>
            <a:off x="548640" y="1371600"/>
            <a:ext cx="3520440" cy="2103120"/>
          </a:xfrm>
          <a:prstGeom prst="roundRect">
            <a:avLst>
              <a:gd name="adj" fmla="val 3478"/>
            </a:avLst>
          </a:prstGeom>
          <a:solidFill>
            <a:srgbClr val="141B33"/>
          </a:solidFill>
          <a:ln w="12700">
            <a:solidFill>
              <a:srgbClr val="2A3654"/>
            </a:solidFill>
            <a:prstDash val="solid"/>
          </a:ln>
        </p:spPr>
      </p:sp>
      <p:sp>
        <p:nvSpPr>
          <p:cNvPr id="5" name="Text 3"/>
          <p:cNvSpPr txBox="1"/>
          <p:nvPr/>
        </p:nvSpPr>
        <p:spPr>
          <a:xfrm>
            <a:off x="749808" y="1536192"/>
            <a:ext cx="311810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Feasibility</a:t>
            </a:r>
            <a:endParaRPr lang="en-US" sz="1600" dirty="0"/>
          </a:p>
        </p:txBody>
      </p:sp>
      <p:sp>
        <p:nvSpPr>
          <p:cNvPr id="6" name="Text 4"/>
          <p:cNvSpPr txBox="1"/>
          <p:nvPr/>
        </p:nvSpPr>
        <p:spPr>
          <a:xfrm>
            <a:off x="749808" y="1920240"/>
            <a:ext cx="3118104" cy="1417320"/>
          </a:xfrm>
          <a:prstGeom prst="rect">
            <a:avLst/>
          </a:prstGeom>
          <a:noFill/>
          <a:ln/>
        </p:spPr>
        <p:txBody>
          <a:bodyPr wrap="square" lIns="0" tIns="0" rIns="0" bIns="0" rtlCol="0" anchor="t"/>
          <a:lstStyle/>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CARLA enables controlled simulation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ROS 2 supports modular integration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Python/C++ &amp; AI frameworks</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GPU resources for AI experimentation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Small robotic platform demo</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Simulation-first reduces risk</a:t>
            </a:r>
            <a:endParaRPr lang="en-US" sz="1300" dirty="0"/>
          </a:p>
        </p:txBody>
      </p:sp>
      <p:sp>
        <p:nvSpPr>
          <p:cNvPr id="7" name="Shape 5"/>
          <p:cNvSpPr/>
          <p:nvPr/>
        </p:nvSpPr>
        <p:spPr>
          <a:xfrm>
            <a:off x="4206240" y="1371600"/>
            <a:ext cx="3520440" cy="2103120"/>
          </a:xfrm>
          <a:prstGeom prst="roundRect">
            <a:avLst>
              <a:gd name="adj" fmla="val 3478"/>
            </a:avLst>
          </a:prstGeom>
          <a:solidFill>
            <a:srgbClr val="141B33"/>
          </a:solidFill>
          <a:ln w="12700">
            <a:solidFill>
              <a:srgbClr val="2A3654"/>
            </a:solidFill>
            <a:prstDash val="solid"/>
          </a:ln>
        </p:spPr>
      </p:sp>
      <p:sp>
        <p:nvSpPr>
          <p:cNvPr id="8" name="Text 6"/>
          <p:cNvSpPr txBox="1"/>
          <p:nvPr/>
        </p:nvSpPr>
        <p:spPr>
          <a:xfrm>
            <a:off x="4407408" y="1536192"/>
            <a:ext cx="311810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Expected Outcomes</a:t>
            </a:r>
            <a:endParaRPr lang="en-US" sz="1600" dirty="0"/>
          </a:p>
        </p:txBody>
      </p:sp>
      <p:sp>
        <p:nvSpPr>
          <p:cNvPr id="9" name="Text 7"/>
          <p:cNvSpPr txBox="1"/>
          <p:nvPr/>
        </p:nvSpPr>
        <p:spPr>
          <a:xfrm>
            <a:off x="4407408" y="1920240"/>
            <a:ext cx="3118104" cy="1417320"/>
          </a:xfrm>
          <a:prstGeom prst="rect">
            <a:avLst/>
          </a:prstGeom>
          <a:noFill/>
          <a:ln/>
        </p:spPr>
        <p:txBody>
          <a:bodyPr wrap="square" lIns="0" tIns="0" rIns="0" bIns="0" rtlCol="0" anchor="t"/>
          <a:lstStyle/>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Multi-sensor perception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Dynamic confidence estimation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Uncertainty-aware fusion</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Predictive risk assessment</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Adaptive ADAS behaviour</a:t>
            </a:r>
            <a:endParaRPr lang="en-US" sz="1300" dirty="0"/>
          </a:p>
          <a:p>
            <a:pPr marL="0" indent="0">
              <a:lnSpc>
                <a:spcPct val="115000"/>
              </a:lnSpc>
              <a:buNone/>
            </a:pPr>
            <a:r>
              <a:rPr lang="en-US" sz="1300" dirty="0">
                <a:solidFill>
                  <a:srgbClr val="9AA5B8"/>
                </a:solidFill>
                <a:latin typeface="Calibri" pitchFamily="34" charset="0"/>
                <a:ea typeface="Calibri" pitchFamily="34" charset="-122"/>
                <a:cs typeface="Calibri" pitchFamily="34" charset="-120"/>
              </a:rPr>
              <a:t>• AD prototype + baseline comparison</a:t>
            </a:r>
            <a:endParaRPr lang="en-US" sz="1300" dirty="0"/>
          </a:p>
        </p:txBody>
      </p:sp>
      <p:sp>
        <p:nvSpPr>
          <p:cNvPr id="10" name="Shape 8"/>
          <p:cNvSpPr/>
          <p:nvPr/>
        </p:nvSpPr>
        <p:spPr>
          <a:xfrm>
            <a:off x="7863840" y="1371600"/>
            <a:ext cx="3749040" cy="2103120"/>
          </a:xfrm>
          <a:prstGeom prst="roundRect">
            <a:avLst>
              <a:gd name="adj" fmla="val 3478"/>
            </a:avLst>
          </a:prstGeom>
          <a:solidFill>
            <a:srgbClr val="0F2B33"/>
          </a:solidFill>
          <a:ln w="12700">
            <a:solidFill>
              <a:srgbClr val="22D3EE"/>
            </a:solidFill>
            <a:prstDash val="solid"/>
          </a:ln>
        </p:spPr>
      </p:sp>
      <p:sp>
        <p:nvSpPr>
          <p:cNvPr id="11" name="Text 9"/>
          <p:cNvSpPr txBox="1"/>
          <p:nvPr/>
        </p:nvSpPr>
        <p:spPr>
          <a:xfrm>
            <a:off x="8065008" y="1508760"/>
            <a:ext cx="3337560" cy="1828800"/>
          </a:xfrm>
          <a:prstGeom prst="rect">
            <a:avLst/>
          </a:prstGeom>
          <a:noFill/>
          <a:ln/>
        </p:spPr>
        <p:txBody>
          <a:bodyPr wrap="square" lIns="0" tIns="0" rIns="0" bIns="0" rtlCol="0" anchor="ctr"/>
          <a:lstStyle/>
          <a:p>
            <a:pPr marL="0" indent="0">
              <a:lnSpc>
                <a:spcPct val="120000"/>
              </a:lnSpc>
              <a:buNone/>
            </a:pPr>
            <a:r>
              <a:rPr lang="en-US" sz="1450" i="1" dirty="0">
                <a:solidFill>
                  <a:srgbClr val="F5F7FA"/>
                </a:solidFill>
                <a:latin typeface="Cambria" pitchFamily="34" charset="0"/>
                <a:ea typeface="Cambria" pitchFamily="34" charset="-122"/>
                <a:cs typeface="Cambria" pitchFamily="34" charset="-120"/>
              </a:rPr>
              <a:t>Our project proposes a transition from fixed-confidence perception toward adaptive intelligent mobility.</a:t>
            </a:r>
            <a:endParaRPr lang="en-US" sz="1450" dirty="0"/>
          </a:p>
        </p:txBody>
      </p:sp>
      <p:sp>
        <p:nvSpPr>
          <p:cNvPr id="12" name="Text 10"/>
          <p:cNvSpPr txBox="1"/>
          <p:nvPr/>
        </p:nvSpPr>
        <p:spPr>
          <a:xfrm>
            <a:off x="548640" y="3657600"/>
            <a:ext cx="4572000" cy="27432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The vehicle should understand:</a:t>
            </a:r>
            <a:endParaRPr lang="en-US" sz="1500" dirty="0"/>
          </a:p>
        </p:txBody>
      </p:sp>
      <p:sp>
        <p:nvSpPr>
          <p:cNvPr id="13" name="Text 11"/>
          <p:cNvSpPr txBox="1"/>
          <p:nvPr/>
        </p:nvSpPr>
        <p:spPr>
          <a:xfrm>
            <a:off x="548640" y="3977640"/>
            <a:ext cx="5303520" cy="1371600"/>
          </a:xfrm>
          <a:prstGeom prst="rect">
            <a:avLst/>
          </a:prstGeom>
          <a:noFill/>
          <a:ln/>
        </p:spPr>
        <p:txBody>
          <a:bodyPr wrap="square" lIns="0" tIns="0" rIns="0" bIns="0" rtlCol="0" anchor="ctr"/>
          <a:lstStyle/>
          <a:p>
            <a:pPr marL="0" indent="0">
              <a:lnSpc>
                <a:spcPct val="130000"/>
              </a:lnSpc>
              <a:buNone/>
            </a:pPr>
            <a:r>
              <a:rPr lang="en-US" sz="1400" dirty="0">
                <a:solidFill>
                  <a:srgbClr val="9AA5B8"/>
                </a:solidFill>
                <a:latin typeface="Calibri" pitchFamily="34" charset="0"/>
                <a:ea typeface="Calibri" pitchFamily="34" charset="-122"/>
                <a:cs typeface="Calibri" pitchFamily="34" charset="-120"/>
              </a:rPr>
              <a:t>1.  What its sensors perceive</a:t>
            </a:r>
            <a:endParaRPr lang="en-US" sz="1400" dirty="0"/>
          </a:p>
          <a:p>
            <a:pPr marL="0" indent="0">
              <a:lnSpc>
                <a:spcPct val="130000"/>
              </a:lnSpc>
              <a:buNone/>
            </a:pPr>
            <a:r>
              <a:rPr lang="en-US" sz="1400" dirty="0">
                <a:solidFill>
                  <a:srgbClr val="9AA5B8"/>
                </a:solidFill>
                <a:latin typeface="Calibri" pitchFamily="34" charset="0"/>
                <a:ea typeface="Calibri" pitchFamily="34" charset="-122"/>
                <a:cs typeface="Calibri" pitchFamily="34" charset="-120"/>
              </a:rPr>
              <a:t>2.  How reliable those perceptions are</a:t>
            </a:r>
            <a:endParaRPr lang="en-US" sz="1400" dirty="0"/>
          </a:p>
          <a:p>
            <a:pPr marL="0" indent="0">
              <a:lnSpc>
                <a:spcPct val="130000"/>
              </a:lnSpc>
              <a:buNone/>
            </a:pPr>
            <a:r>
              <a:rPr lang="en-US" sz="1400" dirty="0">
                <a:solidFill>
                  <a:srgbClr val="9AA5B8"/>
                </a:solidFill>
                <a:latin typeface="Calibri" pitchFamily="34" charset="0"/>
                <a:ea typeface="Calibri" pitchFamily="34" charset="-122"/>
                <a:cs typeface="Calibri" pitchFamily="34" charset="-120"/>
              </a:rPr>
              <a:t>3.  How uncertain the information is</a:t>
            </a:r>
            <a:endParaRPr lang="en-US" sz="1400" dirty="0"/>
          </a:p>
          <a:p>
            <a:pPr marL="0" indent="0">
              <a:lnSpc>
                <a:spcPct val="130000"/>
              </a:lnSpc>
              <a:buNone/>
            </a:pPr>
            <a:r>
              <a:rPr lang="en-US" sz="1400" dirty="0">
                <a:solidFill>
                  <a:srgbClr val="9AA5B8"/>
                </a:solidFill>
                <a:latin typeface="Calibri" pitchFamily="34" charset="0"/>
                <a:ea typeface="Calibri" pitchFamily="34" charset="-122"/>
                <a:cs typeface="Calibri" pitchFamily="34" charset="-120"/>
              </a:rPr>
              <a:t>4.  What risk is present</a:t>
            </a:r>
            <a:endParaRPr lang="en-US" sz="1400" dirty="0"/>
          </a:p>
          <a:p>
            <a:pPr marL="0" indent="0">
              <a:lnSpc>
                <a:spcPct val="130000"/>
              </a:lnSpc>
              <a:buNone/>
            </a:pPr>
            <a:r>
              <a:rPr lang="en-US" sz="1400" dirty="0">
                <a:solidFill>
                  <a:srgbClr val="9AA5B8"/>
                </a:solidFill>
                <a:latin typeface="Calibri" pitchFamily="34" charset="0"/>
                <a:ea typeface="Calibri" pitchFamily="34" charset="-122"/>
                <a:cs typeface="Calibri" pitchFamily="34" charset="-120"/>
              </a:rPr>
              <a:t>5.  How its driving behaviour should adapt</a:t>
            </a:r>
            <a:endParaRPr lang="en-US" sz="1400" dirty="0"/>
          </a:p>
        </p:txBody>
      </p:sp>
      <p:sp>
        <p:nvSpPr>
          <p:cNvPr id="14" name="Shape 12"/>
          <p:cNvSpPr/>
          <p:nvPr/>
        </p:nvSpPr>
        <p:spPr>
          <a:xfrm>
            <a:off x="6309360" y="3977640"/>
            <a:ext cx="1298448" cy="457200"/>
          </a:xfrm>
          <a:prstGeom prst="roundRect">
            <a:avLst>
              <a:gd name="adj" fmla="val 12000"/>
            </a:avLst>
          </a:prstGeom>
          <a:solidFill>
            <a:srgbClr val="243352"/>
          </a:solidFill>
          <a:ln w="12700">
            <a:solidFill>
              <a:srgbClr val="22D3EE"/>
            </a:solidFill>
            <a:prstDash val="solid"/>
          </a:ln>
        </p:spPr>
      </p:sp>
      <p:sp>
        <p:nvSpPr>
          <p:cNvPr id="15" name="Text 13"/>
          <p:cNvSpPr txBox="1"/>
          <p:nvPr/>
        </p:nvSpPr>
        <p:spPr>
          <a:xfrm>
            <a:off x="6355080" y="3977640"/>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SENSE</a:t>
            </a:r>
            <a:endParaRPr lang="en-US" sz="1350" dirty="0"/>
          </a:p>
        </p:txBody>
      </p:sp>
      <p:sp>
        <p:nvSpPr>
          <p:cNvPr id="16" name="Shape 14"/>
          <p:cNvSpPr/>
          <p:nvPr/>
        </p:nvSpPr>
        <p:spPr>
          <a:xfrm>
            <a:off x="7699248" y="3977640"/>
            <a:ext cx="1298448" cy="457200"/>
          </a:xfrm>
          <a:prstGeom prst="roundRect">
            <a:avLst>
              <a:gd name="adj" fmla="val 12000"/>
            </a:avLst>
          </a:prstGeom>
          <a:solidFill>
            <a:srgbClr val="243352"/>
          </a:solidFill>
          <a:ln w="12700">
            <a:solidFill>
              <a:srgbClr val="22D3EE"/>
            </a:solidFill>
            <a:prstDash val="solid"/>
          </a:ln>
        </p:spPr>
      </p:sp>
      <p:sp>
        <p:nvSpPr>
          <p:cNvPr id="17" name="Text 15"/>
          <p:cNvSpPr txBox="1"/>
          <p:nvPr/>
        </p:nvSpPr>
        <p:spPr>
          <a:xfrm>
            <a:off x="7744968" y="3977640"/>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DETECT</a:t>
            </a:r>
            <a:endParaRPr lang="en-US" sz="1350" dirty="0"/>
          </a:p>
        </p:txBody>
      </p:sp>
      <p:sp>
        <p:nvSpPr>
          <p:cNvPr id="18" name="Shape 16"/>
          <p:cNvSpPr/>
          <p:nvPr/>
        </p:nvSpPr>
        <p:spPr>
          <a:xfrm>
            <a:off x="9089136" y="3977640"/>
            <a:ext cx="1298448" cy="457200"/>
          </a:xfrm>
          <a:prstGeom prst="roundRect">
            <a:avLst>
              <a:gd name="adj" fmla="val 12000"/>
            </a:avLst>
          </a:prstGeom>
          <a:solidFill>
            <a:srgbClr val="243352"/>
          </a:solidFill>
          <a:ln w="12700">
            <a:solidFill>
              <a:srgbClr val="22D3EE"/>
            </a:solidFill>
            <a:prstDash val="solid"/>
          </a:ln>
        </p:spPr>
      </p:sp>
      <p:sp>
        <p:nvSpPr>
          <p:cNvPr id="19" name="Text 17"/>
          <p:cNvSpPr txBox="1"/>
          <p:nvPr/>
        </p:nvSpPr>
        <p:spPr>
          <a:xfrm>
            <a:off x="9134856" y="3977640"/>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TRUST</a:t>
            </a:r>
            <a:endParaRPr lang="en-US" sz="1350" dirty="0"/>
          </a:p>
        </p:txBody>
      </p:sp>
      <p:sp>
        <p:nvSpPr>
          <p:cNvPr id="20" name="Shape 18"/>
          <p:cNvSpPr/>
          <p:nvPr/>
        </p:nvSpPr>
        <p:spPr>
          <a:xfrm>
            <a:off x="10479024" y="3977640"/>
            <a:ext cx="1298448" cy="457200"/>
          </a:xfrm>
          <a:prstGeom prst="roundRect">
            <a:avLst>
              <a:gd name="adj" fmla="val 12000"/>
            </a:avLst>
          </a:prstGeom>
          <a:solidFill>
            <a:srgbClr val="243352"/>
          </a:solidFill>
          <a:ln w="12700">
            <a:solidFill>
              <a:srgbClr val="22D3EE"/>
            </a:solidFill>
            <a:prstDash val="solid"/>
          </a:ln>
        </p:spPr>
      </p:sp>
      <p:sp>
        <p:nvSpPr>
          <p:cNvPr id="21" name="Text 19"/>
          <p:cNvSpPr txBox="1"/>
          <p:nvPr/>
        </p:nvSpPr>
        <p:spPr>
          <a:xfrm>
            <a:off x="10524744" y="3977640"/>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FUSE</a:t>
            </a:r>
            <a:endParaRPr lang="en-US" sz="1350" dirty="0"/>
          </a:p>
        </p:txBody>
      </p:sp>
      <p:sp>
        <p:nvSpPr>
          <p:cNvPr id="22" name="Shape 20"/>
          <p:cNvSpPr/>
          <p:nvPr/>
        </p:nvSpPr>
        <p:spPr>
          <a:xfrm>
            <a:off x="6309360" y="4544568"/>
            <a:ext cx="1298448" cy="457200"/>
          </a:xfrm>
          <a:prstGeom prst="roundRect">
            <a:avLst>
              <a:gd name="adj" fmla="val 12000"/>
            </a:avLst>
          </a:prstGeom>
          <a:solidFill>
            <a:srgbClr val="243352"/>
          </a:solidFill>
          <a:ln w="12700">
            <a:solidFill>
              <a:srgbClr val="22D3EE"/>
            </a:solidFill>
            <a:prstDash val="solid"/>
          </a:ln>
        </p:spPr>
      </p:sp>
      <p:sp>
        <p:nvSpPr>
          <p:cNvPr id="23" name="Text 21"/>
          <p:cNvSpPr txBox="1"/>
          <p:nvPr/>
        </p:nvSpPr>
        <p:spPr>
          <a:xfrm>
            <a:off x="6355080" y="4544568"/>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PREDICT</a:t>
            </a:r>
            <a:endParaRPr lang="en-US" sz="1350" dirty="0"/>
          </a:p>
        </p:txBody>
      </p:sp>
      <p:sp>
        <p:nvSpPr>
          <p:cNvPr id="24" name="Shape 22"/>
          <p:cNvSpPr/>
          <p:nvPr/>
        </p:nvSpPr>
        <p:spPr>
          <a:xfrm>
            <a:off x="7699248" y="4544568"/>
            <a:ext cx="1298448" cy="457200"/>
          </a:xfrm>
          <a:prstGeom prst="roundRect">
            <a:avLst>
              <a:gd name="adj" fmla="val 12000"/>
            </a:avLst>
          </a:prstGeom>
          <a:solidFill>
            <a:srgbClr val="243352"/>
          </a:solidFill>
          <a:ln w="12700">
            <a:solidFill>
              <a:srgbClr val="22D3EE"/>
            </a:solidFill>
            <a:prstDash val="solid"/>
          </a:ln>
        </p:spPr>
      </p:sp>
      <p:sp>
        <p:nvSpPr>
          <p:cNvPr id="25" name="Text 23"/>
          <p:cNvSpPr txBox="1"/>
          <p:nvPr/>
        </p:nvSpPr>
        <p:spPr>
          <a:xfrm>
            <a:off x="7744968" y="4544568"/>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ASSESS</a:t>
            </a:r>
            <a:endParaRPr lang="en-US" sz="1350" dirty="0"/>
          </a:p>
        </p:txBody>
      </p:sp>
      <p:sp>
        <p:nvSpPr>
          <p:cNvPr id="26" name="Shape 24"/>
          <p:cNvSpPr/>
          <p:nvPr/>
        </p:nvSpPr>
        <p:spPr>
          <a:xfrm>
            <a:off x="9089136" y="4544568"/>
            <a:ext cx="1298448" cy="457200"/>
          </a:xfrm>
          <a:prstGeom prst="roundRect">
            <a:avLst>
              <a:gd name="adj" fmla="val 12000"/>
            </a:avLst>
          </a:prstGeom>
          <a:solidFill>
            <a:srgbClr val="243352"/>
          </a:solidFill>
          <a:ln w="12700">
            <a:solidFill>
              <a:srgbClr val="22D3EE"/>
            </a:solidFill>
            <a:prstDash val="solid"/>
          </a:ln>
        </p:spPr>
      </p:sp>
      <p:sp>
        <p:nvSpPr>
          <p:cNvPr id="27" name="Text 25"/>
          <p:cNvSpPr txBox="1"/>
          <p:nvPr/>
        </p:nvSpPr>
        <p:spPr>
          <a:xfrm>
            <a:off x="9134856" y="4544568"/>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DECIDE</a:t>
            </a:r>
            <a:endParaRPr lang="en-US" sz="1350" dirty="0"/>
          </a:p>
        </p:txBody>
      </p:sp>
      <p:sp>
        <p:nvSpPr>
          <p:cNvPr id="28" name="Shape 26"/>
          <p:cNvSpPr/>
          <p:nvPr/>
        </p:nvSpPr>
        <p:spPr>
          <a:xfrm>
            <a:off x="10479024" y="4544568"/>
            <a:ext cx="1298448" cy="457200"/>
          </a:xfrm>
          <a:prstGeom prst="roundRect">
            <a:avLst>
              <a:gd name="adj" fmla="val 12000"/>
            </a:avLst>
          </a:prstGeom>
          <a:solidFill>
            <a:srgbClr val="243352"/>
          </a:solidFill>
          <a:ln w="12700">
            <a:solidFill>
              <a:srgbClr val="22D3EE"/>
            </a:solidFill>
            <a:prstDash val="solid"/>
          </a:ln>
        </p:spPr>
      </p:sp>
      <p:sp>
        <p:nvSpPr>
          <p:cNvPr id="29" name="Text 27"/>
          <p:cNvSpPr txBox="1"/>
          <p:nvPr/>
        </p:nvSpPr>
        <p:spPr>
          <a:xfrm>
            <a:off x="10524744" y="4544568"/>
            <a:ext cx="1207008" cy="457200"/>
          </a:xfrm>
          <a:prstGeom prst="rect">
            <a:avLst/>
          </a:prstGeom>
          <a:noFill/>
          <a:ln/>
        </p:spPr>
        <p:txBody>
          <a:bodyPr wrap="square" lIns="0" tIns="0" rIns="0" bIns="0" rtlCol="0" anchor="ctr"/>
          <a:lstStyle/>
          <a:p>
            <a:pPr marL="0" indent="0" algn="ctr">
              <a:buNone/>
            </a:pPr>
            <a:r>
              <a:rPr lang="en-US" sz="1350" b="1" dirty="0">
                <a:solidFill>
                  <a:srgbClr val="F5F7FA"/>
                </a:solidFill>
                <a:latin typeface="Calibri" pitchFamily="34" charset="0"/>
                <a:ea typeface="Calibri" pitchFamily="34" charset="-122"/>
                <a:cs typeface="Calibri" pitchFamily="34" charset="-120"/>
              </a:rPr>
              <a:t>CONTROL</a:t>
            </a:r>
            <a:endParaRPr lang="en-US" sz="1350" dirty="0"/>
          </a:p>
        </p:txBody>
      </p:sp>
      <p:sp>
        <p:nvSpPr>
          <p:cNvPr id="30" name="Text 28"/>
          <p:cNvSpPr txBox="1"/>
          <p:nvPr/>
        </p:nvSpPr>
        <p:spPr>
          <a:xfrm>
            <a:off x="548640" y="5623560"/>
            <a:ext cx="11064240" cy="502920"/>
          </a:xfrm>
          <a:prstGeom prst="rect">
            <a:avLst/>
          </a:prstGeom>
          <a:noFill/>
          <a:ln/>
        </p:spPr>
        <p:txBody>
          <a:bodyPr wrap="square" lIns="0" tIns="0" rIns="0" bIns="0" rtlCol="0" anchor="ctr"/>
          <a:lstStyle/>
          <a:p>
            <a:pPr marL="0" indent="0" algn="ctr">
              <a:buNone/>
            </a:pPr>
            <a:r>
              <a:rPr lang="en-US" sz="1800" b="1" i="1" dirty="0">
                <a:solidFill>
                  <a:srgbClr val="22D3EE"/>
                </a:solidFill>
                <a:latin typeface="Cambria" pitchFamily="34" charset="0"/>
                <a:ea typeface="Cambria" pitchFamily="34" charset="-122"/>
                <a:cs typeface="Cambria" pitchFamily="34" charset="-120"/>
              </a:rPr>
              <a:t>"From fixed perception to adaptive intelligence."</a:t>
            </a:r>
            <a:endParaRPr lang="en-US" sz="1800" dirty="0"/>
          </a:p>
        </p:txBody>
      </p:sp>
      <p:sp>
        <p:nvSpPr>
          <p:cNvPr id="31" name="Text 29"/>
          <p:cNvSpPr txBox="1"/>
          <p:nvPr/>
        </p:nvSpPr>
        <p:spPr>
          <a:xfrm>
            <a:off x="11247120" y="6519672"/>
            <a:ext cx="822960" cy="274320"/>
          </a:xfrm>
          <a:prstGeom prst="rect">
            <a:avLst/>
          </a:prstGeom>
          <a:noFill/>
          <a:ln/>
        </p:spPr>
        <p:txBody>
          <a:bodyPr wrap="square" lIns="0" tIns="0" rIns="0" bIns="0" rtlCol="0" anchor="ctr"/>
          <a:lstStyle/>
          <a:p>
            <a:pPr marL="0" indent="0" algn="r">
              <a:buNone/>
            </a:pPr>
            <a:r>
              <a:rPr lang="en-US" sz="1350" dirty="0">
                <a:solidFill>
                  <a:srgbClr val="6B7A99"/>
                </a:solidFill>
                <a:latin typeface="Calibri" pitchFamily="34" charset="0"/>
                <a:ea typeface="Calibri" pitchFamily="34" charset="-122"/>
                <a:cs typeface="Calibri" pitchFamily="34" charset="-120"/>
              </a:rPr>
              <a:t>13 / 13</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70F"/>
        </a:solidFill>
        <a:effectLst/>
      </p:bgPr>
    </p:bg>
    <p:spTree>
      <p:nvGrpSpPr>
        <p:cNvPr id="1" name=""/>
        <p:cNvGrpSpPr/>
        <p:nvPr/>
      </p:nvGrpSpPr>
      <p:grpSpPr>
        <a:xfrm>
          <a:off x="0" y="0"/>
          <a:ext cx="0" cy="0"/>
          <a:chOff x="0" y="0"/>
          <a:chExt cx="0" cy="0"/>
        </a:xfrm>
      </p:grpSpPr>
      <p:sp>
        <p:nvSpPr>
          <p:cNvPr id="2" name="Text 0"/>
          <p:cNvSpPr txBox="1"/>
          <p:nvPr/>
        </p:nvSpPr>
        <p:spPr>
          <a:xfrm>
            <a:off x="548640" y="2743200"/>
            <a:ext cx="11064240" cy="457200"/>
          </a:xfrm>
          <a:prstGeom prst="rect">
            <a:avLst/>
          </a:prstGeom>
          <a:noFill/>
          <a:ln/>
        </p:spPr>
        <p:txBody>
          <a:bodyPr wrap="square" lIns="0" tIns="0" rIns="0" bIns="0" rtlCol="0" anchor="ctr"/>
          <a:lstStyle/>
          <a:p>
            <a:pPr marL="0" indent="0" algn="ctr">
              <a:buNone/>
            </a:pPr>
            <a:r>
              <a:rPr lang="en-US" sz="1650" b="1" kern="0" spc="300" dirty="0">
                <a:solidFill>
                  <a:srgbClr val="22D3EE"/>
                </a:solidFill>
                <a:latin typeface="Calibri" pitchFamily="34" charset="0"/>
                <a:ea typeface="Calibri" pitchFamily="34" charset="-122"/>
                <a:cs typeface="Calibri" pitchFamily="34" charset="-120"/>
              </a:rPr>
              <a:t>BACKUP / APPENDIX</a:t>
            </a:r>
            <a:endParaRPr lang="en-US" sz="1650" dirty="0"/>
          </a:p>
        </p:txBody>
      </p:sp>
      <p:sp>
        <p:nvSpPr>
          <p:cNvPr id="3" name="Text 1"/>
          <p:cNvSpPr txBox="1"/>
          <p:nvPr/>
        </p:nvSpPr>
        <p:spPr>
          <a:xfrm>
            <a:off x="548640" y="3246120"/>
            <a:ext cx="11064240" cy="365760"/>
          </a:xfrm>
          <a:prstGeom prst="rect">
            <a:avLst/>
          </a:prstGeom>
          <a:noFill/>
          <a:ln/>
        </p:spPr>
        <p:txBody>
          <a:bodyPr wrap="square" lIns="0" tIns="0" rIns="0" bIns="0" rtlCol="0" anchor="ctr"/>
          <a:lstStyle/>
          <a:p>
            <a:pPr marL="0" indent="0" algn="ctr">
              <a:buNone/>
            </a:pPr>
            <a:r>
              <a:rPr lang="en-US" sz="1500" i="1" dirty="0">
                <a:solidFill>
                  <a:srgbClr val="6B7A99"/>
                </a:solidFill>
                <a:latin typeface="Calibri" pitchFamily="34" charset="0"/>
                <a:ea typeface="Calibri" pitchFamily="34" charset="-122"/>
                <a:cs typeface="Calibri" pitchFamily="34" charset="-120"/>
              </a:rPr>
              <a:t>Supporting material — does not count toward the 13 main evaluation slides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BACKUP A</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Detailed Literature References</a:t>
            </a:r>
            <a:endParaRPr lang="en-US" sz="3000" dirty="0"/>
          </a:p>
        </p:txBody>
      </p:sp>
      <p:sp>
        <p:nvSpPr>
          <p:cNvPr id="4" name="Shape 2"/>
          <p:cNvSpPr/>
          <p:nvPr/>
        </p:nvSpPr>
        <p:spPr>
          <a:xfrm>
            <a:off x="548640" y="1417320"/>
            <a:ext cx="11064240" cy="640080"/>
          </a:xfrm>
          <a:prstGeom prst="roundRect">
            <a:avLst>
              <a:gd name="adj" fmla="val 11429"/>
            </a:avLst>
          </a:prstGeom>
          <a:solidFill>
            <a:srgbClr val="243352"/>
          </a:solidFill>
          <a:ln w="12700">
            <a:solidFill>
              <a:srgbClr val="FBBF24"/>
            </a:solidFill>
            <a:prstDash val="solid"/>
          </a:ln>
        </p:spPr>
      </p:sp>
      <p:sp>
        <p:nvSpPr>
          <p:cNvPr id="5" name="Text 3"/>
          <p:cNvSpPr txBox="1"/>
          <p:nvPr/>
        </p:nvSpPr>
        <p:spPr>
          <a:xfrm>
            <a:off x="777240" y="1417320"/>
            <a:ext cx="10607040" cy="640080"/>
          </a:xfrm>
          <a:prstGeom prst="rect">
            <a:avLst/>
          </a:prstGeom>
          <a:noFill/>
          <a:ln/>
        </p:spPr>
        <p:txBody>
          <a:bodyPr wrap="square" lIns="0" tIns="0" rIns="0" bIns="0" rtlCol="0" anchor="ctr"/>
          <a:lstStyle/>
          <a:p>
            <a:pPr marL="0" indent="0">
              <a:buNone/>
            </a:pPr>
            <a:r>
              <a:rPr lang="en-US" sz="1400" dirty="0">
                <a:solidFill>
                  <a:srgbClr val="F5F7FA"/>
                </a:solidFill>
                <a:latin typeface="Calibri" pitchFamily="34" charset="0"/>
                <a:ea typeface="Calibri" pitchFamily="34" charset="-122"/>
                <a:cs typeface="Calibri" pitchFamily="34" charset="-120"/>
              </a:rPr>
              <a:t>IEEE-style references will be included here once the literature survey and citation list are finalized. To preserve academic integrity, no placeholder or fabricated citations are listed at this stage.</a:t>
            </a:r>
            <a:endParaRPr lang="en-US" sz="1400" dirty="0"/>
          </a:p>
        </p:txBody>
      </p:sp>
      <p:sp>
        <p:nvSpPr>
          <p:cNvPr id="6" name="Text 4"/>
          <p:cNvSpPr txBox="1"/>
          <p:nvPr/>
        </p:nvSpPr>
        <p:spPr>
          <a:xfrm>
            <a:off x="548640" y="2286000"/>
            <a:ext cx="7315200" cy="292608"/>
          </a:xfrm>
          <a:prstGeom prst="rect">
            <a:avLst/>
          </a:prstGeom>
          <a:noFill/>
          <a:ln/>
        </p:spPr>
        <p:txBody>
          <a:bodyPr wrap="square" lIns="0" tIns="0" rIns="0" bIns="0"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Reference Categories To Be Populated</a:t>
            </a:r>
            <a:endParaRPr lang="en-US" sz="1600" dirty="0"/>
          </a:p>
        </p:txBody>
      </p:sp>
      <p:sp>
        <p:nvSpPr>
          <p:cNvPr id="7" name="Shape 5"/>
          <p:cNvSpPr/>
          <p:nvPr/>
        </p:nvSpPr>
        <p:spPr>
          <a:xfrm>
            <a:off x="548640" y="2697480"/>
            <a:ext cx="11064240" cy="365760"/>
          </a:xfrm>
          <a:prstGeom prst="roundRect">
            <a:avLst>
              <a:gd name="adj" fmla="val 15000"/>
            </a:avLst>
          </a:prstGeom>
          <a:solidFill>
            <a:srgbClr val="141B33"/>
          </a:solidFill>
          <a:ln w="12700">
            <a:solidFill>
              <a:srgbClr val="2A3654"/>
            </a:solidFill>
            <a:prstDash val="solid"/>
          </a:ln>
        </p:spPr>
      </p:sp>
      <p:sp>
        <p:nvSpPr>
          <p:cNvPr id="8" name="Text 6"/>
          <p:cNvSpPr txBox="1"/>
          <p:nvPr/>
        </p:nvSpPr>
        <p:spPr>
          <a:xfrm>
            <a:off x="777240" y="26974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Sensor fusion &amp; multi-modal perception (e.g. camera–LiDAR–radar fusion architectures)</a:t>
            </a:r>
            <a:endParaRPr lang="en-US" sz="1450" dirty="0"/>
          </a:p>
        </p:txBody>
      </p:sp>
      <p:sp>
        <p:nvSpPr>
          <p:cNvPr id="9" name="Shape 7"/>
          <p:cNvSpPr/>
          <p:nvPr/>
        </p:nvSpPr>
        <p:spPr>
          <a:xfrm>
            <a:off x="548640" y="3154680"/>
            <a:ext cx="11064240" cy="365760"/>
          </a:xfrm>
          <a:prstGeom prst="roundRect">
            <a:avLst>
              <a:gd name="adj" fmla="val 15000"/>
            </a:avLst>
          </a:prstGeom>
          <a:solidFill>
            <a:srgbClr val="141B33"/>
          </a:solidFill>
          <a:ln w="12700">
            <a:solidFill>
              <a:srgbClr val="2A3654"/>
            </a:solidFill>
            <a:prstDash val="solid"/>
          </a:ln>
        </p:spPr>
      </p:sp>
      <p:sp>
        <p:nvSpPr>
          <p:cNvPr id="10" name="Text 8"/>
          <p:cNvSpPr txBox="1"/>
          <p:nvPr/>
        </p:nvSpPr>
        <p:spPr>
          <a:xfrm>
            <a:off x="777240" y="31546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Sensor fault / reliability estimation</a:t>
            </a:r>
            <a:endParaRPr lang="en-US" sz="1450" dirty="0"/>
          </a:p>
        </p:txBody>
      </p:sp>
      <p:sp>
        <p:nvSpPr>
          <p:cNvPr id="11" name="Shape 9"/>
          <p:cNvSpPr/>
          <p:nvPr/>
        </p:nvSpPr>
        <p:spPr>
          <a:xfrm>
            <a:off x="548640" y="3611880"/>
            <a:ext cx="11064240" cy="365760"/>
          </a:xfrm>
          <a:prstGeom prst="roundRect">
            <a:avLst>
              <a:gd name="adj" fmla="val 15000"/>
            </a:avLst>
          </a:prstGeom>
          <a:solidFill>
            <a:srgbClr val="141B33"/>
          </a:solidFill>
          <a:ln w="12700">
            <a:solidFill>
              <a:srgbClr val="2A3654"/>
            </a:solidFill>
            <a:prstDash val="solid"/>
          </a:ln>
        </p:spPr>
      </p:sp>
      <p:sp>
        <p:nvSpPr>
          <p:cNvPr id="12" name="Text 10"/>
          <p:cNvSpPr txBox="1"/>
          <p:nvPr/>
        </p:nvSpPr>
        <p:spPr>
          <a:xfrm>
            <a:off x="777240" y="36118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Uncertainty quantification in perception</a:t>
            </a:r>
            <a:endParaRPr lang="en-US" sz="1450" dirty="0"/>
          </a:p>
        </p:txBody>
      </p:sp>
      <p:sp>
        <p:nvSpPr>
          <p:cNvPr id="13" name="Shape 11"/>
          <p:cNvSpPr/>
          <p:nvPr/>
        </p:nvSpPr>
        <p:spPr>
          <a:xfrm>
            <a:off x="548640" y="4069080"/>
            <a:ext cx="11064240" cy="365760"/>
          </a:xfrm>
          <a:prstGeom prst="roundRect">
            <a:avLst>
              <a:gd name="adj" fmla="val 15000"/>
            </a:avLst>
          </a:prstGeom>
          <a:solidFill>
            <a:srgbClr val="141B33"/>
          </a:solidFill>
          <a:ln w="12700">
            <a:solidFill>
              <a:srgbClr val="2A3654"/>
            </a:solidFill>
            <a:prstDash val="solid"/>
          </a:ln>
        </p:spPr>
      </p:sp>
      <p:sp>
        <p:nvSpPr>
          <p:cNvPr id="14" name="Text 12"/>
          <p:cNvSpPr txBox="1"/>
          <p:nvPr/>
        </p:nvSpPr>
        <p:spPr>
          <a:xfrm>
            <a:off x="777240" y="40690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Risk-aware planning &amp; decision-making</a:t>
            </a:r>
            <a:endParaRPr lang="en-US" sz="1450" dirty="0"/>
          </a:p>
        </p:txBody>
      </p:sp>
      <p:sp>
        <p:nvSpPr>
          <p:cNvPr id="15" name="Shape 13"/>
          <p:cNvSpPr/>
          <p:nvPr/>
        </p:nvSpPr>
        <p:spPr>
          <a:xfrm>
            <a:off x="548640" y="4526280"/>
            <a:ext cx="11064240" cy="365760"/>
          </a:xfrm>
          <a:prstGeom prst="roundRect">
            <a:avLst>
              <a:gd name="adj" fmla="val 15000"/>
            </a:avLst>
          </a:prstGeom>
          <a:solidFill>
            <a:srgbClr val="141B33"/>
          </a:solidFill>
          <a:ln w="12700">
            <a:solidFill>
              <a:srgbClr val="2A3654"/>
            </a:solidFill>
            <a:prstDash val="solid"/>
          </a:ln>
        </p:spPr>
      </p:sp>
      <p:sp>
        <p:nvSpPr>
          <p:cNvPr id="16" name="Text 14"/>
          <p:cNvSpPr txBox="1"/>
          <p:nvPr/>
        </p:nvSpPr>
        <p:spPr>
          <a:xfrm>
            <a:off x="777240" y="45262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Cooperative perception / V2X</a:t>
            </a:r>
            <a:endParaRPr lang="en-US" sz="1450" dirty="0"/>
          </a:p>
        </p:txBody>
      </p:sp>
      <p:sp>
        <p:nvSpPr>
          <p:cNvPr id="17" name="Shape 15"/>
          <p:cNvSpPr/>
          <p:nvPr/>
        </p:nvSpPr>
        <p:spPr>
          <a:xfrm>
            <a:off x="548640" y="4983480"/>
            <a:ext cx="11064240" cy="365760"/>
          </a:xfrm>
          <a:prstGeom prst="roundRect">
            <a:avLst>
              <a:gd name="adj" fmla="val 15000"/>
            </a:avLst>
          </a:prstGeom>
          <a:solidFill>
            <a:srgbClr val="141B33"/>
          </a:solidFill>
          <a:ln w="12700">
            <a:solidFill>
              <a:srgbClr val="2A3654"/>
            </a:solidFill>
            <a:prstDash val="solid"/>
          </a:ln>
        </p:spPr>
      </p:sp>
      <p:sp>
        <p:nvSpPr>
          <p:cNvPr id="18" name="Text 16"/>
          <p:cNvSpPr txBox="1"/>
          <p:nvPr/>
        </p:nvSpPr>
        <p:spPr>
          <a:xfrm>
            <a:off x="777240" y="49834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Simulation frameworks (CARLA, ROS 2)</a:t>
            </a:r>
            <a:endParaRPr lang="en-US" sz="1450" dirty="0"/>
          </a:p>
        </p:txBody>
      </p:sp>
      <p:sp>
        <p:nvSpPr>
          <p:cNvPr id="19" name="Shape 17"/>
          <p:cNvSpPr/>
          <p:nvPr/>
        </p:nvSpPr>
        <p:spPr>
          <a:xfrm>
            <a:off x="548640" y="5440680"/>
            <a:ext cx="11064240" cy="365760"/>
          </a:xfrm>
          <a:prstGeom prst="roundRect">
            <a:avLst>
              <a:gd name="adj" fmla="val 15000"/>
            </a:avLst>
          </a:prstGeom>
          <a:solidFill>
            <a:srgbClr val="141B33"/>
          </a:solidFill>
          <a:ln w="12700">
            <a:solidFill>
              <a:srgbClr val="2A3654"/>
            </a:solidFill>
            <a:prstDash val="solid"/>
          </a:ln>
        </p:spPr>
      </p:sp>
      <p:sp>
        <p:nvSpPr>
          <p:cNvPr id="20" name="Text 18"/>
          <p:cNvSpPr txBox="1"/>
          <p:nvPr/>
        </p:nvSpPr>
        <p:spPr>
          <a:xfrm>
            <a:off x="777240" y="5440680"/>
            <a:ext cx="10607040" cy="365760"/>
          </a:xfrm>
          <a:prstGeom prst="rect">
            <a:avLst/>
          </a:prstGeom>
          <a:noFill/>
          <a:ln/>
        </p:spPr>
        <p:txBody>
          <a:bodyPr wrap="square" lIns="0" tIns="0" rIns="0" bIns="0" rtlCol="0" anchor="ctr"/>
          <a:lstStyle/>
          <a:p>
            <a:pPr marL="0" indent="0">
              <a:buNone/>
            </a:pPr>
            <a:r>
              <a:rPr lang="en-US" sz="1450" dirty="0">
                <a:solidFill>
                  <a:srgbClr val="9AA5B8"/>
                </a:solidFill>
                <a:latin typeface="Calibri" pitchFamily="34" charset="0"/>
                <a:ea typeface="Calibri" pitchFamily="34" charset="-122"/>
                <a:cs typeface="Calibri" pitchFamily="34" charset="-120"/>
              </a:rPr>
              <a:t>•  Relevant standards (e.g., functional safety, ODD definitions)</a:t>
            </a:r>
            <a:endParaRPr lang="en-US" sz="1450" dirty="0"/>
          </a:p>
        </p:txBody>
      </p:sp>
      <p:sp>
        <p:nvSpPr>
          <p:cNvPr id="21" name="Text 19"/>
          <p:cNvSpPr txBox="1"/>
          <p:nvPr/>
        </p:nvSpPr>
        <p:spPr>
          <a:xfrm>
            <a:off x="548640" y="6126480"/>
            <a:ext cx="1097280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No DOI numbers, paper titles, or authors are fabricated. Specific citations will be added once the formal survey is finalized.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BACKUP B</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Patent Documents / Prior Art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114803"/>
        </p:xfrm>
        <a:graphic>
          <a:graphicData uri="http://schemas.openxmlformats.org/drawingml/2006/table">
            <a:tbl>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587829">
                <a:tc>
                  <a:txBody>
                    <a:bodyPr/>
                    <a:lstStyle/>
                    <a:p>
                      <a:pPr marL="0" indent="0">
                        <a:buNone/>
                      </a:pPr>
                      <a:r>
                        <a:rPr lang="en-US" sz="1400" b="1" dirty="0">
                          <a:solidFill>
                            <a:srgbClr val="0B1120"/>
                          </a:solidFill>
                        </a:rPr>
                        <a:t>Patent No.</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Title</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Relevance / Potential Overlap &amp; Distinction</a:t>
                      </a:r>
                      <a:endParaRPr lang="en-US" sz="140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587829">
                <a:tc>
                  <a:txBody>
                    <a:bodyPr/>
                    <a:lstStyle/>
                    <a:p>
                      <a:pPr marL="0" indent="0">
                        <a:buNone/>
                      </a:pPr>
                      <a:r>
                        <a:rPr lang="en-US" sz="1250" b="1" dirty="0">
                          <a:solidFill>
                            <a:srgbClr val="22D3EE"/>
                          </a:solidFill>
                        </a:rPr>
                        <a:t>WO2019037226A1</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System, method, and processor-readable medium for autonomous vehicle reliability assessment</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Overlaps with reliability-assessment concept; our work differs in coupling reliability to adaptive fusion and risk-adaptive decisions specifically.</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1"/>
                  </a:ext>
                </a:extLst>
              </a:tr>
              <a:tr h="587829">
                <a:tc>
                  <a:txBody>
                    <a:bodyPr/>
                    <a:lstStyle/>
                    <a:p>
                      <a:pPr marL="0" indent="0">
                        <a:buNone/>
                      </a:pPr>
                      <a:r>
                        <a:rPr lang="en-US" sz="1250" b="1" dirty="0">
                          <a:solidFill>
                            <a:srgbClr val="22D3EE"/>
                          </a:solidFill>
                        </a:rPr>
                        <a:t>US20200174112A1</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Method and apparatus for enhanced camera and radar sensor fusion</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Overlaps at the camera-radar fusion level; distinction would need a formal claim-chart comparison against our fusion mechanism.</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2"/>
                  </a:ext>
                </a:extLst>
              </a:tr>
              <a:tr h="587829">
                <a:tc>
                  <a:txBody>
                    <a:bodyPr/>
                    <a:lstStyle/>
                    <a:p>
                      <a:pPr marL="0" indent="0">
                        <a:buNone/>
                      </a:pPr>
                      <a:r>
                        <a:rPr lang="en-US" sz="1250" b="1" dirty="0">
                          <a:solidFill>
                            <a:srgbClr val="22D3EE"/>
                          </a:solidFill>
                        </a:rPr>
                        <a:t>US11585920B2</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Vehicle sensor fusion</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General vehicle sensor-fusion patent; potential overlap exists and requires detailed prior-art analysis.</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3"/>
                  </a:ext>
                </a:extLst>
              </a:tr>
              <a:tr h="587829">
                <a:tc>
                  <a:txBody>
                    <a:bodyPr/>
                    <a:lstStyle/>
                    <a:p>
                      <a:pPr marL="0" indent="0">
                        <a:buNone/>
                      </a:pPr>
                      <a:r>
                        <a:rPr lang="en-US" sz="1250" b="1" dirty="0">
                          <a:solidFill>
                            <a:srgbClr val="22D3EE"/>
                          </a:solidFill>
                        </a:rPr>
                        <a:t>US20180067489A1</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Low-level sensor fusion</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Covers low-level fusion techniques; distinction from our reliability/uncertainty-driven approach to be established formally.</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4"/>
                  </a:ext>
                </a:extLst>
              </a:tr>
              <a:tr h="587829">
                <a:tc>
                  <a:txBody>
                    <a:bodyPr/>
                    <a:lstStyle/>
                    <a:p>
                      <a:pPr marL="0" indent="0">
                        <a:buNone/>
                      </a:pPr>
                      <a:r>
                        <a:rPr lang="en-US" sz="1250" b="1" dirty="0">
                          <a:solidFill>
                            <a:srgbClr val="22D3EE"/>
                          </a:solidFill>
                        </a:rPr>
                        <a:t>US20210110217A1</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Automotive sensor fusion</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250" dirty="0">
                          <a:solidFill>
                            <a:srgbClr val="9AA5B8"/>
                          </a:solidFill>
                        </a:rPr>
                        <a:t>Broad automotive sensor-fusion scope; potential overlap area for legal review.</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5"/>
                  </a:ext>
                </a:extLst>
              </a:tr>
              <a:tr h="587829">
                <a:tc>
                  <a:txBody>
                    <a:bodyPr/>
                    <a:lstStyle/>
                    <a:p>
                      <a:pPr marL="0" indent="0">
                        <a:buNone/>
                      </a:pPr>
                      <a:r>
                        <a:rPr lang="en-US" sz="1250" b="1" dirty="0">
                          <a:solidFill>
                            <a:srgbClr val="22D3EE"/>
                          </a:solidFill>
                        </a:rPr>
                        <a:t>US9097800B1</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Solid object detection system using laser and radar sensor fusion</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250" dirty="0">
                          <a:solidFill>
                            <a:srgbClr val="9AA5B8"/>
                          </a:solidFill>
                        </a:rPr>
                        <a:t>Relevant to laser/radar fusion for object detection; distinction from our reliability-aware weighting to be formally assessed.</a:t>
                      </a:r>
                      <a:endParaRPr lang="en-US" sz="1250" dirty="0"/>
                    </a:p>
                  </a:txBody>
                  <a:tcPr marL="76200" marR="76200" marT="38100" marB="381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BACKUP C</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Detailed Architecture — Adaptive Modules</a:t>
            </a:r>
            <a:endParaRPr lang="en-US" sz="3000" dirty="0"/>
          </a:p>
        </p:txBody>
      </p:sp>
      <p:sp>
        <p:nvSpPr>
          <p:cNvPr id="4" name="Shape 2"/>
          <p:cNvSpPr/>
          <p:nvPr/>
        </p:nvSpPr>
        <p:spPr>
          <a:xfrm>
            <a:off x="548640" y="1417320"/>
            <a:ext cx="3566160" cy="2820000"/>
          </a:xfrm>
          <a:prstGeom prst="roundRect">
            <a:avLst>
              <a:gd name="adj" fmla="val 3200"/>
            </a:avLst>
          </a:prstGeom>
          <a:solidFill>
            <a:srgbClr val="141B33"/>
          </a:solidFill>
          <a:ln w="12700">
            <a:solidFill>
              <a:srgbClr val="2A3654"/>
            </a:solidFill>
            <a:prstDash val="solid"/>
          </a:ln>
        </p:spPr>
      </p:sp>
      <p:sp>
        <p:nvSpPr>
          <p:cNvPr id="5" name="Text 3"/>
          <p:cNvSpPr txBox="1"/>
          <p:nvPr/>
        </p:nvSpPr>
        <p:spPr>
          <a:xfrm>
            <a:off x="749808" y="1581912"/>
            <a:ext cx="316382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Sensor Reliability Engine</a:t>
            </a:r>
            <a:endParaRPr lang="en-US" sz="1600" dirty="0"/>
          </a:p>
        </p:txBody>
      </p:sp>
      <p:sp>
        <p:nvSpPr>
          <p:cNvPr id="6" name="Text 4"/>
          <p:cNvSpPr txBox="1"/>
          <p:nvPr/>
        </p:nvSpPr>
        <p:spPr>
          <a:xfrm>
            <a:off x="749808" y="1965960"/>
            <a:ext cx="3163824" cy="1600200"/>
          </a:xfrm>
          <a:prstGeom prst="rect">
            <a:avLst/>
          </a:prstGeom>
          <a:noFill/>
          <a:ln/>
        </p:spPr>
        <p:txBody>
          <a:bodyPr wrap="square" lIns="0" tIns="0" rIns="0" bIns="0" rtlCol="0" anchor="t"/>
          <a:lstStyle/>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Per-sensor reliability scores (illustrative, conceptual):</a:t>
            </a:r>
            <a:endParaRPr lang="en-US" sz="1250" dirty="0"/>
          </a:p>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Camera 0.92 · LiDAR 0.96 · Radar 0.88 · IMU 0.94</a:t>
            </a:r>
            <a:endParaRPr lang="en-US" sz="1250" dirty="0"/>
          </a:p>
          <a:p>
            <a:pPr marL="0" indent="0">
              <a:lnSpc>
                <a:spcPct val="115000"/>
              </a:lnSpc>
              <a:buNone/>
            </a:pPr>
            <a:endParaRPr lang="en-US" sz="1250" dirty="0"/>
          </a:p>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On environmental degradation (e.g. glare): camera influence reduced (e.g. → 0.48), dependence shifts to LiDAR/radar.</a:t>
            </a:r>
            <a:endParaRPr lang="en-US" sz="1250" dirty="0"/>
          </a:p>
          <a:p>
            <a:pPr marL="0" indent="0">
              <a:lnSpc>
                <a:spcPct val="115000"/>
              </a:lnSpc>
              <a:buNone/>
            </a:pPr>
            <a:endParaRPr lang="en-US" sz="1250" dirty="0"/>
          </a:p>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Values are illustrative examples for concept explanation — not experimental results.</a:t>
            </a:r>
            <a:endParaRPr lang="en-US" sz="1250" dirty="0"/>
          </a:p>
        </p:txBody>
      </p:sp>
      <p:sp>
        <p:nvSpPr>
          <p:cNvPr id="7" name="Shape 5"/>
          <p:cNvSpPr/>
          <p:nvPr/>
        </p:nvSpPr>
        <p:spPr>
          <a:xfrm>
            <a:off x="4251960" y="1417320"/>
            <a:ext cx="3566160" cy="2820000"/>
          </a:xfrm>
          <a:prstGeom prst="roundRect">
            <a:avLst>
              <a:gd name="adj" fmla="val 3200"/>
            </a:avLst>
          </a:prstGeom>
          <a:solidFill>
            <a:srgbClr val="141B33"/>
          </a:solidFill>
          <a:ln w="12700">
            <a:solidFill>
              <a:srgbClr val="2A3654"/>
            </a:solidFill>
            <a:prstDash val="solid"/>
          </a:ln>
        </p:spPr>
      </p:sp>
      <p:sp>
        <p:nvSpPr>
          <p:cNvPr id="8" name="Text 6"/>
          <p:cNvSpPr txBox="1"/>
          <p:nvPr/>
        </p:nvSpPr>
        <p:spPr>
          <a:xfrm>
            <a:off x="4453128" y="1581912"/>
            <a:ext cx="316382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Uncertainty-Aware Sensor Fusion</a:t>
            </a:r>
            <a:endParaRPr lang="en-US" sz="1600" dirty="0"/>
          </a:p>
        </p:txBody>
      </p:sp>
      <p:sp>
        <p:nvSpPr>
          <p:cNvPr id="9" name="Text 7"/>
          <p:cNvSpPr txBox="1"/>
          <p:nvPr/>
        </p:nvSpPr>
        <p:spPr>
          <a:xfrm>
            <a:off x="4453128" y="1965960"/>
            <a:ext cx="3163824" cy="1600200"/>
          </a:xfrm>
          <a:prstGeom prst="rect">
            <a:avLst/>
          </a:prstGeom>
          <a:noFill/>
          <a:ln/>
        </p:spPr>
        <p:txBody>
          <a:bodyPr wrap="square" lIns="0" tIns="0" rIns="0" bIns="0" rtlCol="0" anchor="t"/>
          <a:lstStyle/>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Reliability Assessment → Adaptive Fusion Weights → Fused Perception (Camera + LiDAR + Radar).</a:t>
            </a:r>
            <a:endParaRPr lang="en-US" sz="1250" dirty="0"/>
          </a:p>
          <a:p>
            <a:pPr marL="0" indent="0">
              <a:lnSpc>
                <a:spcPct val="115000"/>
              </a:lnSpc>
              <a:buNone/>
            </a:pPr>
            <a:endParaRPr lang="en-US" sz="1250" dirty="0"/>
          </a:p>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Fusion is not static: as a sensor's estimated reliability decreases, its weight in fused output is proportionally reduced while more reliable modalities compensate — keeping overall confidence stable.</a:t>
            </a:r>
            <a:endParaRPr lang="en-US" sz="1250" dirty="0"/>
          </a:p>
        </p:txBody>
      </p:sp>
      <p:sp>
        <p:nvSpPr>
          <p:cNvPr id="10" name="Shape 8"/>
          <p:cNvSpPr/>
          <p:nvPr/>
        </p:nvSpPr>
        <p:spPr>
          <a:xfrm>
            <a:off x="7955280" y="1417320"/>
            <a:ext cx="3657600" cy="2820000"/>
          </a:xfrm>
          <a:prstGeom prst="roundRect">
            <a:avLst>
              <a:gd name="adj" fmla="val 3200"/>
            </a:avLst>
          </a:prstGeom>
          <a:solidFill>
            <a:srgbClr val="141B33"/>
          </a:solidFill>
          <a:ln w="12700">
            <a:solidFill>
              <a:srgbClr val="2A3654"/>
            </a:solidFill>
            <a:prstDash val="solid"/>
          </a:ln>
        </p:spPr>
      </p:sp>
      <p:sp>
        <p:nvSpPr>
          <p:cNvPr id="11" name="Text 9"/>
          <p:cNvSpPr txBox="1"/>
          <p:nvPr/>
        </p:nvSpPr>
        <p:spPr>
          <a:xfrm>
            <a:off x="8156448" y="1581912"/>
            <a:ext cx="3255264"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Predictive Risk Assessment</a:t>
            </a:r>
            <a:endParaRPr lang="en-US" sz="1600" dirty="0"/>
          </a:p>
        </p:txBody>
      </p:sp>
      <p:sp>
        <p:nvSpPr>
          <p:cNvPr id="12" name="Text 10"/>
          <p:cNvSpPr txBox="1"/>
          <p:nvPr/>
        </p:nvSpPr>
        <p:spPr>
          <a:xfrm>
            <a:off x="8156448" y="1965960"/>
            <a:ext cx="3255264" cy="1600200"/>
          </a:xfrm>
          <a:prstGeom prst="rect">
            <a:avLst/>
          </a:prstGeom>
          <a:noFill/>
          <a:ln/>
        </p:spPr>
        <p:txBody>
          <a:bodyPr wrap="square" lIns="0" tIns="0" rIns="0" bIns="0" rtlCol="0" anchor="t"/>
          <a:lstStyle/>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Contributing factors: distance, relative velocity, TTC, sensor confidence, uncertainty, predicted trajectory.</a:t>
            </a:r>
            <a:endParaRPr lang="en-US" sz="1250" dirty="0"/>
          </a:p>
          <a:p>
            <a:pPr marL="0" indent="0">
              <a:lnSpc>
                <a:spcPct val="115000"/>
              </a:lnSpc>
              <a:buNone/>
            </a:pPr>
            <a:endParaRPr lang="en-US" sz="1250" dirty="0"/>
          </a:p>
          <a:p>
            <a:pPr marL="0" indent="0">
              <a:lnSpc>
                <a:spcPct val="115000"/>
              </a:lnSpc>
              <a:buNone/>
            </a:pPr>
            <a:r>
              <a:rPr lang="en-US" sz="1250" dirty="0">
                <a:solidFill>
                  <a:srgbClr val="9AA5B8"/>
                </a:solidFill>
                <a:latin typeface="Calibri" pitchFamily="34" charset="0"/>
                <a:ea typeface="Calibri" pitchFamily="34" charset="-122"/>
                <a:cs typeface="Calibri" pitchFamily="34" charset="-120"/>
              </a:rPr>
              <a:t>Conceptual illustration only — thresholds and formulations to be finalized during experimentation.</a:t>
            </a:r>
            <a:endParaRPr lang="en-US" sz="1250" dirty="0"/>
          </a:p>
        </p:txBody>
      </p:sp>
      <p:sp>
        <p:nvSpPr>
          <p:cNvPr id="13" name="Text 11"/>
          <p:cNvSpPr txBox="1"/>
          <p:nvPr/>
        </p:nvSpPr>
        <p:spPr>
          <a:xfrm>
            <a:off x="548640" y="4420200"/>
            <a:ext cx="7315200" cy="292608"/>
          </a:xfrm>
          <a:prstGeom prst="rect">
            <a:avLst/>
          </a:prstGeom>
          <a:noFill/>
          <a:ln/>
        </p:spPr>
        <p:txBody>
          <a:bodyPr wrap="square" lIns="0" tIns="0" rIns="0" bIns="0" rtlCol="0" anchor="ctr"/>
          <a:lstStyle/>
          <a:p>
            <a:pPr marL="0" indent="0">
              <a:buNone/>
            </a:pPr>
            <a:r>
              <a:rPr lang="en-US" sz="1600" b="1" dirty="0">
                <a:solidFill>
                  <a:srgbClr val="F5F7FA"/>
                </a:solidFill>
                <a:latin typeface="Calibri" pitchFamily="34" charset="0"/>
                <a:ea typeface="Calibri" pitchFamily="34" charset="-122"/>
                <a:cs typeface="Calibri" pitchFamily="34" charset="-120"/>
              </a:rPr>
              <a:t>Adaptive Decision Making — Operating Regimes</a:t>
            </a:r>
            <a:endParaRPr lang="en-US" sz="1600" dirty="0"/>
          </a:p>
        </p:txBody>
      </p:sp>
      <p:sp>
        <p:nvSpPr>
          <p:cNvPr id="14" name="Shape 12"/>
          <p:cNvSpPr/>
          <p:nvPr/>
        </p:nvSpPr>
        <p:spPr>
          <a:xfrm>
            <a:off x="548640" y="4785960"/>
            <a:ext cx="3520440" cy="1051560"/>
          </a:xfrm>
          <a:prstGeom prst="roundRect">
            <a:avLst>
              <a:gd name="adj" fmla="val 6957"/>
            </a:avLst>
          </a:prstGeom>
          <a:solidFill>
            <a:srgbClr val="1E5631"/>
          </a:solidFill>
          <a:ln/>
        </p:spPr>
      </p:sp>
      <p:sp>
        <p:nvSpPr>
          <p:cNvPr id="15" name="Text 13"/>
          <p:cNvSpPr txBox="1"/>
          <p:nvPr/>
        </p:nvSpPr>
        <p:spPr>
          <a:xfrm>
            <a:off x="685800" y="4877400"/>
            <a:ext cx="3246120" cy="45720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Low Risk + High Confidence</a:t>
            </a:r>
            <a:endParaRPr lang="en-US" sz="1400" dirty="0"/>
          </a:p>
        </p:txBody>
      </p:sp>
      <p:sp>
        <p:nvSpPr>
          <p:cNvPr id="16" name="Text 14"/>
          <p:cNvSpPr txBox="1"/>
          <p:nvPr/>
        </p:nvSpPr>
        <p:spPr>
          <a:xfrm>
            <a:off x="685800" y="5362032"/>
            <a:ext cx="3246120" cy="384048"/>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Normal operation</a:t>
            </a:r>
            <a:endParaRPr lang="en-US" sz="1300" dirty="0"/>
          </a:p>
        </p:txBody>
      </p:sp>
      <p:sp>
        <p:nvSpPr>
          <p:cNvPr id="17" name="Shape 15"/>
          <p:cNvSpPr/>
          <p:nvPr/>
        </p:nvSpPr>
        <p:spPr>
          <a:xfrm>
            <a:off x="4251960" y="4785960"/>
            <a:ext cx="3520440" cy="1051560"/>
          </a:xfrm>
          <a:prstGeom prst="roundRect">
            <a:avLst>
              <a:gd name="adj" fmla="val 6957"/>
            </a:avLst>
          </a:prstGeom>
          <a:solidFill>
            <a:srgbClr val="6B5A12"/>
          </a:solidFill>
          <a:ln/>
        </p:spPr>
      </p:sp>
      <p:sp>
        <p:nvSpPr>
          <p:cNvPr id="18" name="Text 16"/>
          <p:cNvSpPr txBox="1"/>
          <p:nvPr/>
        </p:nvSpPr>
        <p:spPr>
          <a:xfrm>
            <a:off x="4389120" y="4877400"/>
            <a:ext cx="3246120" cy="45720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Medium Risk / Moderate Uncertainty</a:t>
            </a:r>
            <a:endParaRPr lang="en-US" sz="1400" dirty="0"/>
          </a:p>
        </p:txBody>
      </p:sp>
      <p:sp>
        <p:nvSpPr>
          <p:cNvPr id="19" name="Text 17"/>
          <p:cNvSpPr txBox="1"/>
          <p:nvPr/>
        </p:nvSpPr>
        <p:spPr>
          <a:xfrm>
            <a:off x="4389120" y="5362032"/>
            <a:ext cx="3246120" cy="384048"/>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Increased caution</a:t>
            </a:r>
            <a:endParaRPr lang="en-US" sz="1300" dirty="0"/>
          </a:p>
        </p:txBody>
      </p:sp>
      <p:sp>
        <p:nvSpPr>
          <p:cNvPr id="20" name="Shape 18"/>
          <p:cNvSpPr/>
          <p:nvPr/>
        </p:nvSpPr>
        <p:spPr>
          <a:xfrm>
            <a:off x="7955280" y="4785960"/>
            <a:ext cx="3520440" cy="1051560"/>
          </a:xfrm>
          <a:prstGeom prst="roundRect">
            <a:avLst>
              <a:gd name="adj" fmla="val 6957"/>
            </a:avLst>
          </a:prstGeom>
          <a:solidFill>
            <a:srgbClr val="5E1A28"/>
          </a:solidFill>
          <a:ln/>
        </p:spPr>
      </p:sp>
      <p:sp>
        <p:nvSpPr>
          <p:cNvPr id="21" name="Text 19"/>
          <p:cNvSpPr txBox="1"/>
          <p:nvPr/>
        </p:nvSpPr>
        <p:spPr>
          <a:xfrm>
            <a:off x="8092440" y="4877400"/>
            <a:ext cx="3246120" cy="45720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High Risk / Low Confidence</a:t>
            </a:r>
            <a:endParaRPr lang="en-US" sz="1400" dirty="0"/>
          </a:p>
        </p:txBody>
      </p:sp>
      <p:sp>
        <p:nvSpPr>
          <p:cNvPr id="22" name="Text 20"/>
          <p:cNvSpPr txBox="1"/>
          <p:nvPr/>
        </p:nvSpPr>
        <p:spPr>
          <a:xfrm>
            <a:off x="8092440" y="5362032"/>
            <a:ext cx="3246120" cy="384048"/>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Conservative action — braking or lane strategy</a:t>
            </a:r>
            <a:endParaRPr lang="en-US" sz="1300" dirty="0"/>
          </a:p>
        </p:txBody>
      </p:sp>
      <p:sp>
        <p:nvSpPr>
          <p:cNvPr id="23" name="Text 21"/>
          <p:cNvSpPr txBox="1"/>
          <p:nvPr/>
        </p:nvSpPr>
        <p:spPr>
          <a:xfrm>
            <a:off x="548640" y="6066120"/>
            <a:ext cx="1097280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The system continuously reassesses confidence and risk, transitioning smoothly between operating regimes as conditions change.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BACKUP D</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Detailed Team Responsibilities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206240"/>
        </p:xfrm>
        <a:graphic>
          <a:graphicData uri="http://schemas.openxmlformats.org/drawingml/2006/table">
            <a:tbl>
              <a:tblPr/>
              <a:tblGrid>
                <a:gridCol w="2651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841248">
                <a:tc>
                  <a:txBody>
                    <a:bodyPr/>
                    <a:lstStyle/>
                    <a:p>
                      <a:pPr marL="0" indent="0">
                        <a:buNone/>
                      </a:pPr>
                      <a:r>
                        <a:rPr lang="en-US" sz="1400" b="1" dirty="0">
                          <a:solidFill>
                            <a:srgbClr val="0B1120"/>
                          </a:solidFill>
                        </a:rPr>
                        <a:t>Member</a:t>
                      </a:r>
                      <a:endParaRPr lang="en-US" sz="14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Primary Domain</a:t>
                      </a:r>
                      <a:endParaRPr lang="en-US" sz="14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tc>
                  <a:txBody>
                    <a:bodyPr/>
                    <a:lstStyle/>
                    <a:p>
                      <a:pPr marL="0" indent="0">
                        <a:buNone/>
                      </a:pPr>
                      <a:r>
                        <a:rPr lang="en-US" sz="1400" b="1" dirty="0">
                          <a:solidFill>
                            <a:srgbClr val="0B1120"/>
                          </a:solidFill>
                        </a:rPr>
                        <a:t>Detailed Responsibilities</a:t>
                      </a:r>
                      <a:endParaRPr lang="en-US" sz="14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841248">
                <a:tc>
                  <a:txBody>
                    <a:bodyPr/>
                    <a:lstStyle/>
                    <a:p>
                      <a:pPr marL="0" indent="0">
                        <a:buNone/>
                      </a:pPr>
                      <a:r>
                        <a:rPr lang="en-US" sz="1300" b="1" dirty="0">
                          <a:solidFill>
                            <a:srgbClr val="F5F7FA"/>
                          </a:solidFill>
                        </a:rPr>
                        <a:t>Chintha Deepak (ENG23RA0029)</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System Architecture &amp; AI Integration</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Define overall system architecture; design the end-to-end adaptive AI pipeline; coordinate integration across perception, fusion, risk and control modules; plan and coordinate experiments across the team.</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1"/>
                  </a:ext>
                </a:extLst>
              </a:tr>
              <a:tr h="841248">
                <a:tc>
                  <a:txBody>
                    <a:bodyPr/>
                    <a:lstStyle/>
                    <a:p>
                      <a:pPr marL="0" indent="0">
                        <a:buNone/>
                      </a:pPr>
                      <a:r>
                        <a:rPr lang="en-US" sz="1300" b="1" dirty="0">
                          <a:solidFill>
                            <a:srgbClr val="F5F7FA"/>
                          </a:solidFill>
                        </a:rPr>
                        <a:t>Harshitha P (ENG23RA0008)</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Computer Vision &amp; Perception</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Build and evaluate the camera-based perception pipeline; implement object detection and tracking; develop lane perception; support perception-stage evaluation metrics.</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2"/>
                  </a:ext>
                </a:extLst>
              </a:tr>
              <a:tr h="841248">
                <a:tc>
                  <a:txBody>
                    <a:bodyPr/>
                    <a:lstStyle/>
                    <a:p>
                      <a:pPr marL="0" indent="0">
                        <a:buNone/>
                      </a:pPr>
                      <a:r>
                        <a:rPr lang="en-US" sz="1300" b="1" dirty="0">
                          <a:solidFill>
                            <a:srgbClr val="F5F7FA"/>
                          </a:solidFill>
                        </a:rPr>
                        <a:t>Dhanush S (ENG23RA0030)</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Sensor Fusion &amp; Risk Intelligence</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tc>
                  <a:txBody>
                    <a:bodyPr/>
                    <a:lstStyle/>
                    <a:p>
                      <a:pPr marL="0" indent="0">
                        <a:buNone/>
                      </a:pPr>
                      <a:r>
                        <a:rPr lang="en-US" sz="1300" dirty="0">
                          <a:solidFill>
                            <a:srgbClr val="9AA5B8"/>
                          </a:solidFill>
                        </a:rPr>
                        <a:t>Process LiDAR/radar data; develop sensor reliability estimation; implement uncertainty estimation; detect sensor disagreement; build adaptive fusion logic; design risk-assessment computation; run sensor-failure experiments.</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0162B"/>
                    </a:solidFill>
                  </a:tcPr>
                </a:tc>
                <a:extLst>
                  <a:ext uri="{0D108BD9-81ED-4DB2-BD59-A6C34878D82A}">
                    <a16:rowId xmlns:a16="http://schemas.microsoft.com/office/drawing/2014/main" val="10003"/>
                  </a:ext>
                </a:extLst>
              </a:tr>
              <a:tr h="841248">
                <a:tc>
                  <a:txBody>
                    <a:bodyPr/>
                    <a:lstStyle/>
                    <a:p>
                      <a:pPr marL="0" indent="0">
                        <a:buNone/>
                      </a:pPr>
                      <a:r>
                        <a:rPr lang="en-US" sz="1300" b="1" dirty="0">
                          <a:solidFill>
                            <a:srgbClr val="F5F7FA"/>
                          </a:solidFill>
                        </a:rPr>
                        <a:t>M N S J Sreekar (ENG23RA0033)</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ROS 2, Planning &amp; Hardware</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tc>
                  <a:txBody>
                    <a:bodyPr/>
                    <a:lstStyle/>
                    <a:p>
                      <a:pPr marL="0" indent="0">
                        <a:buNone/>
                      </a:pPr>
                      <a:r>
                        <a:rPr lang="en-US" sz="1300" dirty="0">
                          <a:solidFill>
                            <a:srgbClr val="9AA5B8"/>
                          </a:solidFill>
                        </a:rPr>
                        <a:t>Integrate ROS 2 nodes and topics across the pipeline; implement path planning; develop vehicle-control logic; integrate simulated V2X; build/support the hardware prototype.</a:t>
                      </a:r>
                      <a:endParaRPr lang="en-US" sz="1300" dirty="0"/>
                    </a:p>
                  </a:txBody>
                  <a:tcPr marL="101600" marR="101600" marT="50800" marB="50800" anchor="ctr">
                    <a:lnL w="6350" cap="flat" cmpd="sng" algn="ctr">
                      <a:solidFill>
                        <a:srgbClr val="2A3654"/>
                      </a:solidFill>
                      <a:prstDash val="solid"/>
                      <a:round/>
                      <a:headEnd type="none" w="med" len="med"/>
                      <a:tailEnd type="none" w="med" len="med"/>
                    </a:lnL>
                    <a:lnR w="6350" cap="flat" cmpd="sng" algn="ctr">
                      <a:solidFill>
                        <a:srgbClr val="2A3654"/>
                      </a:solidFill>
                      <a:prstDash val="solid"/>
                      <a:round/>
                      <a:headEnd type="none" w="med" len="med"/>
                      <a:tailEnd type="none" w="med" len="med"/>
                    </a:lnR>
                    <a:lnT w="6350" cap="flat" cmpd="sng" algn="ctr">
                      <a:solidFill>
                        <a:srgbClr val="2A3654"/>
                      </a:solidFill>
                      <a:prstDash val="solid"/>
                      <a:round/>
                      <a:headEnd type="none" w="med" len="med"/>
                      <a:tailEnd type="none" w="med" len="med"/>
                    </a:lnT>
                    <a:lnB w="6350" cap="flat" cmpd="sng" algn="ctr">
                      <a:solidFill>
                        <a:srgbClr val="2A3654"/>
                      </a:solidFill>
                      <a:prstDash val="solid"/>
                      <a:round/>
                      <a:headEnd type="none" w="med" len="med"/>
                      <a:tailEnd type="none" w="med" len="med"/>
                    </a:lnB>
                    <a:solidFill>
                      <a:srgbClr val="141B33"/>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806440"/>
            <a:ext cx="1097280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Proposed / planned contribution at Zeroth Stage. Every member is expected to understand the complete system for individual evaluation.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62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450" b="1" kern="0" spc="200" dirty="0">
                <a:solidFill>
                  <a:srgbClr val="22D3EE"/>
                </a:solidFill>
                <a:latin typeface="Calibri" pitchFamily="34" charset="0"/>
                <a:ea typeface="Calibri" pitchFamily="34" charset="-122"/>
                <a:cs typeface="Calibri" pitchFamily="34" charset="-120"/>
              </a:rPr>
              <a:t>BACKUP E</a:t>
            </a:r>
            <a:endParaRPr lang="en-US" sz="1450" dirty="0"/>
          </a:p>
        </p:txBody>
      </p:sp>
      <p:sp>
        <p:nvSpPr>
          <p:cNvPr id="3" name="Text 1"/>
          <p:cNvSpPr txBox="1"/>
          <p:nvPr/>
        </p:nvSpPr>
        <p:spPr>
          <a:xfrm>
            <a:off x="548640" y="566928"/>
            <a:ext cx="10607040" cy="640080"/>
          </a:xfrm>
          <a:prstGeom prst="rect">
            <a:avLst/>
          </a:prstGeom>
          <a:noFill/>
          <a:ln/>
        </p:spPr>
        <p:txBody>
          <a:bodyPr wrap="square" lIns="0" tIns="0" rIns="0" bIns="0" rtlCol="0" anchor="ctr"/>
          <a:lstStyle/>
          <a:p>
            <a:pPr marL="0" indent="0">
              <a:buNone/>
            </a:pPr>
            <a:r>
              <a:rPr lang="en-US" sz="3000" b="1" dirty="0">
                <a:solidFill>
                  <a:srgbClr val="F5F7FA"/>
                </a:solidFill>
                <a:latin typeface="Cambria" pitchFamily="34" charset="0"/>
                <a:ea typeface="Cambria" pitchFamily="34" charset="-122"/>
                <a:cs typeface="Cambria" pitchFamily="34" charset="-120"/>
              </a:rPr>
              <a:t>Viva Preparation — Likely Questions</a:t>
            </a:r>
            <a:endParaRPr lang="en-US" sz="3000" dirty="0"/>
          </a:p>
        </p:txBody>
      </p:sp>
      <p:sp>
        <p:nvSpPr>
          <p:cNvPr id="4" name="Text 2"/>
          <p:cNvSpPr txBox="1"/>
          <p:nvPr/>
        </p:nvSpPr>
        <p:spPr>
          <a:xfrm>
            <a:off x="548640" y="1554480"/>
            <a:ext cx="5394960" cy="4480560"/>
          </a:xfrm>
          <a:prstGeom prst="rect">
            <a:avLst/>
          </a:prstGeom>
          <a:noFill/>
          <a:ln/>
        </p:spPr>
        <p:txBody>
          <a:bodyPr wrap="square" lIns="0" tIns="0" rIns="0" bIns="0" rtlCol="0" anchor="t"/>
          <a:lstStyle/>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  What is the exact problem?</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2.  Why multiple sensors?</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3.  Why does sensor reliability matter?</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4.  What is sensor fusion?</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5.  What is adaptive fusion?</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6.  What is uncertainty?</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7.  How can reliability be estimated?</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8.  What happens when sensors disagree?</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9.  What is TTC?</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10.  How is risk calculated?</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11.  Why CARLA?</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12.  Why ROS 2?</a:t>
            </a:r>
            <a:endParaRPr lang="en-US" sz="1600" dirty="0"/>
          </a:p>
        </p:txBody>
      </p:sp>
      <p:sp>
        <p:nvSpPr>
          <p:cNvPr id="5" name="Text 3"/>
          <p:cNvSpPr txBox="1"/>
          <p:nvPr/>
        </p:nvSpPr>
        <p:spPr>
          <a:xfrm>
            <a:off x="6217920" y="1554480"/>
            <a:ext cx="5394960" cy="4480560"/>
          </a:xfrm>
          <a:prstGeom prst="rect">
            <a:avLst/>
          </a:prstGeom>
          <a:noFill/>
          <a:ln/>
        </p:spPr>
        <p:txBody>
          <a:bodyPr wrap="square" lIns="0" tIns="0" rIns="0" bIns="0" rtlCol="0" anchor="t"/>
          <a:lstStyle/>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13.  What is V2X?</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14.  What is your research gap?</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15.  What is your novelty?</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16.  How is your work different from existing work?</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17.  What is patentable?</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18.  What is your individual contribution?</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19.  How will you validate the system?</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20.  What is your baseline?</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21.  What are your expected results?</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22.  What are your limitations?</a:t>
            </a:r>
            <a:endParaRPr lang="en-US" sz="1600" dirty="0"/>
          </a:p>
          <a:p>
            <a:pPr marL="0" indent="0">
              <a:lnSpc>
                <a:spcPct val="145000"/>
              </a:lnSpc>
              <a:buNone/>
            </a:pPr>
            <a:r>
              <a:rPr lang="en-US" sz="1600" dirty="0">
                <a:solidFill>
                  <a:srgbClr val="9AA5B8"/>
                </a:solidFill>
                <a:latin typeface="Calibri" pitchFamily="34" charset="0"/>
                <a:ea typeface="Calibri" pitchFamily="34" charset="-122"/>
                <a:cs typeface="Calibri" pitchFamily="34" charset="-120"/>
              </a:rPr>
              <a:t>23.  Why is the project feasible?</a:t>
            </a:r>
            <a:endParaRPr lang="en-US" sz="1600" dirty="0"/>
          </a:p>
        </p:txBody>
      </p:sp>
      <p:sp>
        <p:nvSpPr>
          <p:cNvPr id="6" name="Text 4"/>
          <p:cNvSpPr txBox="1"/>
          <p:nvPr/>
        </p:nvSpPr>
        <p:spPr>
          <a:xfrm>
            <a:off x="548640" y="6355080"/>
            <a:ext cx="11064240" cy="32004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Because evaluation is individual, every member should be able to answer these for the complete project — not only their own assigned module. See each main slide's speaker notes for suggested answers.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7188</Words>
  <Application>Microsoft Office PowerPoint</Application>
  <PresentationFormat>Widescreen</PresentationFormat>
  <Paragraphs>492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3</cp:revision>
  <dcterms:created xsi:type="dcterms:W3CDTF">2026-09-06T12:47:49Z</dcterms:created>
  <dcterms:modified xsi:type="dcterms:W3CDTF">2026-09-06T14:01:02Z</dcterms:modified>
</cp:coreProperties>
</file>