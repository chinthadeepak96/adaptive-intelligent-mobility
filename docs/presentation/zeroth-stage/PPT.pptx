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3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3.png"/><Relationship Id="rId8" Type="http://schemas.openxmlformats.org/officeDocument/2006/relationships/image" Target="../media/image-10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image" Target="../media/image-1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image" Target="../media/image-18-2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2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proj/icons/radar_sweep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503920" y="-1097280"/>
            <a:ext cx="4754880" cy="4754880"/>
          </a:xfrm>
          <a:prstGeom prst="rect">
            <a:avLst/>
          </a:prstGeom>
        </p:spPr>
      </p:pic>
      <p:pic>
        <p:nvPicPr>
          <p:cNvPr id="4" name="Image 2" descr="/home/claude/proj/icons/lidar_pts.png">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CAPSTONE PROJECT  •  ARTIFICIAL INTELLIGENCE &amp; ROBOTICS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777240" y="1508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AI-Driven Intelligent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System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Advanced ADAS and Autonomous Driving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9" name="Image 3" descr="/home/claude/proj/icons/camera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4228551"/>
            <a:ext cx="430865" cy="43086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4360" y="4754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</p:txBody>
      </p:sp>
      <p:sp>
        <p:nvSpPr>
          <p:cNvPr id="11" name="Shape 5"/>
          <p:cNvSpPr/>
          <p:nvPr/>
        </p:nvSpPr>
        <p:spPr>
          <a:xfrm>
            <a:off x="1783080" y="4160520"/>
            <a:ext cx="566928" cy="566928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4" descr="/home/claude/proj/icons/lidar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111" y="4228551"/>
            <a:ext cx="430865" cy="43086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54480" y="4754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2743200" y="4160520"/>
            <a:ext cx="566928" cy="566928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5" descr="/home/claude/proj/icons/rada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231" y="4228551"/>
            <a:ext cx="430865" cy="43086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2514600" y="4754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3703320" y="4160520"/>
            <a:ext cx="566928" cy="566928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6" descr="/home/claude/proj/icons/imu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351" y="4228551"/>
            <a:ext cx="430865" cy="43086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474720" y="4754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4663440" y="4160520"/>
            <a:ext cx="566928" cy="566928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7" descr="/home/claude/proj/icons/v2x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1471" y="4228551"/>
            <a:ext cx="430865" cy="43086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434840" y="4754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</a:t>
            </a:r>
            <a:endParaRPr lang="en-US" sz="1050" dirty="0"/>
          </a:p>
        </p:txBody>
      </p:sp>
      <p:pic>
        <p:nvPicPr>
          <p:cNvPr id="23" name="Image 8" descr="/home/claude/proj/icons/car_side.png">    </p:cNvPr>
          <p:cNvPicPr>
            <a:picLocks noChangeAspect="1"/>
          </p:cNvPicPr>
          <p:nvPr/>
        </p:nvPicPr>
        <p:blipFill>
          <a:blip r:embed="rId9">
            <a:alphaModFix amt="92000"/>
          </a:blip>
          <a:stretch>
            <a:fillRect/>
          </a:stretch>
        </p:blipFill>
        <p:spPr>
          <a:xfrm>
            <a:off x="6309360" y="3931920"/>
            <a:ext cx="5394960" cy="2002536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822960" y="557784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0E1730">
              <a:alpha val="85000"/>
            </a:srgbClr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Text 14"/>
          <p:cNvSpPr txBox="1"/>
          <p:nvPr/>
        </p:nvSpPr>
        <p:spPr>
          <a:xfrm>
            <a:off x="1051560" y="5632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Stage Project Evaluation</a:t>
            </a:r>
            <a:endParaRPr lang="en-US" sz="1200" dirty="0"/>
          </a:p>
        </p:txBody>
      </p:sp>
      <p:sp>
        <p:nvSpPr>
          <p:cNvPr id="26" name="Text 15"/>
          <p:cNvSpPr txBox="1"/>
          <p:nvPr/>
        </p:nvSpPr>
        <p:spPr>
          <a:xfrm>
            <a:off x="1051560" y="5907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— Adaptive Perception, Sensor Fusion &amp; Risk-Aware Decision Making</a:t>
            </a:r>
            <a:endParaRPr lang="en-US" sz="950" dirty="0"/>
          </a:p>
        </p:txBody>
      </p:sp>
      <p:sp>
        <p:nvSpPr>
          <p:cNvPr id="27" name="Text 1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3000" dirty="0"/>
          </a:p>
        </p:txBody>
      </p:sp>
      <p:pic>
        <p:nvPicPr>
          <p:cNvPr id="5" name="Image 1" descr="/home/claude/proj/icons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669280" cy="2651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040880" y="2331720"/>
            <a:ext cx="502920" cy="502920"/>
          </a:xfrm>
          <a:prstGeom prst="ellipse">
            <a:avLst/>
          </a:prstGeom>
          <a:solidFill>
            <a:srgbClr val="17203D"/>
          </a:solidFill>
          <a:ln w="12700">
            <a:solidFill>
              <a:srgbClr val="6B7A99"/>
            </a:solidFill>
            <a:prstDash val="solid"/>
          </a:ln>
        </p:spPr>
      </p:sp>
      <p:pic>
        <p:nvPicPr>
          <p:cNvPr id="7" name="Image 2" descr="/home/claude/proj/icons/c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30" y="2392070"/>
            <a:ext cx="382219" cy="38221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052560" y="3063240"/>
            <a:ext cx="384048" cy="384048"/>
          </a:xfrm>
          <a:prstGeom prst="ellipse">
            <a:avLst/>
          </a:prstGeom>
          <a:solidFill>
            <a:srgbClr val="17203D"/>
          </a:solidFill>
          <a:ln w="12700">
            <a:solidFill>
              <a:srgbClr val="6B7A99"/>
            </a:solidFill>
            <a:prstDash val="solid"/>
          </a:ln>
        </p:spPr>
      </p:sp>
      <p:pic>
        <p:nvPicPr>
          <p:cNvPr id="9" name="Image 3" descr="/home/claude/proj/icons/pedestria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646" y="3109326"/>
            <a:ext cx="291876" cy="29187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966960" y="2651760"/>
            <a:ext cx="457200" cy="457200"/>
          </a:xfrm>
          <a:prstGeom prst="ellipse">
            <a:avLst/>
          </a:prstGeom>
          <a:solidFill>
            <a:srgbClr val="17203D"/>
          </a:solidFill>
          <a:ln w="12700">
            <a:solidFill>
              <a:srgbClr val="6B7A99"/>
            </a:solidFill>
            <a:prstDash val="solid"/>
          </a:ln>
        </p:spPr>
      </p:sp>
      <p:pic>
        <p:nvPicPr>
          <p:cNvPr id="11" name="Image 4" descr="/home/claude/proj/icons/mot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2706624"/>
            <a:ext cx="347472" cy="347472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955280" y="3383280"/>
            <a:ext cx="548640" cy="548640"/>
          </a:xfrm>
          <a:prstGeom prst="ellipse">
            <a:avLst/>
          </a:prstGeom>
          <a:solidFill>
            <a:srgbClr val="17203D"/>
          </a:solidFill>
          <a:ln w="12700">
            <a:solidFill>
              <a:srgbClr val="6B7A99"/>
            </a:solidFill>
            <a:prstDash val="solid"/>
          </a:ln>
        </p:spPr>
      </p:sp>
      <p:pic>
        <p:nvPicPr>
          <p:cNvPr id="13" name="Image 5" descr="/home/claude/proj/icons/c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1117" y="3449117"/>
            <a:ext cx="416966" cy="416966"/>
          </a:xfrm>
          <a:prstGeom prst="rect">
            <a:avLst/>
          </a:prstGeom>
        </p:spPr>
      </p:pic>
      <p:pic>
        <p:nvPicPr>
          <p:cNvPr id="14" name="Image 6" descr="/home/claude/proj/icons/lidar_pts.png">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6035040" y="1417320"/>
            <a:ext cx="5669280" cy="265176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6035040" y="4160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real-world driving scene — dynamic, uncertain, and only partially observable.</a:t>
            </a:r>
            <a:endParaRPr lang="en-US" sz="1000" dirty="0"/>
          </a:p>
        </p:txBody>
      </p:sp>
      <p:sp>
        <p:nvSpPr>
          <p:cNvPr id="16" name="Shape 7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7" descr="/home/claude/proj/icons/grid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1655064"/>
            <a:ext cx="347472" cy="347472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234440" y="15727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agents</a:t>
            </a:r>
            <a:endParaRPr lang="en-US" sz="1400" dirty="0"/>
          </a:p>
        </p:txBody>
      </p:sp>
      <p:sp>
        <p:nvSpPr>
          <p:cNvPr id="19" name="Text 9"/>
          <p:cNvSpPr txBox="1"/>
          <p:nvPr/>
        </p:nvSpPr>
        <p:spPr>
          <a:xfrm>
            <a:off x="1234440" y="1892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pedestrians, and riders move unpredictably and interact simultaneously.</a:t>
            </a:r>
            <a:endParaRPr lang="en-US" sz="1150" dirty="0"/>
          </a:p>
        </p:txBody>
      </p:sp>
      <p:sp>
        <p:nvSpPr>
          <p:cNvPr id="20" name="Shape 10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8" descr="/home/claude/proj/icons/ey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2706624"/>
            <a:ext cx="347472" cy="347472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234440" y="2624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conditions</a:t>
            </a:r>
            <a:endParaRPr lang="en-US" sz="1400" dirty="0"/>
          </a:p>
        </p:txBody>
      </p:sp>
      <p:sp>
        <p:nvSpPr>
          <p:cNvPr id="23" name="Text 12"/>
          <p:cNvSpPr txBox="1"/>
          <p:nvPr/>
        </p:nvSpPr>
        <p:spPr>
          <a:xfrm>
            <a:off x="1234440" y="2944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Unmarked lanes, occlusions, and poor visibility limit what sensors can perceive.</a:t>
            </a:r>
            <a:endParaRPr lang="en-US" sz="1150" dirty="0"/>
          </a:p>
        </p:txBody>
      </p:sp>
      <p:sp>
        <p:nvSpPr>
          <p:cNvPr id="24" name="Shape 13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5" name="Image 9" descr="/home/claude/proj/icons/layers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3758184"/>
            <a:ext cx="347472" cy="34747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234440" y="3675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information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234440" y="3995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perception system operates on incomplete, sometimes conflicting, sensor data.</a:t>
            </a:r>
            <a:endParaRPr lang="en-US" sz="1150" dirty="0"/>
          </a:p>
        </p:txBody>
      </p:sp>
      <p:sp>
        <p:nvSpPr>
          <p:cNvPr id="28" name="Shape 16"/>
          <p:cNvSpPr/>
          <p:nvPr/>
        </p:nvSpPr>
        <p:spPr>
          <a:xfrm>
            <a:off x="548640" y="525780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0E1730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9" name="Text 17"/>
          <p:cNvSpPr txBox="1"/>
          <p:nvPr/>
        </p:nvSpPr>
        <p:spPr>
          <a:xfrm>
            <a:off x="822960" y="53492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“Autonomous intelligence is only as reliable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information it receives.”</a:t>
            </a:r>
            <a:endParaRPr lang="en-US" sz="1550" dirty="0"/>
          </a:p>
        </p:txBody>
      </p:sp>
      <p:sp>
        <p:nvSpPr>
          <p:cNvPr id="30" name="Text 1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Need</a:t>
            </a:r>
            <a:endParaRPr lang="en-US" sz="900" dirty="0"/>
          </a:p>
        </p:txBody>
      </p:sp>
      <p:sp>
        <p:nvSpPr>
          <p:cNvPr id="31" name="Text 1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NEED → PROBLEM STATEMENT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sensors observe the same environment — but each is independently vulnerable to degradation.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1" descr="/home/claude/proj/icons/rai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848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116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interference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fog, and glare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182880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53128" y="202996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3" name="Image 2" descr="/home/claude/proj/icons/occlusion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08483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20116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lines of sight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55280" y="182880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56448" y="202996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3" descr="/home/claude/proj/icons/nois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08483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32520" y="20116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873252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Signal-level distortion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24612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4" descr="/home/claude/proj/icons/calib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0215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3429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errors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1325880" y="3749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Extrinsic/intrinsic drift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251960" y="324612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53128" y="344728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5" descr="/home/claude/proj/icons/fail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350215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029200" y="3429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failure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5029200" y="3749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or blackout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7955280" y="3246120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156448" y="3447288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3" name="Image 6" descr="/home/claude/proj/icons/scal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350215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732520" y="3429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observations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8732520" y="3749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disagreement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50E1E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22960" y="5349240"/>
            <a:ext cx="2103120" cy="777240"/>
          </a:xfrm>
          <a:prstGeom prst="roundRect">
            <a:avLst>
              <a:gd name="adj" fmla="val 20000"/>
            </a:avLst>
          </a:prstGeom>
          <a:solidFill>
            <a:srgbClr val="1E14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822960" y="5349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063240" y="5733288"/>
            <a:ext cx="594360" cy="0"/>
          </a:xfrm>
          <a:prstGeom prst="line">
            <a:avLst/>
          </a:prstGeom>
          <a:noFill/>
          <a:ln w="22225">
            <a:solidFill>
              <a:srgbClr val="F472B6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3794760" y="5349240"/>
            <a:ext cx="2286000" cy="777240"/>
          </a:xfrm>
          <a:prstGeom prst="roundRect">
            <a:avLst>
              <a:gd name="adj" fmla="val 20000"/>
            </a:avLst>
          </a:prstGeom>
          <a:solidFill>
            <a:srgbClr val="1E14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379476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Changing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6217920" y="5733288"/>
            <a:ext cx="594360" cy="0"/>
          </a:xfrm>
          <a:prstGeom prst="line">
            <a:avLst/>
          </a:prstGeom>
          <a:noFill/>
          <a:ln w="22225">
            <a:solidFill>
              <a:srgbClr val="F472B6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949440" y="5349240"/>
            <a:ext cx="2286000" cy="777240"/>
          </a:xfrm>
          <a:prstGeom prst="roundRect">
            <a:avLst>
              <a:gd name="adj" fmla="val 20000"/>
            </a:avLst>
          </a:prstGeom>
          <a:solidFill>
            <a:srgbClr val="1E14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94944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Unsafe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Decisions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9418320" y="5349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unreliability, if left unmodeled, can silently propagate into downstream decisions.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ADAS / Autonomous Systems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1" descr="/home/claude/proj/icons/gaug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1431950"/>
            <a:ext cx="382219" cy="3822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Cruise Control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16642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Speed/distance regulation using radar or camera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2" descr="/home/claude/proj/icons/roa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1431950"/>
            <a:ext cx="382219" cy="38221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1228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Keeping / Centering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812280" y="16642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lane detection and steering support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3" descr="/home/claude/proj/icons/aler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2364638"/>
            <a:ext cx="382219" cy="38221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Collision Warning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1188720" y="25968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 alerts from range sensors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172200" y="2304288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4" descr="/home/claude/proj/icons/shiel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550" y="2364638"/>
            <a:ext cx="382219" cy="38221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1228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 Braking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6812280" y="25968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braking on imminent-collision detection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48640" y="3236976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5" descr="/home/claude/proj/icons/ey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" y="3297326"/>
            <a:ext cx="382219" cy="38221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8872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Monitoring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1188720" y="35295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coverage via radar/ultrasonic sensors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172200" y="3236976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6" name="Image 6" descr="/home/claude/proj/icons/layers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550" y="3297326"/>
            <a:ext cx="382219" cy="38221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1228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Perception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6812280" y="35295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LiDAR + radar fusion pipelines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0E1730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822960" y="5029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systems already contain sophisticated perception and fusion pipelines. This research does not aim to replace them — it focuses specifically on how sensor reliability and uncertainty change during operation, and how that changing reliability should adaptively influence fusion and decision-making.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unsupported claims about specific commercial products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60020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lay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55064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" y="219456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2313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multi-modal data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assumes static sensor reliability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61104" y="141732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62272" y="160020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2" descr="/home/claude/proj/icons/ale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65506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38344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 Detection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462272" y="219456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62272" y="2313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faulty/degraded sensors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462272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with fusion weighting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73568" y="141732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74736" y="160020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/home/claude/proj/icons/scal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550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750808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Estimation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174736" y="219456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174736" y="2313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perception confidence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8174736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propagated into decision layers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74904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4" descr="/home/claude/proj/icons/gaug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8678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Driving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49808" y="452628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49808" y="4645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behaviour to situational risk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49808" y="5212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decoupled from sensor-level confidence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261104" y="374904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462272" y="393192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5" name="Image 5" descr="/home/claude/proj/icons/v2x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986784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038344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Perception / V2X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4462272" y="452628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462272" y="4645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perception across agents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4462272" y="5212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reliable communication channels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7973568" y="3749040"/>
            <a:ext cx="3493008" cy="2148840"/>
          </a:xfrm>
          <a:prstGeom prst="roundRect">
            <a:avLst>
              <a:gd name="adj" fmla="val 383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174736" y="3931920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2" name="Image 6" descr="/home/claude/proj/icons/grid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986784"/>
            <a:ext cx="347472" cy="34747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75080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Scenario Validation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8174736" y="4526280"/>
            <a:ext cx="31089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8174736" y="4645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CARLA/ROS-based testing frameworks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8174736" y="5212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focus on adaptive reliability scenarios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synthesis — specific citations added when literature survey is finalized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925726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19257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40126" y="1417320"/>
            <a:ext cx="1925726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840126" y="1417320"/>
            <a:ext cx="19257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31613" y="1417320"/>
            <a:ext cx="1925726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31613" y="1417320"/>
            <a:ext cx="19257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23099" y="1417320"/>
            <a:ext cx="1925726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23099" y="1417320"/>
            <a:ext cx="19257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714586" y="1417320"/>
            <a:ext cx="1925726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714586" y="1417320"/>
            <a:ext cx="19257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286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largely as separate problems in existing research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511503" y="2606040"/>
            <a:ext cx="0" cy="502920"/>
          </a:xfrm>
          <a:prstGeom prst="line">
            <a:avLst/>
          </a:prstGeom>
          <a:noFill/>
          <a:ln w="1587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802990" y="2606040"/>
            <a:ext cx="0" cy="502920"/>
          </a:xfrm>
          <a:prstGeom prst="line">
            <a:avLst/>
          </a:prstGeom>
          <a:noFill/>
          <a:ln w="1587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094476" y="2606040"/>
            <a:ext cx="0" cy="502920"/>
          </a:xfrm>
          <a:prstGeom prst="line">
            <a:avLst/>
          </a:prstGeom>
          <a:noFill/>
          <a:ln w="1587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385962" y="2606040"/>
            <a:ext cx="0" cy="502920"/>
          </a:xfrm>
          <a:prstGeom prst="line">
            <a:avLst/>
          </a:prstGeom>
          <a:noFill/>
          <a:ln w="1587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0677449" y="2606040"/>
            <a:ext cx="0" cy="502920"/>
          </a:xfrm>
          <a:prstGeom prst="line">
            <a:avLst/>
          </a:prstGeom>
          <a:noFill/>
          <a:ln w="1587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48640" y="3200400"/>
            <a:ext cx="2194560" cy="731520"/>
          </a:xfrm>
          <a:prstGeom prst="roundRect">
            <a:avLst>
              <a:gd name="adj" fmla="val 2125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2816352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3209544" y="3200400"/>
            <a:ext cx="2194560" cy="731520"/>
          </a:xfrm>
          <a:prstGeom prst="roundRect">
            <a:avLst>
              <a:gd name="adj" fmla="val 2125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9544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77256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870448" y="3200400"/>
            <a:ext cx="2194560" cy="731520"/>
          </a:xfrm>
          <a:prstGeom prst="roundRect">
            <a:avLst>
              <a:gd name="adj" fmla="val 2125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870448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13816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8531352" y="3200400"/>
            <a:ext cx="2194560" cy="731520"/>
          </a:xfrm>
          <a:prstGeom prst="roundRect">
            <a:avLst>
              <a:gd name="adj" fmla="val 2125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3135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09360" y="4041648"/>
            <a:ext cx="0" cy="3657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3566160" y="448056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0E1730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3566160" y="4480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Adaptive Intelligence Layer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4864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often investigates perception, sensor reliability, uncertainty, and risk-aware decision-making as separate problems. This project proposes an integrated framework that connects these components into an adaptive decision pipeline.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Research Question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1554480"/>
            <a:ext cx="10360152" cy="1554480"/>
          </a:xfrm>
          <a:prstGeom prst="roundRect">
            <a:avLst>
              <a:gd name="adj" fmla="val 5294"/>
            </a:avLst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280160" y="1691640"/>
            <a:ext cx="9646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an intelligent mobility system dynamically adapt perception and driving decisions when the reliability of individual sensors changes during operation?”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Questions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9" name="Image 1" descr="/home/claude/proj/icons/questio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86" y="3886566"/>
            <a:ext cx="291876" cy="2918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8221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sensor reliability be estimated during operation?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4352544"/>
            <a:ext cx="384048" cy="384048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2" descr="/home/claude/proj/icons/question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86" y="4398630"/>
            <a:ext cx="291876" cy="2918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33425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disagreement between sensors be detected?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4864608"/>
            <a:ext cx="384048" cy="384048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3" descr="/home/claude/proj/icons/question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486" y="4910694"/>
            <a:ext cx="291876" cy="2918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84632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uncertainty influence sensor fusion?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14400" y="5376672"/>
            <a:ext cx="384048" cy="384048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4" descr="/home/claude/proj/icons/question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86" y="5422758"/>
            <a:ext cx="291876" cy="2918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535838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risk change when confidence decreases?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14400" y="5888736"/>
            <a:ext cx="384048" cy="384048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5" descr="/home/claude/proj/icons/question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486" y="5934822"/>
            <a:ext cx="291876" cy="2918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63040" y="587044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driving behaviour adapt accordingly, in a defined ODD?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423160" y="167335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1" descr="/home/claude/proj/icons/lay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1728216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3774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multi-sensor perception framework.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01568" y="150876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3566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276088" y="167335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3" name="Image 2" descr="/home/claude/proj/icons/scal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72821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84448" y="23774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dynamic sensor reliability.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54496" y="150876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6419088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8129016" y="167335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3" descr="/home/claude/proj/icons/aler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72821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37376" y="23774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cross-modal sensor disagreement.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107424" y="150876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9272016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16"/>
          <p:cNvSpPr/>
          <p:nvPr/>
        </p:nvSpPr>
        <p:spPr>
          <a:xfrm>
            <a:off x="10981944" y="167335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4" descr="/home/claude/proj/icons/puzzl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172821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90304" y="23774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uncertainty-aware sensor fusion.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384048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713232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Shape 20"/>
          <p:cNvSpPr/>
          <p:nvPr/>
        </p:nvSpPr>
        <p:spPr>
          <a:xfrm>
            <a:off x="2423160" y="400507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5" descr="/home/claude/proj/icons/gaug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024" y="4059936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1520" y="470916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predictive risk assessment.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3401568" y="384048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3566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Shape 24"/>
          <p:cNvSpPr/>
          <p:nvPr/>
        </p:nvSpPr>
        <p:spPr>
          <a:xfrm>
            <a:off x="5276088" y="400507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3" name="Image 6" descr="/home/claude/proj/icons/brain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059936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584448" y="470916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adaptive, risk-aware decision making.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254496" y="3840480"/>
            <a:ext cx="2532888" cy="2103120"/>
          </a:xfrm>
          <a:prstGeom prst="roundRect">
            <a:avLst>
              <a:gd name="adj" fmla="val 391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6" name="Text 27"/>
          <p:cNvSpPr txBox="1"/>
          <p:nvPr/>
        </p:nvSpPr>
        <p:spPr>
          <a:xfrm>
            <a:off x="6419088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7" name="Shape 28"/>
          <p:cNvSpPr/>
          <p:nvPr/>
        </p:nvSpPr>
        <p:spPr>
          <a:xfrm>
            <a:off x="8129016" y="4005072"/>
            <a:ext cx="457200" cy="45720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8" name="Image 7" descr="/home/claude/proj/icons/grid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059936"/>
            <a:ext cx="347472" cy="34747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37376" y="470916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using CARLA and ROS 2.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63040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49" y="1515709"/>
            <a:ext cx="333573" cy="3335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41732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3816" y="1947672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548640" y="2075688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121408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2" descr="/home/claude/proj/icons/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49" y="2174077"/>
            <a:ext cx="333573" cy="3335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0756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· LiDAR · Radar · IMU · V2X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13816" y="2606040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548640" y="2734056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2779776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3" descr="/home/claude/proj/icons/ey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49" y="2832445"/>
            <a:ext cx="333573" cy="3335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27340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13816" y="3264408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48640" y="3392424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438144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4" descr="/home/claude/proj/icons/targe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49" y="3490813"/>
            <a:ext cx="333573" cy="33357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39242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Tracking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3816" y="3922776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48640" y="4050792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" y="4096512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5" descr="/home/claude/proj/icons/puzz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49" y="4149181"/>
            <a:ext cx="333573" cy="33357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88720" y="405079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Sensor Fusion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903720" y="1417320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995160" y="1463040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" name="Image 6" descr="/home/claude/proj/icons/scal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7829" y="1515709"/>
            <a:ext cx="333573" cy="33357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543800" y="141732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7168896" y="1947672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6903720" y="2075688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995160" y="2121408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6" name="Image 7" descr="/home/claude/proj/icons/gauge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7829" y="2174077"/>
            <a:ext cx="333573" cy="33357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543800" y="20756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Estimation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7168896" y="2606040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6903720" y="2734056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6995160" y="2779776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1" name="Image 8" descr="/home/claude/proj/icons/trend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7829" y="2832445"/>
            <a:ext cx="333573" cy="333573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543800" y="27340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50" dirty="0"/>
          </a:p>
        </p:txBody>
      </p:sp>
      <p:sp>
        <p:nvSpPr>
          <p:cNvPr id="43" name="Shape 32"/>
          <p:cNvSpPr/>
          <p:nvPr/>
        </p:nvSpPr>
        <p:spPr>
          <a:xfrm>
            <a:off x="7168896" y="3264408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6903720" y="3392424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6995160" y="3438144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6" name="Image 9" descr="/home/claude/proj/icons/brain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7829" y="3490813"/>
            <a:ext cx="333573" cy="333573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543800" y="339242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48" name="Shape 36"/>
          <p:cNvSpPr/>
          <p:nvPr/>
        </p:nvSpPr>
        <p:spPr>
          <a:xfrm>
            <a:off x="7168896" y="3922776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49" name="Shape 37"/>
          <p:cNvSpPr/>
          <p:nvPr/>
        </p:nvSpPr>
        <p:spPr>
          <a:xfrm>
            <a:off x="6903720" y="4050792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6995160" y="4096512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1" name="Image 10" descr="/home/claude/proj/icons/compass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7829" y="4149181"/>
            <a:ext cx="333573" cy="333573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7543800" y="405079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Decision</a:t>
            </a:r>
            <a:endParaRPr lang="en-US" sz="1250" dirty="0"/>
          </a:p>
        </p:txBody>
      </p:sp>
      <p:sp>
        <p:nvSpPr>
          <p:cNvPr id="53" name="Shape 40"/>
          <p:cNvSpPr/>
          <p:nvPr/>
        </p:nvSpPr>
        <p:spPr>
          <a:xfrm>
            <a:off x="7168896" y="4581144"/>
            <a:ext cx="0" cy="128016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54" name="Shape 41"/>
          <p:cNvSpPr/>
          <p:nvPr/>
        </p:nvSpPr>
        <p:spPr>
          <a:xfrm>
            <a:off x="6903720" y="4709160"/>
            <a:ext cx="5074920" cy="530352"/>
          </a:xfrm>
          <a:prstGeom prst="roundRect">
            <a:avLst>
              <a:gd name="adj" fmla="val 1551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6995160" y="4754880"/>
            <a:ext cx="438912" cy="43891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6" name="Image 11" descr="/home/claude/proj/icons/car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829" y="4807549"/>
            <a:ext cx="333573" cy="333573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543800" y="470916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/ Autonomous Driving</a:t>
            </a:r>
            <a:endParaRPr lang="en-US" sz="1250" dirty="0"/>
          </a:p>
        </p:txBody>
      </p:sp>
      <p:sp>
        <p:nvSpPr>
          <p:cNvPr id="58" name="Shape 44"/>
          <p:cNvSpPr/>
          <p:nvPr/>
        </p:nvSpPr>
        <p:spPr>
          <a:xfrm>
            <a:off x="5623560" y="4315968"/>
            <a:ext cx="1280160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9" name="Text 45"/>
          <p:cNvSpPr txBox="1"/>
          <p:nvPr/>
        </p:nvSpPr>
        <p:spPr>
          <a:xfrm>
            <a:off x="548640" y="5504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pipeline: perception feeds adaptive fusion, which informs risk-aware planning and control.</a:t>
            </a:r>
            <a:endParaRPr lang="en-US" sz="1000" dirty="0"/>
          </a:p>
        </p:txBody>
      </p:sp>
      <p:sp>
        <p:nvSpPr>
          <p:cNvPr id="60" name="Text 4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Reliability Engine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13332" y="1691640"/>
            <a:ext cx="585216" cy="585216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camera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58" y="1761866"/>
            <a:ext cx="444764" cy="4447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377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8680" y="2743200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2743200"/>
            <a:ext cx="1724558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27832" y="14630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92524" y="1691640"/>
            <a:ext cx="585216" cy="585216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2" descr="/home/claude/proj/icons/lida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50" y="1761866"/>
            <a:ext cx="444764" cy="4447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227832" y="2377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547872" y="2743200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47872" y="2743200"/>
            <a:ext cx="1799539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3227832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07024" y="14630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71716" y="1691640"/>
            <a:ext cx="585216" cy="585216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/home/claude/proj/icons/rada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942" y="1761866"/>
            <a:ext cx="444764" cy="4447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07024" y="2377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27064" y="2743200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7064" y="2743200"/>
            <a:ext cx="1649578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907024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586216" y="14630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550908" y="1691640"/>
            <a:ext cx="585216" cy="585216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4" descr="/home/claude/proj/icons/imu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134" y="1761866"/>
            <a:ext cx="444764" cy="4447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586216" y="2377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906256" y="2743200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906256" y="2743200"/>
            <a:ext cx="1762049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586216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309360" y="3520440"/>
            <a:ext cx="0" cy="3657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356616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degradation event (e.g., glare)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4297680"/>
            <a:ext cx="2286000" cy="1600200"/>
          </a:xfrm>
          <a:prstGeom prst="roundRect">
            <a:avLst>
              <a:gd name="adj" fmla="val 5143"/>
            </a:avLst>
          </a:prstGeom>
          <a:solidFill>
            <a:srgbClr val="2A1220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435608" y="4480560"/>
            <a:ext cx="512064" cy="512064"/>
          </a:xfrm>
          <a:prstGeom prst="ellipse">
            <a:avLst/>
          </a:prstGeom>
          <a:solidFill>
            <a:srgbClr val="3A1628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37" name="Image 5" descr="/home/claude/proj/icons/camera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056" y="4542008"/>
            <a:ext cx="389169" cy="389169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4864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822960" y="5394960"/>
            <a:ext cx="173736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22960" y="5394960"/>
            <a:ext cx="833933" cy="1828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548640" y="5623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2999232" y="4297680"/>
            <a:ext cx="2286000" cy="1600200"/>
          </a:xfrm>
          <a:prstGeom prst="roundRect">
            <a:avLst>
              <a:gd name="adj" fmla="val 514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886200" y="4480560"/>
            <a:ext cx="512064" cy="51206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4" name="Image 6" descr="/home/claude/proj/icons/lidar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648" y="4542008"/>
            <a:ext cx="389169" cy="389169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2999232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250" dirty="0"/>
          </a:p>
        </p:txBody>
      </p:sp>
      <p:sp>
        <p:nvSpPr>
          <p:cNvPr id="46" name="Shape 37"/>
          <p:cNvSpPr/>
          <p:nvPr/>
        </p:nvSpPr>
        <p:spPr>
          <a:xfrm>
            <a:off x="3273552" y="5394960"/>
            <a:ext cx="173736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3273552" y="5394960"/>
            <a:ext cx="1650492" cy="1828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2999232" y="5623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5449824" y="4297680"/>
            <a:ext cx="2286000" cy="1600200"/>
          </a:xfrm>
          <a:prstGeom prst="roundRect">
            <a:avLst>
              <a:gd name="adj" fmla="val 514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336792" y="4480560"/>
            <a:ext cx="512064" cy="51206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51" name="Image 7" descr="/home/claude/proj/icons/radar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240" y="4542008"/>
            <a:ext cx="389169" cy="389169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5449824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50" dirty="0"/>
          </a:p>
        </p:txBody>
      </p:sp>
      <p:sp>
        <p:nvSpPr>
          <p:cNvPr id="53" name="Shape 43"/>
          <p:cNvSpPr/>
          <p:nvPr/>
        </p:nvSpPr>
        <p:spPr>
          <a:xfrm>
            <a:off x="5724144" y="5394960"/>
            <a:ext cx="173736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5724144" y="5394960"/>
            <a:ext cx="1511503" cy="1828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5449824" y="5623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50" dirty="0"/>
          </a:p>
        </p:txBody>
      </p:sp>
      <p:sp>
        <p:nvSpPr>
          <p:cNvPr id="56" name="Shape 46"/>
          <p:cNvSpPr/>
          <p:nvPr/>
        </p:nvSpPr>
        <p:spPr>
          <a:xfrm>
            <a:off x="7909560" y="4297680"/>
            <a:ext cx="3730752" cy="1600200"/>
          </a:xfrm>
          <a:prstGeom prst="roundRect">
            <a:avLst>
              <a:gd name="adj" fmla="val 5143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7" name="Text 47"/>
          <p:cNvSpPr txBox="1"/>
          <p:nvPr/>
        </p:nvSpPr>
        <p:spPr>
          <a:xfrm>
            <a:off x="813816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8138160" y="4754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influence is reduced; dependence shifts toward LiDAR and radar — the currently reliable modalities.</a:t>
            </a:r>
            <a:endParaRPr lang="en-US" sz="1150" dirty="0"/>
          </a:p>
        </p:txBody>
      </p:sp>
      <p:sp>
        <p:nvSpPr>
          <p:cNvPr id="59" name="Text 49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illustrative examples for concept explanation — not experimental results.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Uncertainty-Aware Sensor Fusion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1" descr="/home/claude/proj/icons/camera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1614830"/>
            <a:ext cx="382219" cy="3822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1801368"/>
            <a:ext cx="1005840" cy="0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8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9" name="Image 2" descr="/home/claude/proj/icons/lida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2483510"/>
            <a:ext cx="382219" cy="38221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3000" y="2670048"/>
            <a:ext cx="1005840" cy="0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3" descr="/home/claude/proj/icons/rada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3352190"/>
            <a:ext cx="382219" cy="38221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143000" y="3538728"/>
            <a:ext cx="1005840" cy="0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4" name="Shape 8"/>
          <p:cNvSpPr/>
          <p:nvPr/>
        </p:nvSpPr>
        <p:spPr>
          <a:xfrm>
            <a:off x="2331720" y="1417320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2331720" y="141732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74920" y="278892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5852160" y="1417320"/>
            <a:ext cx="2743200" cy="2743200"/>
          </a:xfrm>
          <a:prstGeom prst="roundRect">
            <a:avLst>
              <a:gd name="adj" fmla="val 3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8521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03504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49440" y="2304288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949440" y="2304288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03504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949440" y="2715768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49440" y="2715768"/>
            <a:ext cx="1316736" cy="1828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03504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49440" y="3127248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949440" y="3127248"/>
            <a:ext cx="877824" cy="1828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8" name="Shape 22"/>
          <p:cNvSpPr/>
          <p:nvPr/>
        </p:nvSpPr>
        <p:spPr>
          <a:xfrm>
            <a:off x="8595360" y="278892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372600" y="1691640"/>
            <a:ext cx="2286000" cy="2194560"/>
          </a:xfrm>
          <a:prstGeom prst="roundRect">
            <a:avLst>
              <a:gd name="adj" fmla="val 375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222992" y="1920240"/>
            <a:ext cx="585216" cy="585216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" name="Image 4" descr="/home/claude/proj/icons/layers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218" y="1990466"/>
            <a:ext cx="444764" cy="44476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3726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0E1730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is not static. Sensor contribution changes according to estimated reliability.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sensor’s estimated reliability decreases, its weight in the fused perception output is proportionally reduced, while more reliable modalities compensate — keeping overall confidence stable.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Risk Assessment</a:t>
            </a:r>
            <a:endParaRPr lang="en-US" sz="3000" dirty="0"/>
          </a:p>
        </p:txBody>
      </p:sp>
      <p:pic>
        <p:nvPicPr>
          <p:cNvPr id="5" name="Image 1" descr="/home/claude/proj/icons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486400" cy="2651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3291840"/>
            <a:ext cx="548640" cy="548640"/>
          </a:xfrm>
          <a:prstGeom prst="ellipse">
            <a:avLst/>
          </a:prstGeom>
          <a:solidFill>
            <a:srgbClr val="0E173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2" descr="/home/claude/proj/icons/ca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037" y="3357677"/>
            <a:ext cx="416966" cy="41696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840480" y="2377440"/>
            <a:ext cx="384048" cy="384048"/>
          </a:xfrm>
          <a:prstGeom prst="ellipse">
            <a:avLst/>
          </a:prstGeom>
          <a:solidFill>
            <a:srgbClr val="17203D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9" name="Image 3" descr="/home/claude/proj/icons/pedestria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566" y="2423526"/>
            <a:ext cx="291876" cy="29187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297680" y="2834640"/>
            <a:ext cx="457200" cy="457200"/>
          </a:xfrm>
          <a:prstGeom prst="ellipse">
            <a:avLst/>
          </a:prstGeom>
          <a:solidFill>
            <a:srgbClr val="17203D"/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11" name="Image 4" descr="/home/claude/proj/icons/mot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2889504"/>
            <a:ext cx="347472" cy="34747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vehicle approaching mixed traffic — conceptual TTC scenario.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635508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355080" y="155448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6355080" y="1554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9052560" y="155448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052560" y="1554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velocity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6355080" y="205740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355080" y="20574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 (TTC)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9052560" y="205740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052560" y="20574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confidence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355080" y="256032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355080" y="2560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9052560" y="2560320"/>
            <a:ext cx="251460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052560" y="2560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trajectory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046720" y="3246120"/>
            <a:ext cx="0" cy="3200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6355080" y="3611880"/>
            <a:ext cx="5303520" cy="548640"/>
          </a:xfrm>
          <a:prstGeom prst="roundRect">
            <a:avLst>
              <a:gd name="adj" fmla="val 15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6355080" y="3611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0" cy="32004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6355080" y="4526280"/>
            <a:ext cx="5303520" cy="548640"/>
          </a:xfrm>
          <a:prstGeom prst="roundRect">
            <a:avLst>
              <a:gd name="adj" fmla="val 1500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6355080" y="4526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Decision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35508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illustration of the risk pipeline — thresholds and formulations to be finalized during experimentation.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Decision Making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0F2A22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65960" y="1874520"/>
            <a:ext cx="731520" cy="731520"/>
          </a:xfrm>
          <a:prstGeom prst="ellipse">
            <a:avLst/>
          </a:prstGeom>
          <a:solidFill>
            <a:srgbClr val="0A0E1F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7" name="Image 1" descr="/home/claude/proj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42" y="1962302"/>
            <a:ext cx="555955" cy="55595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+ High Confidence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97280" y="3611880"/>
            <a:ext cx="246888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2A241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15000" y="1874520"/>
            <a:ext cx="731520" cy="731520"/>
          </a:xfrm>
          <a:prstGeom prst="ellipse">
            <a:avLst/>
          </a:prstGeom>
          <a:solidFill>
            <a:srgbClr val="0A0E1F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3" name="Image 2" descr="/home/claude/proj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782" y="1962302"/>
            <a:ext cx="555955" cy="55595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/ Moderate Uncertainty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846320" y="3611880"/>
            <a:ext cx="246888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61772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caution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6002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2A12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464040" y="1874520"/>
            <a:ext cx="731520" cy="731520"/>
          </a:xfrm>
          <a:prstGeom prst="ellipse">
            <a:avLst/>
          </a:prstGeom>
          <a:solidFill>
            <a:srgbClr val="0A0E1F"/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9" name="Image 3" descr="/home/claude/proj/icons/fai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822" y="1962302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7532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/ Low Confidence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595360" y="3611880"/>
            <a:ext cx="246888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36676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action — braking or lane strategy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reassesses confidence and risk, transitioning smoothly between these operating regimes as conditions change.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SCOPE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ADAS + Autonomous Driving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292608" cy="292608"/>
          </a:xfrm>
          <a:prstGeom prst="ellipse">
            <a:avLst/>
          </a:prstGeom>
          <a:solidFill>
            <a:srgbClr val="10162B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1" descr="/home/claude/proj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73" y="2138233"/>
            <a:ext cx="222382" cy="2223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0756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Collision Warning (FCW)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" y="2587752"/>
            <a:ext cx="292608" cy="292608"/>
          </a:xfrm>
          <a:prstGeom prst="ellipse">
            <a:avLst/>
          </a:prstGeom>
          <a:solidFill>
            <a:srgbClr val="10162B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1" name="Image 2" descr="/home/claude/proj/icons/che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" y="2622865"/>
            <a:ext cx="222382" cy="22238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 Braking (AEB)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" y="3072384"/>
            <a:ext cx="292608" cy="292608"/>
          </a:xfrm>
          <a:prstGeom prst="ellipse">
            <a:avLst/>
          </a:prstGeom>
          <a:solidFill>
            <a:srgbClr val="10162B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3" descr="/home/claude/proj/icons/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73" y="3107497"/>
            <a:ext cx="222382" cy="22238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Cruise Control (ACC)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22960" y="3557016"/>
            <a:ext cx="292608" cy="292608"/>
          </a:xfrm>
          <a:prstGeom prst="ellipse">
            <a:avLst/>
          </a:prstGeom>
          <a:solidFill>
            <a:srgbClr val="10162B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4" descr="/home/claude/proj/icons/che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73" y="3592129"/>
            <a:ext cx="222382" cy="22238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35295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Assistance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22960" y="4041648"/>
            <a:ext cx="292608" cy="292608"/>
          </a:xfrm>
          <a:prstGeom prst="ellipse">
            <a:avLst/>
          </a:prstGeom>
          <a:solidFill>
            <a:srgbClr val="10162B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5" descr="/home/claude/proj/icons/check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3" y="4076761"/>
            <a:ext cx="222382" cy="22238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014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Collision-Risk Warnings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45352" y="14630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Text 15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Driving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519672" y="2148840"/>
            <a:ext cx="4846320" cy="457200"/>
          </a:xfrm>
          <a:prstGeom prst="roundRect">
            <a:avLst>
              <a:gd name="adj" fmla="val 34000"/>
            </a:avLst>
          </a:prstGeom>
          <a:solidFill>
            <a:srgbClr val="162340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519672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519672" y="2724912"/>
            <a:ext cx="4846320" cy="457200"/>
          </a:xfrm>
          <a:prstGeom prst="roundRect">
            <a:avLst>
              <a:gd name="adj" fmla="val 34000"/>
            </a:avLst>
          </a:prstGeom>
          <a:solidFill>
            <a:srgbClr val="162340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519672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19672" y="3300984"/>
            <a:ext cx="4846320" cy="457200"/>
          </a:xfrm>
          <a:prstGeom prst="roundRect">
            <a:avLst>
              <a:gd name="adj" fmla="val 34000"/>
            </a:avLst>
          </a:prstGeom>
          <a:solidFill>
            <a:srgbClr val="162340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519672" y="3300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519672" y="3877056"/>
            <a:ext cx="4846320" cy="457200"/>
          </a:xfrm>
          <a:prstGeom prst="roundRect">
            <a:avLst>
              <a:gd name="adj" fmla="val 34000"/>
            </a:avLst>
          </a:prstGeom>
          <a:solidFill>
            <a:srgbClr val="162340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519672" y="38770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0162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Clarification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targets Level-2 ADAS functionality and a Level-4-oriented autonomous driving prototype within a clearly defined Operational Design Domain (ODD). This does not imply Level-4 certification.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CARLA + ROS 2 Digital Twin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79" y="1885859"/>
            <a:ext cx="361371" cy="36137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Simulation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84708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01168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2316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2" descr="/home/claude/proj/icons/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19" y="1885859"/>
            <a:ext cx="361371" cy="36137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05740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31012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347472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8620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3" descr="/home/claude/proj/icons/gi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259" y="1885859"/>
            <a:ext cx="361371" cy="36137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52044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Nodes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7316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493776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4924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4" descr="/home/claude/proj/icons/brain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299" y="1885859"/>
            <a:ext cx="361371" cy="36137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98348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23620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640080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81228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5" descr="/home/claude/proj/icons/sca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339" y="1885859"/>
            <a:ext cx="361371" cy="36137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4652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769924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786384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7532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2" name="Image 6" descr="/home/claude/proj/icons/trend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379" y="1885859"/>
            <a:ext cx="361371" cy="361371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90956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916228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932688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973836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7" name="Image 7" descr="/home/claude/proj/icons/compass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5419" y="1885859"/>
            <a:ext cx="361371" cy="36137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37260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10625328" y="233172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10789920" y="169164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11201400" y="1828800"/>
            <a:ext cx="475488" cy="475488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2" name="Image 8" descr="/home/claude/proj/icons/car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8459" y="1885859"/>
            <a:ext cx="361371" cy="361371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835640" y="2395728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Control</a:t>
            </a:r>
            <a:endParaRPr lang="en-US" sz="95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Sensor Degradation Scenarios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548640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1103376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7" name="Image 9" descr="/home/claude/proj/icons/rain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9213" y="4363517"/>
            <a:ext cx="416966" cy="416966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548640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2435352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2990088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1" name="Image 10" descr="/home/claude/proj/icons/fog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5925" y="4363517"/>
            <a:ext cx="416966" cy="41696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2435352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1100" dirty="0"/>
          </a:p>
        </p:txBody>
      </p:sp>
      <p:sp>
        <p:nvSpPr>
          <p:cNvPr id="53" name="Shape 40"/>
          <p:cNvSpPr/>
          <p:nvPr/>
        </p:nvSpPr>
        <p:spPr>
          <a:xfrm>
            <a:off x="4322064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4876800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5" name="Image 11" descr="/home/claude/proj/icons/glare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2637" y="4363517"/>
            <a:ext cx="416966" cy="416966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4322064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</a:t>
            </a:r>
            <a:endParaRPr lang="en-US" sz="1100" dirty="0"/>
          </a:p>
        </p:txBody>
      </p:sp>
      <p:sp>
        <p:nvSpPr>
          <p:cNvPr id="57" name="Shape 43"/>
          <p:cNvSpPr/>
          <p:nvPr/>
        </p:nvSpPr>
        <p:spPr>
          <a:xfrm>
            <a:off x="6208776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6763512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9" name="Image 12" descr="/home/claude/proj/icons/occlusion_cy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9349" y="4363517"/>
            <a:ext cx="416966" cy="416966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208776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</a:t>
            </a:r>
            <a:endParaRPr lang="en-US" sz="1100" dirty="0"/>
          </a:p>
        </p:txBody>
      </p:sp>
      <p:sp>
        <p:nvSpPr>
          <p:cNvPr id="61" name="Shape 46"/>
          <p:cNvSpPr/>
          <p:nvPr/>
        </p:nvSpPr>
        <p:spPr>
          <a:xfrm>
            <a:off x="8095488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2" name="Shape 47"/>
          <p:cNvSpPr/>
          <p:nvPr/>
        </p:nvSpPr>
        <p:spPr>
          <a:xfrm>
            <a:off x="8650224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3" name="Image 13" descr="/home/claude/proj/icons/noise_cya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6061" y="4363517"/>
            <a:ext cx="416966" cy="416966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095488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100" dirty="0"/>
          </a:p>
        </p:txBody>
      </p:sp>
      <p:sp>
        <p:nvSpPr>
          <p:cNvPr id="65" name="Shape 49"/>
          <p:cNvSpPr/>
          <p:nvPr/>
        </p:nvSpPr>
        <p:spPr>
          <a:xfrm>
            <a:off x="9982200" y="4114800"/>
            <a:ext cx="16581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6" name="Shape 50"/>
          <p:cNvSpPr/>
          <p:nvPr/>
        </p:nvSpPr>
        <p:spPr>
          <a:xfrm>
            <a:off x="10536936" y="429768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7" name="Image 14" descr="/home/claude/proj/icons/fail_cya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2773" y="4363517"/>
            <a:ext cx="416966" cy="416966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9982200" y="498348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Dropout</a:t>
            </a:r>
            <a:endParaRPr lang="en-US" sz="1100" dirty="0"/>
          </a:p>
        </p:txBody>
      </p:sp>
      <p:sp>
        <p:nvSpPr>
          <p:cNvPr id="69" name="Text 52"/>
          <p:cNvSpPr txBox="1"/>
          <p:nvPr/>
        </p:nvSpPr>
        <p:spPr>
          <a:xfrm>
            <a:off x="54864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simulation enables controlled, repeatable degradation scenarios prior to hardware validation.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Methodology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4708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01168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1168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Sensors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012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7472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Degradation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7316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93776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Estimation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3620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0080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9924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86384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16228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32688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625328" y="1805940"/>
            <a:ext cx="16459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789920" y="1463040"/>
            <a:ext cx="1298448" cy="685800"/>
          </a:xfrm>
          <a:prstGeom prst="roundRect">
            <a:avLst>
              <a:gd name="adj" fmla="val 22667"/>
            </a:avLst>
          </a:prstGeom>
          <a:solidFill>
            <a:srgbClr val="10162B"/>
          </a:solidFill>
          <a:ln w="12700">
            <a:solidFill>
              <a:srgbClr val="1A8FA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789920" y="1463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251460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229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Fixed Fusion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sensor weighting regardless of changing conditions or reliability.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45352" y="25146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519672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Adaptive Fusion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 and uncertainty-driven fusion weighting that adapts to real-time sensor conditions.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Evaluation Metrics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475488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4754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91840" y="475488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91840" y="4754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performance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35040" y="475488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035040" y="4754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778240" y="475488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778240" y="4754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 (TTC)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525780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5257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estimation accuracy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91840" y="525780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91840" y="5257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stability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35040" y="5257800"/>
            <a:ext cx="2606040" cy="384048"/>
          </a:xfrm>
          <a:prstGeom prst="roundRect">
            <a:avLst>
              <a:gd name="adj" fmla="val 4047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035040" y="5257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Safety-related metrics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candidates for the planned study; no numerical results are reported at this stage.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&amp; Technical Contribution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0177272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90472"/>
            <a:ext cx="530352" cy="53035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scal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1554114"/>
            <a:ext cx="403068" cy="4030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371600"/>
            <a:ext cx="9079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Sensor Reliability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143000" y="2267712"/>
            <a:ext cx="8988552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5875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25880" y="2386584"/>
            <a:ext cx="530352" cy="53035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11" name="Image 2" descr="/home/claude/proj/icons/puzzl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22" y="2450226"/>
            <a:ext cx="403068" cy="4030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057400" y="2267712"/>
            <a:ext cx="7891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Fusion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737360" y="3163824"/>
            <a:ext cx="7799832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920240" y="3282696"/>
            <a:ext cx="530352" cy="530352"/>
          </a:xfrm>
          <a:prstGeom prst="ellipse">
            <a:avLst/>
          </a:prstGeom>
          <a:solidFill>
            <a:srgbClr val="0B1120"/>
          </a:solidFill>
          <a:ln w="15875">
            <a:solidFill>
              <a:srgbClr val="F472B6"/>
            </a:solidFill>
            <a:prstDash val="solid"/>
          </a:ln>
        </p:spPr>
      </p:sp>
      <p:pic>
        <p:nvPicPr>
          <p:cNvPr id="15" name="Image 3" descr="/home/claude/proj/icons/tren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882" y="3346338"/>
            <a:ext cx="403068" cy="4030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651760" y="3163824"/>
            <a:ext cx="6702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Risk-Adaptive Decision Making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309360" y="4087368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3108960" y="4407408"/>
            <a:ext cx="6309360" cy="685800"/>
          </a:xfrm>
          <a:prstGeom prst="roundRect">
            <a:avLst>
              <a:gd name="adj" fmla="val 12000"/>
            </a:avLst>
          </a:prstGeom>
          <a:solidFill>
            <a:srgbClr val="0E1730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3291840" y="44074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into one closed-loop intelligent mobility framework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23036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22960" y="5230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novelty is positioned as system-level integration and adaptive interaction between these components — not as a claim of first-ever invention of any individual technique.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LANDSCAPE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Patentability / IP Potential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81912"/>
            <a:ext cx="420624" cy="42062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paten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95" y="1632387"/>
            <a:ext cx="319674" cy="3196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5087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 estimation mechanism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2267712"/>
            <a:ext cx="420624" cy="42062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2" descr="/home/claude/proj/icons/paten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95" y="2318187"/>
            <a:ext cx="319674" cy="3196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1945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weighting strategy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8803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31520" y="2953512"/>
            <a:ext cx="420624" cy="42062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3" descr="/home/claude/proj/icons/paten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5" y="3003987"/>
            <a:ext cx="319674" cy="31967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28803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Reliability-aware risk computation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5661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31520" y="3639312"/>
            <a:ext cx="420624" cy="42062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4" descr="/home/claude/proj/icons/paten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95" y="3689787"/>
            <a:ext cx="319674" cy="31967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35661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adaptive decision pipeline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31520" y="4325112"/>
            <a:ext cx="420624" cy="420624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5" descr="/home/claude/proj/icons/patent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995" y="4375587"/>
            <a:ext cx="319674" cy="31967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25880" y="42519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degradation response mechanism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2A241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3A301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7" name="Image 6" descr="/home/claude/proj/icons/lo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0" y="5318150"/>
            <a:ext cx="382219" cy="38221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508760" y="5074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IP directions requiring formal patent search and legal evaluation. Patentability is not claimed as an established fact at this stage.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" y="1751990"/>
            <a:ext cx="382219" cy="38221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1848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37304" y="150876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20184" y="169164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2" descr="/home/claude/proj/icons/brain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34" y="1751990"/>
            <a:ext cx="382219" cy="3822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60264" y="161848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pipeline design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125968" y="150876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308848" y="169164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3" descr="/home/claude/proj/icons/scal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198" y="1751990"/>
            <a:ext cx="382219" cy="38221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48928" y="161848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reliability → risk integration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292608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4" descr="/home/claude/proj/icons/gi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" y="3169310"/>
            <a:ext cx="382219" cy="38221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303580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/ ROS 2 system integration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337304" y="292608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520184" y="310896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5" descr="/home/claude/proj/icons/gaug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534" y="3169310"/>
            <a:ext cx="382219" cy="38221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160264" y="303580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and validation design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125968" y="2926080"/>
            <a:ext cx="3514344" cy="1234440"/>
          </a:xfrm>
          <a:prstGeom prst="roundRect">
            <a:avLst>
              <a:gd name="adj" fmla="val 666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308848" y="3108960"/>
            <a:ext cx="502920" cy="50292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6" descr="/home/claude/proj/icons/trend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198" y="3169310"/>
            <a:ext cx="382219" cy="38221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48928" y="3035808"/>
            <a:ext cx="2508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evaluation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548640" y="45720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822960" y="4572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/ planned contribution at Zeroth Stage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READINESS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2426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gpu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63" y="1757477"/>
            <a:ext cx="416966" cy="4169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RTX 3060 12GB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427732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01518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2" descr="/home/claude/proj/icons/gpu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355" y="1757477"/>
            <a:ext cx="416966" cy="41696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00884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GPU 24GB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306824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880610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3" descr="/home/claude/proj/icons/gri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447" y="1757477"/>
            <a:ext cx="416966" cy="4169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379976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Simulator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185916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759702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4" descr="/home/claude/proj/icons/gi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539" y="1757477"/>
            <a:ext cx="416966" cy="41696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59068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065008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638794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5" descr="/home/claude/proj/icons/brain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4631" y="1757477"/>
            <a:ext cx="416966" cy="41696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38160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PyTorch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9944100" y="1508760"/>
            <a:ext cx="1696212" cy="1417320"/>
          </a:xfrm>
          <a:prstGeom prst="roundRect">
            <a:avLst>
              <a:gd name="adj" fmla="val 5806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0517886" y="169164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6" descr="/home/claude/proj/icons/layers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3723" y="1757477"/>
            <a:ext cx="416966" cy="41696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017252" y="237744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Sensor/Hardware Platform</a:t>
            </a:r>
            <a:endParaRPr lang="en-US" sz="950" dirty="0"/>
          </a:p>
        </p:txBody>
      </p:sp>
      <p:sp>
        <p:nvSpPr>
          <p:cNvPr id="29" name="Text 20"/>
          <p:cNvSpPr txBox="1"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Validation Path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548640" y="3794760"/>
            <a:ext cx="2606040" cy="77724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4864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3154680" y="418338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3383280" y="3794760"/>
            <a:ext cx="2606040" cy="77724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338328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5989320" y="418338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6217920" y="3794760"/>
            <a:ext cx="2606040" cy="77724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21792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Validation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8823960" y="418338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9052560" y="3794760"/>
            <a:ext cx="2606040" cy="77724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905256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42" name="Text 33"/>
          <p:cNvSpPr txBox="1"/>
          <p:nvPr/>
        </p:nvSpPr>
        <p:spPr>
          <a:xfrm>
            <a:off x="822960" y="49377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pipeline is compatible with available compute (local and university GPUs), open-source simulation tooling (CARLA, ROS 2), and standard sensor platforms — supporting a realistic development timeline for a capstone project.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RESULTS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12189" y="173736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scal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99" y="1814170"/>
            <a:ext cx="486461" cy="4864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46888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sensor confidence estimation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90138" y="150876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53687" y="173736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2" descr="/home/claude/proj/icons/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497" y="1814170"/>
            <a:ext cx="486461" cy="4864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7298" y="246888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multi-sensor perception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31636" y="150876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195185" y="173736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3" descr="/home/claude/proj/icons/puzzl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995" y="1814170"/>
            <a:ext cx="486461" cy="48646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68796" y="246888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fusion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9073134" y="150876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10036683" y="173736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9" name="Image 4" descr="/home/claude/proj/icons/tren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493" y="1814170"/>
            <a:ext cx="486461" cy="48646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210294" y="246888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assessment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361188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512189" y="384048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5" descr="/home/claude/proj/icons/shield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999" y="3917290"/>
            <a:ext cx="486461" cy="48646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" y="457200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Risk-adaptive ADAS behaviour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3390138" y="361188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353687" y="384048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6" descr="/home/claude/proj/icons/car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0497" y="3917290"/>
            <a:ext cx="486461" cy="48646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527298" y="457200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prototype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231636" y="3611880"/>
            <a:ext cx="2567178" cy="1874520"/>
          </a:xfrm>
          <a:prstGeom prst="roundRect">
            <a:avLst>
              <a:gd name="adj" fmla="val 4390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195185" y="3840480"/>
            <a:ext cx="640080" cy="64008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" name="Image 7" descr="/home/claude/proj/icons/gauge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1995" y="3917290"/>
            <a:ext cx="486461" cy="486461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368796" y="4572000"/>
            <a:ext cx="229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comparison against baseline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0E1730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no experimental results are reported at the Zeroth Stage.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011680" y="1417320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0E17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8840" y="1444752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99616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43200" y="141732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258568" y="1929384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011680" y="2075688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48840" y="2103120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2" descr="/home/claude/proj/icons/v2x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215798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07568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V2X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58568" y="2587752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2011680" y="2734056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148840" y="2761488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3" descr="/home/claude/proj/icons/cpu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04" y="28163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743200" y="273405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258568" y="3246120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2011680" y="3392424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148840" y="3419856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4" descr="/home/claude/proj/icons/car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704" y="347472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743200" y="33924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Vehicle Validation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258568" y="3904488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2011680" y="4050792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148840" y="4078224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5" descr="/home/claude/proj/icons/layers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704" y="4133088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743200" y="40507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2258568" y="4562856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2011680" y="4709160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148840" y="4736592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2" name="Image 6" descr="/home/claude/proj/icons/shield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704" y="4791456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743200" y="47091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Safety Validation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2258568" y="5221224"/>
            <a:ext cx="0" cy="146304"/>
          </a:xfrm>
          <a:prstGeom prst="line">
            <a:avLst/>
          </a:prstGeom>
          <a:noFill/>
          <a:ln w="22225">
            <a:solidFill>
              <a:srgbClr val="1A8FA3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2011680" y="5367528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2148840" y="5394960"/>
            <a:ext cx="457200" cy="45720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7" name="Image 7" descr="/home/claude/proj/icons/flag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704" y="5449824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2743200" y="536752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Autonomous Mobility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proj/icons/car_side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3474720" y="4206240"/>
            <a:ext cx="5943600" cy="22128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554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fixed perception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adaptive intelligence.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063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aims to make autonomous mobility more aware of not only what its sensors perceive, but also how much those perceptions can be trusted.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b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1672" cy="5120640"/>
          </a:xfrm>
          <a:prstGeom prst="roundRect">
            <a:avLst>
              <a:gd name="adj" fmla="val 1607"/>
            </a:avLst>
          </a:prstGeom>
          <a:solidFill>
            <a:srgbClr val="10162B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141B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1" descr="/home/claude/proj/icons/boo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1711757"/>
            <a:ext cx="416966" cy="4169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IEEE-style references will be included here once the literature survey and citation list are finalized. To preserve academic integrity, no placeholder or fabricated citations are listed at the Zeroth Stage.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8680" y="3063240"/>
            <a:ext cx="104241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categories to be populated: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6576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Sensor fusion &amp; multi-modal perception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403250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Sensor fault / reliability estimation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44074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Uncertainty quantification in perception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47823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Risk-aware planning &amp; decision-making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515721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Cooperative perception / V2X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55321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Simulation frameworks (CARLA, ROS 2)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5907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Relevant standards (e.g., functional safety, ODD definitions)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2026-09-06T06:23:08Z</dcterms:created>
  <dcterms:modified xsi:type="dcterms:W3CDTF">2026-09-06T06:23:08Z</dcterms:modified>
</cp:coreProperties>
</file>