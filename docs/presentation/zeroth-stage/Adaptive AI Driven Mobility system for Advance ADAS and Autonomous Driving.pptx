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3.xml" ContentType="application/vnd.openxmlformats-officedocument.presentationml.slideLayout+xml"/>
  <Override PartName="/ppt/theme/theme4.xml" ContentType="application/vnd.openxmlformats-officedocument.theme+xml"/>
  <Override PartName="/ppt/slideLayouts/slideLayout4.xml" ContentType="application/vnd.openxmlformats-officedocument.presentationml.slideLayout+xml"/>
  <Override PartName="/ppt/theme/theme5.xml" ContentType="application/vnd.openxmlformats-officedocument.theme+xml"/>
  <Override PartName="/ppt/slideLayouts/slideLayout5.xml" ContentType="application/vnd.openxmlformats-officedocument.presentationml.slideLayout+xml"/>
  <Override PartName="/ppt/theme/theme6.xml" ContentType="application/vnd.openxmlformats-officedocument.theme+xml"/>
  <Override PartName="/ppt/slideLayouts/slideLayout6.xml" ContentType="application/vnd.openxmlformats-officedocument.presentationml.slideLayout+xml"/>
  <Override PartName="/ppt/theme/theme7.xml" ContentType="application/vnd.openxmlformats-officedocument.theme+xml"/>
  <Override PartName="/ppt/slideLayouts/slideLayout7.xml" ContentType="application/vnd.openxmlformats-officedocument.presentationml.slideLayout+xml"/>
  <Override PartName="/ppt/theme/theme8.xml" ContentType="application/vnd.openxmlformats-officedocument.theme+xml"/>
  <Override PartName="/ppt/slideLayouts/slideLayout8.xml" ContentType="application/vnd.openxmlformats-officedocument.presentationml.slideLayout+xml"/>
  <Override PartName="/ppt/theme/theme9.xml" ContentType="application/vnd.openxmlformats-officedocument.theme+xml"/>
  <Override PartName="/ppt/slideLayouts/slideLayout9.xml" ContentType="application/vnd.openxmlformats-officedocument.presentationml.slideLayout+xml"/>
  <Override PartName="/ppt/theme/theme10.xml" ContentType="application/vnd.openxmlformats-officedocument.theme+xml"/>
  <Override PartName="/ppt/slideLayouts/slideLayout10.xml" ContentType="application/vnd.openxmlformats-officedocument.presentationml.slideLayout+xml"/>
  <Override PartName="/ppt/theme/theme11.xml" ContentType="application/vnd.openxmlformats-officedocument.theme+xml"/>
  <Override PartName="/ppt/slideLayouts/slideLayout11.xml" ContentType="application/vnd.openxmlformats-officedocument.presentationml.slideLayout+xml"/>
  <Override PartName="/ppt/theme/theme12.xml" ContentType="application/vnd.openxmlformats-officedocument.theme+xml"/>
  <Override PartName="/ppt/slideLayouts/slideLayout12.xml" ContentType="application/vnd.openxmlformats-officedocument.presentationml.slideLayout+xml"/>
  <Override PartName="/ppt/theme/theme13.xml" ContentType="application/vnd.openxmlformats-officedocument.theme+xml"/>
  <Override PartName="/ppt/slideLayouts/slideLayout13.xml" ContentType="application/vnd.openxmlformats-officedocument.presentationml.slideLayout+xml"/>
  <Override PartName="/ppt/theme/theme14.xml" ContentType="application/vnd.openxmlformats-officedocument.theme+xml"/>
  <Override PartName="/ppt/slideLayouts/slideLayout14.xml" ContentType="application/vnd.openxmlformats-officedocument.presentationml.slideLayout+xml"/>
  <Override PartName="/ppt/theme/theme15.xml" ContentType="application/vnd.openxmlformats-officedocument.theme+xml"/>
  <Override PartName="/ppt/slideLayouts/slideLayout15.xml" ContentType="application/vnd.openxmlformats-officedocument.presentationml.slideLayout+xml"/>
  <Override PartName="/ppt/theme/theme16.xml" ContentType="application/vnd.openxmlformats-officedocument.theme+xml"/>
  <Override PartName="/ppt/slideLayouts/slideLayout16.xml" ContentType="application/vnd.openxmlformats-officedocument.presentationml.slideLayout+xml"/>
  <Override PartName="/ppt/theme/theme17.xml" ContentType="application/vnd.openxmlformats-officedocument.theme+xml"/>
  <Override PartName="/ppt/theme/theme1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  <p:sldMasterId id="2147483665" r:id="rId2"/>
    <p:sldMasterId id="2147483666" r:id="rId3"/>
    <p:sldMasterId id="2147483667" r:id="rId4"/>
    <p:sldMasterId id="2147483668" r:id="rId5"/>
    <p:sldMasterId id="2147483669" r:id="rId6"/>
    <p:sldMasterId id="2147483670" r:id="rId7"/>
    <p:sldMasterId id="2147483671" r:id="rId8"/>
    <p:sldMasterId id="2147483672" r:id="rId9"/>
    <p:sldMasterId id="2147483673" r:id="rId10"/>
    <p:sldMasterId id="2147483674" r:id="rId11"/>
    <p:sldMasterId id="2147483675" r:id="rId12"/>
    <p:sldMasterId id="2147483676" r:id="rId13"/>
    <p:sldMasterId id="2147483677" r:id="rId14"/>
    <p:sldMasterId id="2147483678" r:id="rId15"/>
    <p:sldMasterId id="2147483679" r:id="rId16"/>
    <p:sldMasterId id="2147483680" r:id="rId17"/>
  </p:sldMasterIdLst>
  <p:notesMasterIdLst>
    <p:notesMasterId r:id="rId30"/>
  </p:notes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6" r:id="rId25"/>
    <p:sldId id="267" r:id="rId26"/>
    <p:sldId id="268" r:id="rId27"/>
    <p:sldId id="269" r:id="rId28"/>
    <p:sldId id="270" r:id="rId29"/>
  </p:sldIdLst>
  <p:sldSz cx="9144000" cy="6858000" type="screen4x3"/>
  <p:notesSz cx="6858000" cy="9144000"/>
  <p:embeddedFontLst>
    <p:embeddedFont>
      <p:font typeface="Cambria" panose="02040503050406030204" pitchFamily="18" charset="0"/>
      <p:regular r:id="rId31"/>
      <p:bold r:id="rId32"/>
      <p:italic r:id="rId33"/>
      <p:boldItalic r:id="rId34"/>
    </p:embeddedFon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Century Gothic" panose="020B0502020202020204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1319"/>
    <a:srgbClr val="1E89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B881FAD-07A5-42EF-9D34-E71FABE4D0F1}">
  <a:tblStyle styleId="{2B881FAD-07A5-42EF-9D34-E71FABE4D0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4" d="100"/>
          <a:sy n="164" d="100"/>
        </p:scale>
        <p:origin x="1700" y="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1.xml"/><Relationship Id="rId26" Type="http://schemas.openxmlformats.org/officeDocument/2006/relationships/slide" Target="slides/slide9.xml"/><Relationship Id="rId39" Type="http://schemas.openxmlformats.org/officeDocument/2006/relationships/font" Target="fonts/font9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4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8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3.xml"/><Relationship Id="rId29" Type="http://schemas.openxmlformats.org/officeDocument/2006/relationships/slide" Target="slides/slide12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7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6.xml"/><Relationship Id="rId28" Type="http://schemas.openxmlformats.org/officeDocument/2006/relationships/slide" Target="slides/slide11.xml"/><Relationship Id="rId36" Type="http://schemas.openxmlformats.org/officeDocument/2006/relationships/font" Target="fonts/font6.fntdata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2.xml"/><Relationship Id="rId31" Type="http://schemas.openxmlformats.org/officeDocument/2006/relationships/font" Target="fonts/font1.fntdata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5.xml"/><Relationship Id="rId27" Type="http://schemas.openxmlformats.org/officeDocument/2006/relationships/slide" Target="slides/slide10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48745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:notes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/>
          </a:p>
        </p:txBody>
      </p:sp>
      <p:sp>
        <p:nvSpPr>
          <p:cNvPr id="684" name="Google Shape;684;p1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CSE Dept., SET-Jain University</a:t>
            </a:r>
            <a:endParaRPr/>
          </a:p>
        </p:txBody>
      </p:sp>
      <p:sp>
        <p:nvSpPr>
          <p:cNvPr id="685" name="Google Shape;685;p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/>
          </a:p>
        </p:txBody>
      </p:sp>
      <p:sp>
        <p:nvSpPr>
          <p:cNvPr id="686" name="Google Shape;6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7" name="Google Shape;6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1125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2115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9064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8090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0690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05327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68364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4861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"/>
          <p:cNvSpPr txBox="1"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"/>
          <p:cNvSpPr txBox="1"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2"/>
          <p:cNvSpPr txBox="1">
            <a:spLocks noGrp="1"/>
          </p:cNvSpPr>
          <p:nvPr>
            <p:ph type="sldNum" idx="12"/>
          </p:nvPr>
        </p:nvSpPr>
        <p:spPr>
          <a:xfrm>
            <a:off x="423862" y="4529137"/>
            <a:ext cx="58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4"/>
          <p:cNvSpPr txBox="1">
            <a:spLocks noGrp="1"/>
          </p:cNvSpPr>
          <p:nvPr>
            <p:ph type="body" idx="1"/>
          </p:nvPr>
        </p:nvSpPr>
        <p:spPr>
          <a:xfrm>
            <a:off x="1942415" y="2133600"/>
            <a:ext cx="6591985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82" name="Google Shape;82;p4"/>
          <p:cNvSpPr txBox="1">
            <a:spLocks noGrp="1"/>
          </p:cNvSpPr>
          <p:nvPr>
            <p:ph type="dt" idx="10"/>
          </p:nvPr>
        </p:nvSpPr>
        <p:spPr>
          <a:xfrm>
            <a:off x="1943100" y="6103937"/>
            <a:ext cx="9525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"/>
          <p:cNvSpPr txBox="1">
            <a:spLocks noGrp="1"/>
          </p:cNvSpPr>
          <p:nvPr>
            <p:ph type="ftr" idx="11"/>
          </p:nvPr>
        </p:nvSpPr>
        <p:spPr>
          <a:xfrm>
            <a:off x="2895600" y="6103937"/>
            <a:ext cx="4876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"/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 txBox="1"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7"/>
          <p:cNvSpPr txBox="1"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7"/>
          <p:cNvSpPr txBox="1">
            <a:spLocks noGrp="1"/>
          </p:cNvSpPr>
          <p:nvPr>
            <p:ph type="dt" idx="10"/>
          </p:nvPr>
        </p:nvSpPr>
        <p:spPr>
          <a:xfrm>
            <a:off x="1908175" y="612933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7"/>
          <p:cNvSpPr txBox="1">
            <a:spLocks noGrp="1"/>
          </p:cNvSpPr>
          <p:nvPr>
            <p:ph type="ftr" idx="11"/>
          </p:nvPr>
        </p:nvSpPr>
        <p:spPr>
          <a:xfrm>
            <a:off x="2674937" y="6129337"/>
            <a:ext cx="51736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7"/>
          <p:cNvSpPr txBox="1">
            <a:spLocks noGrp="1"/>
          </p:cNvSpPr>
          <p:nvPr>
            <p:ph type="sldNum" idx="12"/>
          </p:nvPr>
        </p:nvSpPr>
        <p:spPr>
          <a:xfrm>
            <a:off x="511175" y="324485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9"/>
          <p:cNvSpPr txBox="1">
            <a:spLocks noGrp="1"/>
          </p:cNvSpPr>
          <p:nvPr>
            <p:ph type="body" idx="1"/>
          </p:nvPr>
        </p:nvSpPr>
        <p:spPr>
          <a:xfrm>
            <a:off x="1942416" y="2136706"/>
            <a:ext cx="3197531" cy="376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97" name="Google Shape;197;p9"/>
          <p:cNvSpPr txBox="1">
            <a:spLocks noGrp="1"/>
          </p:cNvSpPr>
          <p:nvPr>
            <p:ph type="body" idx="2"/>
          </p:nvPr>
        </p:nvSpPr>
        <p:spPr>
          <a:xfrm>
            <a:off x="5337307" y="2136706"/>
            <a:ext cx="3197093" cy="376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98" name="Google Shape;198;p9"/>
          <p:cNvSpPr txBox="1">
            <a:spLocks noGrp="1"/>
          </p:cNvSpPr>
          <p:nvPr>
            <p:ph type="dt" idx="10"/>
          </p:nvPr>
        </p:nvSpPr>
        <p:spPr>
          <a:xfrm>
            <a:off x="1828800" y="6111875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9"/>
          <p:cNvSpPr txBox="1">
            <a:spLocks noGrp="1"/>
          </p:cNvSpPr>
          <p:nvPr>
            <p:ph type="ftr" idx="11"/>
          </p:nvPr>
        </p:nvSpPr>
        <p:spPr>
          <a:xfrm>
            <a:off x="2595562" y="6135687"/>
            <a:ext cx="50641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9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11"/>
          <p:cNvSpPr txBox="1"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39" name="Google Shape;239;p11"/>
          <p:cNvSpPr txBox="1">
            <a:spLocks noGrp="1"/>
          </p:cNvSpPr>
          <p:nvPr>
            <p:ph type="body" idx="2"/>
          </p:nvPr>
        </p:nvSpPr>
        <p:spPr>
          <a:xfrm>
            <a:off x="1942415" y="2802888"/>
            <a:ext cx="3197532" cy="3105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240" name="Google Shape;240;p11"/>
          <p:cNvSpPr txBox="1">
            <a:spLocks noGrp="1"/>
          </p:cNvSpPr>
          <p:nvPr>
            <p:ph type="body" idx="3"/>
          </p:nvPr>
        </p:nvSpPr>
        <p:spPr>
          <a:xfrm>
            <a:off x="5656154" y="2223398"/>
            <a:ext cx="2873239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41" name="Google Shape;241;p11"/>
          <p:cNvSpPr txBox="1">
            <a:spLocks noGrp="1"/>
          </p:cNvSpPr>
          <p:nvPr>
            <p:ph type="body" idx="4"/>
          </p:nvPr>
        </p:nvSpPr>
        <p:spPr>
          <a:xfrm>
            <a:off x="5333715" y="2799660"/>
            <a:ext cx="3195680" cy="3105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242" name="Google Shape;242;p11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3" name="Google Shape;243;p11"/>
          <p:cNvSpPr txBox="1">
            <a:spLocks noGrp="1"/>
          </p:cNvSpPr>
          <p:nvPr>
            <p:ph type="dt" idx="10"/>
          </p:nvPr>
        </p:nvSpPr>
        <p:spPr>
          <a:xfrm>
            <a:off x="1943100" y="615632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11"/>
          <p:cNvSpPr txBox="1">
            <a:spLocks noGrp="1"/>
          </p:cNvSpPr>
          <p:nvPr>
            <p:ph type="ftr" idx="11"/>
          </p:nvPr>
        </p:nvSpPr>
        <p:spPr>
          <a:xfrm>
            <a:off x="2819400" y="6156325"/>
            <a:ext cx="4876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13"/>
          <p:cNvSpPr txBox="1">
            <a:spLocks noGrp="1"/>
          </p:cNvSpPr>
          <p:nvPr>
            <p:ph type="dt" idx="10"/>
          </p:nvPr>
        </p:nvSpPr>
        <p:spPr>
          <a:xfrm>
            <a:off x="1943100" y="615632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13"/>
          <p:cNvSpPr txBox="1">
            <a:spLocks noGrp="1"/>
          </p:cNvSpPr>
          <p:nvPr>
            <p:ph type="ftr" idx="11"/>
          </p:nvPr>
        </p:nvSpPr>
        <p:spPr>
          <a:xfrm>
            <a:off x="2819400" y="6156325"/>
            <a:ext cx="4876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13"/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5"/>
          <p:cNvSpPr txBox="1">
            <a:spLocks noGrp="1"/>
          </p:cNvSpPr>
          <p:nvPr>
            <p:ph type="dt" idx="10"/>
          </p:nvPr>
        </p:nvSpPr>
        <p:spPr>
          <a:xfrm>
            <a:off x="1943100" y="615632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5"/>
          <p:cNvSpPr txBox="1">
            <a:spLocks noGrp="1"/>
          </p:cNvSpPr>
          <p:nvPr>
            <p:ph type="ftr" idx="11"/>
          </p:nvPr>
        </p:nvSpPr>
        <p:spPr>
          <a:xfrm>
            <a:off x="2819400" y="6156325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15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7"/>
          <p:cNvSpPr txBox="1"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17"/>
          <p:cNvSpPr txBox="1">
            <a:spLocks noGrp="1"/>
          </p:cNvSpPr>
          <p:nvPr>
            <p:ph type="body" idx="1"/>
          </p:nvPr>
        </p:nvSpPr>
        <p:spPr>
          <a:xfrm>
            <a:off x="4743494" y="446089"/>
            <a:ext cx="3790906" cy="541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361" name="Google Shape;361;p17"/>
          <p:cNvSpPr txBox="1">
            <a:spLocks noGrp="1"/>
          </p:cNvSpPr>
          <p:nvPr>
            <p:ph type="body" idx="2"/>
          </p:nvPr>
        </p:nvSpPr>
        <p:spPr>
          <a:xfrm>
            <a:off x="1942415" y="1598613"/>
            <a:ext cx="2629584" cy="4262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62" name="Google Shape;362;p17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3" name="Google Shape;363;p17"/>
          <p:cNvSpPr txBox="1">
            <a:spLocks noGrp="1"/>
          </p:cNvSpPr>
          <p:nvPr>
            <p:ph type="dt" idx="10"/>
          </p:nvPr>
        </p:nvSpPr>
        <p:spPr>
          <a:xfrm>
            <a:off x="1943100" y="615632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17"/>
          <p:cNvSpPr txBox="1">
            <a:spLocks noGrp="1"/>
          </p:cNvSpPr>
          <p:nvPr>
            <p:ph type="ftr" idx="11"/>
          </p:nvPr>
        </p:nvSpPr>
        <p:spPr>
          <a:xfrm>
            <a:off x="2819400" y="6156325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9"/>
          <p:cNvSpPr txBox="1"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9"/>
          <p:cNvSpPr>
            <a:spLocks noGrp="1"/>
          </p:cNvSpPr>
          <p:nvPr>
            <p:ph type="pic" idx="2"/>
          </p:nvPr>
        </p:nvSpPr>
        <p:spPr>
          <a:xfrm>
            <a:off x="1942415" y="634965"/>
            <a:ext cx="6591985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403" name="Google Shape;403;p19"/>
          <p:cNvSpPr txBox="1">
            <a:spLocks noGrp="1"/>
          </p:cNvSpPr>
          <p:nvPr>
            <p:ph type="body" idx="1"/>
          </p:nvPr>
        </p:nvSpPr>
        <p:spPr>
          <a:xfrm>
            <a:off x="1942415" y="5367338"/>
            <a:ext cx="6591985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04" name="Google Shape;404;p19"/>
          <p:cNvSpPr txBox="1">
            <a:spLocks noGrp="1"/>
          </p:cNvSpPr>
          <p:nvPr>
            <p:ph type="sldNum" idx="12"/>
          </p:nvPr>
        </p:nvSpPr>
        <p:spPr>
          <a:xfrm>
            <a:off x="511175" y="4983162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1"/>
          <p:cNvSpPr txBox="1"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21"/>
          <p:cNvSpPr txBox="1"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3" name="Google Shape;443;p21"/>
          <p:cNvSpPr txBox="1">
            <a:spLocks noGrp="1"/>
          </p:cNvSpPr>
          <p:nvPr>
            <p:ph type="sldNum" idx="12"/>
          </p:nvPr>
        </p:nvSpPr>
        <p:spPr>
          <a:xfrm>
            <a:off x="511175" y="324485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3"/>
          <p:cNvSpPr txBox="1"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23"/>
          <p:cNvSpPr txBox="1">
            <a:spLocks noGrp="1"/>
          </p:cNvSpPr>
          <p:nvPr>
            <p:ph type="body" idx="1"/>
          </p:nvPr>
        </p:nvSpPr>
        <p:spPr>
          <a:xfrm>
            <a:off x="2415972" y="3505200"/>
            <a:ext cx="565388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484" name="Google Shape;484;p23"/>
          <p:cNvSpPr txBox="1">
            <a:spLocks noGrp="1"/>
          </p:cNvSpPr>
          <p:nvPr>
            <p:ph type="body" idx="2"/>
          </p:nvPr>
        </p:nvSpPr>
        <p:spPr>
          <a:xfrm>
            <a:off x="1942415" y="4354046"/>
            <a:ext cx="6591985" cy="155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5" name="Google Shape;485;p23"/>
          <p:cNvSpPr txBox="1">
            <a:spLocks noGrp="1"/>
          </p:cNvSpPr>
          <p:nvPr>
            <p:ph type="sldNum" idx="12"/>
          </p:nvPr>
        </p:nvSpPr>
        <p:spPr>
          <a:xfrm>
            <a:off x="511175" y="324485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5"/>
          <p:cNvSpPr txBox="1"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25"/>
          <p:cNvSpPr txBox="1">
            <a:spLocks noGrp="1"/>
          </p:cNvSpPr>
          <p:nvPr>
            <p:ph type="body" idx="1"/>
          </p:nvPr>
        </p:nvSpPr>
        <p:spPr>
          <a:xfrm>
            <a:off x="1942415" y="5181600"/>
            <a:ext cx="6591985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521" name="Google Shape;521;p25"/>
          <p:cNvSpPr txBox="1">
            <a:spLocks noGrp="1"/>
          </p:cNvSpPr>
          <p:nvPr>
            <p:ph type="sldNum" idx="12"/>
          </p:nvPr>
        </p:nvSpPr>
        <p:spPr>
          <a:xfrm>
            <a:off x="511175" y="4983162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7"/>
          <p:cNvSpPr txBox="1"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1" name="Google Shape;561;p27"/>
          <p:cNvSpPr txBox="1">
            <a:spLocks noGrp="1"/>
          </p:cNvSpPr>
          <p:nvPr>
            <p:ph type="body" idx="1"/>
          </p:nvPr>
        </p:nvSpPr>
        <p:spPr>
          <a:xfrm>
            <a:off x="1942415" y="4343400"/>
            <a:ext cx="6688292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562" name="Google Shape;562;p27"/>
          <p:cNvSpPr txBox="1">
            <a:spLocks noGrp="1"/>
          </p:cNvSpPr>
          <p:nvPr>
            <p:ph type="body" idx="2"/>
          </p:nvPr>
        </p:nvSpPr>
        <p:spPr>
          <a:xfrm>
            <a:off x="1942415" y="5181600"/>
            <a:ext cx="6688292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563" name="Google Shape;563;p27"/>
          <p:cNvSpPr txBox="1">
            <a:spLocks noGrp="1"/>
          </p:cNvSpPr>
          <p:nvPr>
            <p:ph type="sldNum" idx="12"/>
          </p:nvPr>
        </p:nvSpPr>
        <p:spPr>
          <a:xfrm>
            <a:off x="511175" y="4983162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9"/>
          <p:cNvSpPr txBox="1"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1" name="Google Shape;601;p29"/>
          <p:cNvSpPr txBox="1">
            <a:spLocks noGrp="1"/>
          </p:cNvSpPr>
          <p:nvPr>
            <p:ph type="body" idx="1"/>
          </p:nvPr>
        </p:nvSpPr>
        <p:spPr>
          <a:xfrm>
            <a:off x="1942415" y="4343400"/>
            <a:ext cx="6591985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602" name="Google Shape;602;p29"/>
          <p:cNvSpPr txBox="1">
            <a:spLocks noGrp="1"/>
          </p:cNvSpPr>
          <p:nvPr>
            <p:ph type="body" idx="2"/>
          </p:nvPr>
        </p:nvSpPr>
        <p:spPr>
          <a:xfrm>
            <a:off x="1942415" y="5181600"/>
            <a:ext cx="6591985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603" name="Google Shape;603;p29"/>
          <p:cNvSpPr txBox="1">
            <a:spLocks noGrp="1"/>
          </p:cNvSpPr>
          <p:nvPr>
            <p:ph type="sldNum" idx="12"/>
          </p:nvPr>
        </p:nvSpPr>
        <p:spPr>
          <a:xfrm>
            <a:off x="511175" y="4983162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1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1" name="Google Shape;641;p31"/>
          <p:cNvSpPr txBox="1">
            <a:spLocks noGrp="1"/>
          </p:cNvSpPr>
          <p:nvPr>
            <p:ph type="body" idx="1"/>
          </p:nvPr>
        </p:nvSpPr>
        <p:spPr>
          <a:xfrm rot="5400000">
            <a:off x="3295650" y="781050"/>
            <a:ext cx="3886200" cy="6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642" name="Google Shape;642;p31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3"/>
          <p:cNvSpPr txBox="1">
            <a:spLocks noGrp="1"/>
          </p:cNvSpPr>
          <p:nvPr>
            <p:ph type="title"/>
          </p:nvPr>
        </p:nvSpPr>
        <p:spPr>
          <a:xfrm rot="5400000">
            <a:off x="5064693" y="2441248"/>
            <a:ext cx="5283817" cy="165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33"/>
          <p:cNvSpPr txBox="1">
            <a:spLocks noGrp="1"/>
          </p:cNvSpPr>
          <p:nvPr>
            <p:ph type="body" idx="1"/>
          </p:nvPr>
        </p:nvSpPr>
        <p:spPr>
          <a:xfrm rot="5400000">
            <a:off x="1658681" y="911140"/>
            <a:ext cx="5283817" cy="4716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681" name="Google Shape;681;p33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4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5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6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7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8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9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0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1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2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3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4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5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1" name="Google Shape;11;p1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3" name="Google Shape;23;p1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24" name="Google Shape;24;p1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6" name="Google Shape;36;p1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-31750" y="4321175"/>
            <a:ext cx="1395412" cy="781050"/>
          </a:xfrm>
          <a:custGeom>
            <a:avLst/>
            <a:gdLst/>
            <a:ahLst/>
            <a:cxnLst/>
            <a:rect l="l" t="t" r="r" b="b"/>
            <a:pathLst>
              <a:path w="8042" h="10000" extrusionOk="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" name="Google Shape;38;p1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1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0" name="Google Shape;40;p1"/>
          <p:cNvSpPr txBox="1">
            <a:spLocks noGrp="1"/>
          </p:cNvSpPr>
          <p:nvPr>
            <p:ph type="sldNum" idx="12"/>
          </p:nvPr>
        </p:nvSpPr>
        <p:spPr>
          <a:xfrm>
            <a:off x="423862" y="4529137"/>
            <a:ext cx="58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3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47" name="Google Shape;47;p3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9" name="Google Shape;59;p3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60" name="Google Shape;60;p3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72" name="Google Shape;72;p3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p3"/>
          <p:cNvSpPr/>
          <p:nvPr/>
        </p:nvSpPr>
        <p:spPr>
          <a:xfrm rot="10800000" flipH="1">
            <a:off x="0" y="711200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4" name="Google Shape;74;p3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3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76" name="Google Shape;76;p3"/>
          <p:cNvSpPr txBox="1">
            <a:spLocks noGrp="1"/>
          </p:cNvSpPr>
          <p:nvPr>
            <p:ph type="dt" idx="10"/>
          </p:nvPr>
        </p:nvSpPr>
        <p:spPr>
          <a:xfrm>
            <a:off x="1943100" y="6103937"/>
            <a:ext cx="9525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77" name="Google Shape;77;p3"/>
          <p:cNvSpPr txBox="1">
            <a:spLocks noGrp="1"/>
          </p:cNvSpPr>
          <p:nvPr>
            <p:ph type="ftr" idx="11"/>
          </p:nvPr>
        </p:nvSpPr>
        <p:spPr>
          <a:xfrm>
            <a:off x="2895600" y="6103937"/>
            <a:ext cx="4876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78" name="Google Shape;78;p3"/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5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87" name="Google Shape;87;p5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99" name="Google Shape;99;p5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100" name="Google Shape;100;p5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12" name="Google Shape;112;p5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p5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5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15" name="Google Shape;115;p5"/>
          <p:cNvSpPr txBox="1">
            <a:spLocks noGrp="1"/>
          </p:cNvSpPr>
          <p:nvPr>
            <p:ph type="dt" idx="10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16" name="Google Shape;116;p5"/>
          <p:cNvSpPr txBox="1">
            <a:spLocks noGrp="1"/>
          </p:cNvSpPr>
          <p:nvPr>
            <p:ph type="ftr" idx="11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17" name="Google Shape;117;p5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6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20" name="Google Shape;120;p6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32" name="Google Shape;132;p6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133" name="Google Shape;133;p6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4" name="Google Shape;134;p6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45" name="Google Shape;145;p6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6" name="Google Shape;146;p6"/>
          <p:cNvSpPr/>
          <p:nvPr/>
        </p:nvSpPr>
        <p:spPr>
          <a:xfrm rot="10800000" flipH="1">
            <a:off x="0" y="3167062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(#)  of 12</a:t>
            </a:r>
            <a:endParaRPr/>
          </a:p>
        </p:txBody>
      </p:sp>
      <p:sp>
        <p:nvSpPr>
          <p:cNvPr id="148" name="Google Shape;148;p6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6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50" name="Google Shape;150;p6"/>
          <p:cNvSpPr txBox="1">
            <a:spLocks noGrp="1"/>
          </p:cNvSpPr>
          <p:nvPr>
            <p:ph type="dt" idx="10"/>
          </p:nvPr>
        </p:nvSpPr>
        <p:spPr>
          <a:xfrm>
            <a:off x="1908175" y="612933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51" name="Google Shape;151;p6"/>
          <p:cNvSpPr txBox="1">
            <a:spLocks noGrp="1"/>
          </p:cNvSpPr>
          <p:nvPr>
            <p:ph type="ftr" idx="11"/>
          </p:nvPr>
        </p:nvSpPr>
        <p:spPr>
          <a:xfrm>
            <a:off x="2674937" y="6129337"/>
            <a:ext cx="51736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52" name="Google Shape;152;p6"/>
          <p:cNvSpPr txBox="1">
            <a:spLocks noGrp="1"/>
          </p:cNvSpPr>
          <p:nvPr>
            <p:ph type="sldNum" idx="12"/>
          </p:nvPr>
        </p:nvSpPr>
        <p:spPr>
          <a:xfrm>
            <a:off x="511175" y="324485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8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61" name="Google Shape;161;p8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7" name="Google Shape;167;p8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73" name="Google Shape;173;p8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174" name="Google Shape;174;p8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5" name="Google Shape;185;p8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86" name="Google Shape;186;p8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7" name="Google Shape;187;p8"/>
          <p:cNvSpPr/>
          <p:nvPr/>
        </p:nvSpPr>
        <p:spPr>
          <a:xfrm rot="10800000" flipH="1">
            <a:off x="0" y="711200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(#)  of 12</a:t>
            </a:r>
            <a:endParaRPr/>
          </a:p>
        </p:txBody>
      </p:sp>
      <p:sp>
        <p:nvSpPr>
          <p:cNvPr id="189" name="Google Shape;189;p8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8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91" name="Google Shape;191;p8"/>
          <p:cNvSpPr txBox="1">
            <a:spLocks noGrp="1"/>
          </p:cNvSpPr>
          <p:nvPr>
            <p:ph type="dt" idx="10"/>
          </p:nvPr>
        </p:nvSpPr>
        <p:spPr>
          <a:xfrm>
            <a:off x="1828800" y="6111875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92" name="Google Shape;192;p8"/>
          <p:cNvSpPr txBox="1">
            <a:spLocks noGrp="1"/>
          </p:cNvSpPr>
          <p:nvPr>
            <p:ph type="ftr" idx="11"/>
          </p:nvPr>
        </p:nvSpPr>
        <p:spPr>
          <a:xfrm>
            <a:off x="2595562" y="6135687"/>
            <a:ext cx="50641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93" name="Google Shape;193;p8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10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203" name="Google Shape;203;p10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4" name="Google Shape;204;p10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5" name="Google Shape;205;p10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6" name="Google Shape;206;p10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7" name="Google Shape;207;p10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8" name="Google Shape;208;p10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9" name="Google Shape;209;p10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0" name="Google Shape;210;p10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1" name="Google Shape;211;p10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2" name="Google Shape;212;p10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3" name="Google Shape;213;p10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4" name="Google Shape;214;p10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15" name="Google Shape;215;p10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216" name="Google Shape;216;p10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9" name="Google Shape;219;p10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0" name="Google Shape;220;p10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1" name="Google Shape;221;p10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2" name="Google Shape;222;p10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3" name="Google Shape;223;p10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5" name="Google Shape;225;p10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7" name="Google Shape;227;p10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28" name="Google Shape;228;p10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9" name="Google Shape;229;p10"/>
          <p:cNvSpPr/>
          <p:nvPr/>
        </p:nvSpPr>
        <p:spPr>
          <a:xfrm rot="10800000" flipH="1">
            <a:off x="0" y="711200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(#)  of 12</a:t>
            </a:r>
            <a:endParaRPr/>
          </a:p>
        </p:txBody>
      </p:sp>
      <p:sp>
        <p:nvSpPr>
          <p:cNvPr id="231" name="Google Shape;231;p10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2" name="Google Shape;232;p10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33" name="Google Shape;233;p10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 txBox="1">
            <a:spLocks noGrp="1"/>
          </p:cNvSpPr>
          <p:nvPr>
            <p:ph type="dt" idx="10"/>
          </p:nvPr>
        </p:nvSpPr>
        <p:spPr>
          <a:xfrm>
            <a:off x="1943100" y="615632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35" name="Google Shape;235;p10"/>
          <p:cNvSpPr txBox="1">
            <a:spLocks noGrp="1"/>
          </p:cNvSpPr>
          <p:nvPr>
            <p:ph type="ftr" idx="11"/>
          </p:nvPr>
        </p:nvSpPr>
        <p:spPr>
          <a:xfrm>
            <a:off x="2819400" y="6156325"/>
            <a:ext cx="4876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12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247" name="Google Shape;247;p12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48" name="Google Shape;248;p12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49" name="Google Shape;249;p12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0" name="Google Shape;250;p12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1" name="Google Shape;251;p12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2" name="Google Shape;252;p12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3" name="Google Shape;253;p12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4" name="Google Shape;254;p12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5" name="Google Shape;255;p12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6" name="Google Shape;256;p12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7" name="Google Shape;257;p12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8" name="Google Shape;258;p12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59" name="Google Shape;259;p12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260" name="Google Shape;260;p12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1" name="Google Shape;261;p12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2" name="Google Shape;262;p12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3" name="Google Shape;263;p12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4" name="Google Shape;264;p12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5" name="Google Shape;265;p12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6" name="Google Shape;266;p12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7" name="Google Shape;267;p12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8" name="Google Shape;268;p12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9" name="Google Shape;269;p12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0" name="Google Shape;270;p12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1" name="Google Shape;271;p12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72" name="Google Shape;272;p12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3" name="Google Shape;273;p12"/>
          <p:cNvSpPr/>
          <p:nvPr/>
        </p:nvSpPr>
        <p:spPr>
          <a:xfrm rot="10800000" flipH="1">
            <a:off x="0" y="711200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4" name="Google Shape;274;p12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75" name="Google Shape;275;p12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76" name="Google Shape;276;p12"/>
          <p:cNvSpPr txBox="1">
            <a:spLocks noGrp="1"/>
          </p:cNvSpPr>
          <p:nvPr>
            <p:ph type="dt" idx="10"/>
          </p:nvPr>
        </p:nvSpPr>
        <p:spPr>
          <a:xfrm>
            <a:off x="1943100" y="615632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77" name="Google Shape;277;p12"/>
          <p:cNvSpPr txBox="1">
            <a:spLocks noGrp="1"/>
          </p:cNvSpPr>
          <p:nvPr>
            <p:ph type="ftr" idx="11"/>
          </p:nvPr>
        </p:nvSpPr>
        <p:spPr>
          <a:xfrm>
            <a:off x="2819400" y="6156325"/>
            <a:ext cx="4876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78" name="Google Shape;278;p12"/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285;p14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286" name="Google Shape;286;p14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3" name="Google Shape;293;p14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4" name="Google Shape;294;p14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5" name="Google Shape;295;p14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6" name="Google Shape;296;p14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7" name="Google Shape;297;p14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98" name="Google Shape;298;p14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299" name="Google Shape;299;p14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0" name="Google Shape;300;p14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1" name="Google Shape;301;p14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2" name="Google Shape;302;p14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3" name="Google Shape;303;p14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4" name="Google Shape;304;p14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5" name="Google Shape;305;p14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6" name="Google Shape;306;p14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7" name="Google Shape;307;p14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8" name="Google Shape;308;p14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9" name="Google Shape;309;p14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0" name="Google Shape;310;p14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11" name="Google Shape;311;p14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2" name="Google Shape;312;p14"/>
          <p:cNvSpPr/>
          <p:nvPr/>
        </p:nvSpPr>
        <p:spPr>
          <a:xfrm rot="10800000" flipH="1">
            <a:off x="0" y="711200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3" name="Google Shape;313;p14"/>
          <p:cNvSpPr txBox="1"/>
          <p:nvPr/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(#)  of 12</a:t>
            </a:r>
            <a:endParaRPr/>
          </a:p>
        </p:txBody>
      </p:sp>
      <p:sp>
        <p:nvSpPr>
          <p:cNvPr id="314" name="Google Shape;314;p14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15" name="Google Shape;315;p14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16" name="Google Shape;316;p14"/>
          <p:cNvSpPr txBox="1">
            <a:spLocks noGrp="1"/>
          </p:cNvSpPr>
          <p:nvPr>
            <p:ph type="dt" idx="10"/>
          </p:nvPr>
        </p:nvSpPr>
        <p:spPr>
          <a:xfrm>
            <a:off x="1943100" y="615632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17" name="Google Shape;317;p14"/>
          <p:cNvSpPr txBox="1">
            <a:spLocks noGrp="1"/>
          </p:cNvSpPr>
          <p:nvPr>
            <p:ph type="ftr" idx="11"/>
          </p:nvPr>
        </p:nvSpPr>
        <p:spPr>
          <a:xfrm>
            <a:off x="2819400" y="6156325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18" name="Google Shape;318;p14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16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325" name="Google Shape;325;p16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6" name="Google Shape;326;p16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7" name="Google Shape;327;p16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8" name="Google Shape;328;p16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9" name="Google Shape;329;p16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0" name="Google Shape;330;p16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1" name="Google Shape;331;p16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2" name="Google Shape;332;p16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3" name="Google Shape;333;p16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4" name="Google Shape;334;p16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5" name="Google Shape;335;p16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6" name="Google Shape;336;p16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37" name="Google Shape;337;p16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338" name="Google Shape;338;p16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9" name="Google Shape;339;p16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0" name="Google Shape;340;p16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1" name="Google Shape;341;p16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2" name="Google Shape;342;p16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3" name="Google Shape;343;p16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4" name="Google Shape;344;p16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5" name="Google Shape;345;p16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6" name="Google Shape;346;p16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7" name="Google Shape;347;p16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8" name="Google Shape;348;p16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9" name="Google Shape;349;p16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50" name="Google Shape;350;p16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1" name="Google Shape;351;p16"/>
          <p:cNvSpPr/>
          <p:nvPr/>
        </p:nvSpPr>
        <p:spPr>
          <a:xfrm rot="10800000" flipH="1">
            <a:off x="0" y="711200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2" name="Google Shape;352;p16"/>
          <p:cNvSpPr txBox="1"/>
          <p:nvPr/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(#)  of 12</a:t>
            </a:r>
            <a:endParaRPr/>
          </a:p>
        </p:txBody>
      </p:sp>
      <p:sp>
        <p:nvSpPr>
          <p:cNvPr id="353" name="Google Shape;353;p16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54" name="Google Shape;354;p16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55" name="Google Shape;355;p16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6"/>
          <p:cNvSpPr txBox="1">
            <a:spLocks noGrp="1"/>
          </p:cNvSpPr>
          <p:nvPr>
            <p:ph type="dt" idx="10"/>
          </p:nvPr>
        </p:nvSpPr>
        <p:spPr>
          <a:xfrm>
            <a:off x="1943100" y="615632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57" name="Google Shape;357;p16"/>
          <p:cNvSpPr txBox="1">
            <a:spLocks noGrp="1"/>
          </p:cNvSpPr>
          <p:nvPr>
            <p:ph type="ftr" idx="11"/>
          </p:nvPr>
        </p:nvSpPr>
        <p:spPr>
          <a:xfrm>
            <a:off x="2819400" y="6156325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18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367" name="Google Shape;367;p18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8" name="Google Shape;368;p18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9" name="Google Shape;369;p18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0" name="Google Shape;370;p18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1" name="Google Shape;371;p18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2" name="Google Shape;372;p18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3" name="Google Shape;373;p18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4" name="Google Shape;374;p18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5" name="Google Shape;375;p18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6" name="Google Shape;376;p18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7" name="Google Shape;377;p18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8" name="Google Shape;378;p18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79" name="Google Shape;379;p18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380" name="Google Shape;380;p18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1" name="Google Shape;381;p18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2" name="Google Shape;382;p18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3" name="Google Shape;383;p18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4" name="Google Shape;384;p18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5" name="Google Shape;385;p18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6" name="Google Shape;386;p18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7" name="Google Shape;387;p18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8" name="Google Shape;388;p18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9" name="Google Shape;389;p18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0" name="Google Shape;390;p18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1" name="Google Shape;391;p18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92" name="Google Shape;392;p18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3" name="Google Shape;393;p18"/>
          <p:cNvSpPr/>
          <p:nvPr/>
        </p:nvSpPr>
        <p:spPr>
          <a:xfrm rot="10800000" flipH="1">
            <a:off x="0" y="4910137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4" name="Google Shape;394;p18"/>
          <p:cNvSpPr txBox="1"/>
          <p:nvPr/>
        </p:nvSpPr>
        <p:spPr>
          <a:xfrm>
            <a:off x="1949450" y="618807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395" name="Google Shape;395;p18"/>
          <p:cNvSpPr txBox="1"/>
          <p:nvPr/>
        </p:nvSpPr>
        <p:spPr>
          <a:xfrm>
            <a:off x="2790825" y="621030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sp>
        <p:nvSpPr>
          <p:cNvPr id="396" name="Google Shape;396;p18"/>
          <p:cNvSpPr txBox="1"/>
          <p:nvPr/>
        </p:nvSpPr>
        <p:spPr>
          <a:xfrm>
            <a:off x="7954962" y="6091237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 of ##</a:t>
            </a:r>
            <a:endParaRPr/>
          </a:p>
        </p:txBody>
      </p:sp>
      <p:sp>
        <p:nvSpPr>
          <p:cNvPr id="397" name="Google Shape;397;p18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98" name="Google Shape;398;p18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99" name="Google Shape;399;p18"/>
          <p:cNvSpPr txBox="1">
            <a:spLocks noGrp="1"/>
          </p:cNvSpPr>
          <p:nvPr>
            <p:ph type="sldNum" idx="12"/>
          </p:nvPr>
        </p:nvSpPr>
        <p:spPr>
          <a:xfrm>
            <a:off x="511175" y="4983162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" name="Google Shape;406;p20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407" name="Google Shape;407;p20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8" name="Google Shape;408;p20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9" name="Google Shape;409;p20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0" name="Google Shape;410;p20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1" name="Google Shape;411;p20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2" name="Google Shape;412;p20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3" name="Google Shape;413;p20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4" name="Google Shape;414;p20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5" name="Google Shape;415;p20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6" name="Google Shape;416;p20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7" name="Google Shape;417;p20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8" name="Google Shape;418;p20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419" name="Google Shape;419;p20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420" name="Google Shape;420;p20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1" name="Google Shape;421;p20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2" name="Google Shape;422;p20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3" name="Google Shape;423;p20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4" name="Google Shape;424;p20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5" name="Google Shape;425;p20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6" name="Google Shape;426;p20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7" name="Google Shape;427;p20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8" name="Google Shape;428;p20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9" name="Google Shape;429;p20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0" name="Google Shape;430;p20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1" name="Google Shape;431;p20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32" name="Google Shape;432;p20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3" name="Google Shape;433;p20"/>
          <p:cNvSpPr/>
          <p:nvPr/>
        </p:nvSpPr>
        <p:spPr>
          <a:xfrm rot="10800000" flipH="1">
            <a:off x="0" y="3167062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4" name="Google Shape;434;p20"/>
          <p:cNvSpPr txBox="1"/>
          <p:nvPr/>
        </p:nvSpPr>
        <p:spPr>
          <a:xfrm>
            <a:off x="1949450" y="618807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435" name="Google Shape;435;p20"/>
          <p:cNvSpPr txBox="1"/>
          <p:nvPr/>
        </p:nvSpPr>
        <p:spPr>
          <a:xfrm>
            <a:off x="2790825" y="621030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sp>
        <p:nvSpPr>
          <p:cNvPr id="436" name="Google Shape;436;p20"/>
          <p:cNvSpPr txBox="1"/>
          <p:nvPr/>
        </p:nvSpPr>
        <p:spPr>
          <a:xfrm>
            <a:off x="7954962" y="6091237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 of ##</a:t>
            </a:r>
            <a:endParaRPr/>
          </a:p>
        </p:txBody>
      </p:sp>
      <p:sp>
        <p:nvSpPr>
          <p:cNvPr id="437" name="Google Shape;437;p20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38" name="Google Shape;438;p20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39" name="Google Shape;439;p20"/>
          <p:cNvSpPr txBox="1">
            <a:spLocks noGrp="1"/>
          </p:cNvSpPr>
          <p:nvPr>
            <p:ph type="sldNum" idx="12"/>
          </p:nvPr>
        </p:nvSpPr>
        <p:spPr>
          <a:xfrm>
            <a:off x="511175" y="324485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" name="Google Shape;445;p22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446" name="Google Shape;446;p22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7" name="Google Shape;447;p22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8" name="Google Shape;448;p22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9" name="Google Shape;449;p22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0" name="Google Shape;450;p22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1" name="Google Shape;451;p22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2" name="Google Shape;452;p22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3" name="Google Shape;453;p22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4" name="Google Shape;454;p22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5" name="Google Shape;455;p22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6" name="Google Shape;456;p22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7" name="Google Shape;457;p22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458" name="Google Shape;458;p22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459" name="Google Shape;459;p22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0" name="Google Shape;460;p22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1" name="Google Shape;461;p22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2" name="Google Shape;462;p22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3" name="Google Shape;463;p22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4" name="Google Shape;464;p22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5" name="Google Shape;465;p22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6" name="Google Shape;466;p22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7" name="Google Shape;467;p22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8" name="Google Shape;468;p22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9" name="Google Shape;469;p22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70" name="Google Shape;470;p22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71" name="Google Shape;471;p22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2" name="Google Shape;472;p22"/>
          <p:cNvSpPr/>
          <p:nvPr/>
        </p:nvSpPr>
        <p:spPr>
          <a:xfrm rot="10800000" flipH="1">
            <a:off x="0" y="3167062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3" name="Google Shape;473;p22"/>
          <p:cNvSpPr txBox="1"/>
          <p:nvPr/>
        </p:nvSpPr>
        <p:spPr>
          <a:xfrm>
            <a:off x="1808162" y="647700"/>
            <a:ext cx="457200" cy="585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Arial"/>
              <a:buNone/>
            </a:pPr>
            <a:r>
              <a:rPr lang="en-US" sz="8000" b="0" i="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474" name="Google Shape;474;p22"/>
          <p:cNvSpPr txBox="1"/>
          <p:nvPr/>
        </p:nvSpPr>
        <p:spPr>
          <a:xfrm>
            <a:off x="8169275" y="2905125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Arial"/>
              <a:buNone/>
            </a:pPr>
            <a:r>
              <a:rPr lang="en-US" sz="8000" b="0" i="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475" name="Google Shape;475;p22"/>
          <p:cNvSpPr txBox="1"/>
          <p:nvPr/>
        </p:nvSpPr>
        <p:spPr>
          <a:xfrm>
            <a:off x="1949450" y="618807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476" name="Google Shape;476;p22"/>
          <p:cNvSpPr txBox="1"/>
          <p:nvPr/>
        </p:nvSpPr>
        <p:spPr>
          <a:xfrm>
            <a:off x="2790825" y="621030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sp>
        <p:nvSpPr>
          <p:cNvPr id="477" name="Google Shape;477;p22"/>
          <p:cNvSpPr txBox="1"/>
          <p:nvPr/>
        </p:nvSpPr>
        <p:spPr>
          <a:xfrm>
            <a:off x="7954962" y="6091237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 of ##</a:t>
            </a:r>
            <a:endParaRPr/>
          </a:p>
        </p:txBody>
      </p:sp>
      <p:sp>
        <p:nvSpPr>
          <p:cNvPr id="478" name="Google Shape;478;p22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79" name="Google Shape;479;p22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80" name="Google Shape;480;p22"/>
          <p:cNvSpPr txBox="1">
            <a:spLocks noGrp="1"/>
          </p:cNvSpPr>
          <p:nvPr>
            <p:ph type="sldNum" idx="12"/>
          </p:nvPr>
        </p:nvSpPr>
        <p:spPr>
          <a:xfrm>
            <a:off x="511175" y="324485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" name="Google Shape;487;p24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488" name="Google Shape;488;p24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89" name="Google Shape;489;p24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0" name="Google Shape;490;p24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1" name="Google Shape;491;p24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2" name="Google Shape;492;p24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3" name="Google Shape;493;p24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4" name="Google Shape;494;p24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5" name="Google Shape;495;p24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6" name="Google Shape;496;p24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7" name="Google Shape;497;p24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8" name="Google Shape;498;p24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9" name="Google Shape;499;p24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00" name="Google Shape;500;p24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501" name="Google Shape;501;p24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2" name="Google Shape;502;p24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3" name="Google Shape;503;p24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4" name="Google Shape;504;p24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5" name="Google Shape;505;p24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6" name="Google Shape;506;p24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7" name="Google Shape;507;p24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8" name="Google Shape;508;p24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9" name="Google Shape;509;p24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0" name="Google Shape;510;p24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1" name="Google Shape;511;p24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2" name="Google Shape;512;p24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513" name="Google Shape;513;p24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4" name="Google Shape;514;p24"/>
          <p:cNvSpPr/>
          <p:nvPr/>
        </p:nvSpPr>
        <p:spPr>
          <a:xfrm rot="10800000" flipH="1">
            <a:off x="0" y="4910137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5" name="Google Shape;515;p24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16" name="Google Shape;516;p24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517" name="Google Shape;517;p24"/>
          <p:cNvSpPr txBox="1">
            <a:spLocks noGrp="1"/>
          </p:cNvSpPr>
          <p:nvPr>
            <p:ph type="sldNum" idx="12"/>
          </p:nvPr>
        </p:nvSpPr>
        <p:spPr>
          <a:xfrm>
            <a:off x="511175" y="4983162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26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524" name="Google Shape;524;p26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5" name="Google Shape;525;p26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6" name="Google Shape;526;p26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7" name="Google Shape;527;p26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8" name="Google Shape;528;p26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9" name="Google Shape;529;p26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0" name="Google Shape;530;p26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1" name="Google Shape;531;p26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2" name="Google Shape;532;p26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3" name="Google Shape;533;p26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4" name="Google Shape;534;p26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5" name="Google Shape;535;p26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36" name="Google Shape;536;p26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537" name="Google Shape;537;p26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8" name="Google Shape;538;p26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9" name="Google Shape;539;p26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0" name="Google Shape;540;p26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1" name="Google Shape;541;p26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2" name="Google Shape;542;p26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3" name="Google Shape;543;p26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4" name="Google Shape;544;p26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5" name="Google Shape;545;p26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6" name="Google Shape;546;p26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7" name="Google Shape;547;p26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8" name="Google Shape;548;p26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549" name="Google Shape;549;p26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0" name="Google Shape;550;p26"/>
          <p:cNvSpPr/>
          <p:nvPr/>
        </p:nvSpPr>
        <p:spPr>
          <a:xfrm rot="10800000" flipH="1">
            <a:off x="0" y="4910137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1" name="Google Shape;551;p26"/>
          <p:cNvSpPr txBox="1"/>
          <p:nvPr/>
        </p:nvSpPr>
        <p:spPr>
          <a:xfrm>
            <a:off x="1808162" y="647700"/>
            <a:ext cx="457200" cy="585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Arial"/>
              <a:buNone/>
            </a:pPr>
            <a:r>
              <a:rPr lang="en-US" sz="8000" b="0" i="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552" name="Google Shape;552;p26"/>
          <p:cNvSpPr txBox="1"/>
          <p:nvPr/>
        </p:nvSpPr>
        <p:spPr>
          <a:xfrm>
            <a:off x="8169275" y="2905125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Arial"/>
              <a:buNone/>
            </a:pPr>
            <a:r>
              <a:rPr lang="en-US" sz="8000" b="0" i="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553" name="Google Shape;553;p26"/>
          <p:cNvSpPr txBox="1"/>
          <p:nvPr/>
        </p:nvSpPr>
        <p:spPr>
          <a:xfrm>
            <a:off x="1949450" y="618807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554" name="Google Shape;554;p26"/>
          <p:cNvSpPr txBox="1"/>
          <p:nvPr/>
        </p:nvSpPr>
        <p:spPr>
          <a:xfrm>
            <a:off x="2790825" y="621030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sp>
        <p:nvSpPr>
          <p:cNvPr id="555" name="Google Shape;555;p26"/>
          <p:cNvSpPr txBox="1"/>
          <p:nvPr/>
        </p:nvSpPr>
        <p:spPr>
          <a:xfrm>
            <a:off x="7954962" y="6091237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 of ##</a:t>
            </a:r>
            <a:endParaRPr/>
          </a:p>
        </p:txBody>
      </p:sp>
      <p:sp>
        <p:nvSpPr>
          <p:cNvPr id="556" name="Google Shape;556;p26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57" name="Google Shape;557;p26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558" name="Google Shape;558;p26"/>
          <p:cNvSpPr txBox="1">
            <a:spLocks noGrp="1"/>
          </p:cNvSpPr>
          <p:nvPr>
            <p:ph type="sldNum" idx="12"/>
          </p:nvPr>
        </p:nvSpPr>
        <p:spPr>
          <a:xfrm>
            <a:off x="511175" y="4983162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Google Shape;565;p28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566" name="Google Shape;566;p28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7" name="Google Shape;567;p28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8" name="Google Shape;568;p28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9" name="Google Shape;569;p28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0" name="Google Shape;570;p28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1" name="Google Shape;571;p28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2" name="Google Shape;572;p28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3" name="Google Shape;573;p28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4" name="Google Shape;574;p28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5" name="Google Shape;575;p28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6" name="Google Shape;576;p28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7" name="Google Shape;577;p28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78" name="Google Shape;578;p28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579" name="Google Shape;579;p28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0" name="Google Shape;580;p28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1" name="Google Shape;581;p28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2" name="Google Shape;582;p28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3" name="Google Shape;583;p28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4" name="Google Shape;584;p28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5" name="Google Shape;585;p28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6" name="Google Shape;586;p28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7" name="Google Shape;587;p28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8" name="Google Shape;588;p28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9" name="Google Shape;589;p28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90" name="Google Shape;590;p28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591" name="Google Shape;591;p28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2" name="Google Shape;592;p28"/>
          <p:cNvSpPr/>
          <p:nvPr/>
        </p:nvSpPr>
        <p:spPr>
          <a:xfrm rot="10800000" flipH="1">
            <a:off x="0" y="4910137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3" name="Google Shape;593;p28"/>
          <p:cNvSpPr txBox="1"/>
          <p:nvPr/>
        </p:nvSpPr>
        <p:spPr>
          <a:xfrm>
            <a:off x="1949450" y="618807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594" name="Google Shape;594;p28"/>
          <p:cNvSpPr txBox="1"/>
          <p:nvPr/>
        </p:nvSpPr>
        <p:spPr>
          <a:xfrm>
            <a:off x="2790825" y="621030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sp>
        <p:nvSpPr>
          <p:cNvPr id="595" name="Google Shape;595;p28"/>
          <p:cNvSpPr txBox="1"/>
          <p:nvPr/>
        </p:nvSpPr>
        <p:spPr>
          <a:xfrm>
            <a:off x="7954962" y="6091237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 of ##</a:t>
            </a:r>
            <a:endParaRPr/>
          </a:p>
        </p:txBody>
      </p:sp>
      <p:sp>
        <p:nvSpPr>
          <p:cNvPr id="596" name="Google Shape;596;p28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97" name="Google Shape;597;p28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598" name="Google Shape;598;p28"/>
          <p:cNvSpPr txBox="1">
            <a:spLocks noGrp="1"/>
          </p:cNvSpPr>
          <p:nvPr>
            <p:ph type="sldNum" idx="12"/>
          </p:nvPr>
        </p:nvSpPr>
        <p:spPr>
          <a:xfrm>
            <a:off x="511175" y="4983162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5" name="Google Shape;605;p30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606" name="Google Shape;606;p30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07" name="Google Shape;607;p30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08" name="Google Shape;608;p30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09" name="Google Shape;609;p30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0" name="Google Shape;610;p30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1" name="Google Shape;611;p30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2" name="Google Shape;612;p30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3" name="Google Shape;613;p30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4" name="Google Shape;614;p30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5" name="Google Shape;615;p30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6" name="Google Shape;616;p30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7" name="Google Shape;617;p30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618" name="Google Shape;618;p30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619" name="Google Shape;619;p30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0" name="Google Shape;620;p30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1" name="Google Shape;621;p30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2" name="Google Shape;622;p30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3" name="Google Shape;623;p30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4" name="Google Shape;624;p30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5" name="Google Shape;625;p30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6" name="Google Shape;626;p30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7" name="Google Shape;627;p30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8" name="Google Shape;628;p30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9" name="Google Shape;629;p30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30" name="Google Shape;630;p30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631" name="Google Shape;631;p30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2" name="Google Shape;632;p30"/>
          <p:cNvSpPr/>
          <p:nvPr/>
        </p:nvSpPr>
        <p:spPr>
          <a:xfrm rot="10800000" flipH="1">
            <a:off x="0" y="711200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3" name="Google Shape;633;p30"/>
          <p:cNvSpPr txBox="1"/>
          <p:nvPr/>
        </p:nvSpPr>
        <p:spPr>
          <a:xfrm>
            <a:off x="1949450" y="618807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634" name="Google Shape;634;p30"/>
          <p:cNvSpPr txBox="1"/>
          <p:nvPr/>
        </p:nvSpPr>
        <p:spPr>
          <a:xfrm>
            <a:off x="2790825" y="621030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sp>
        <p:nvSpPr>
          <p:cNvPr id="635" name="Google Shape;635;p30"/>
          <p:cNvSpPr txBox="1"/>
          <p:nvPr/>
        </p:nvSpPr>
        <p:spPr>
          <a:xfrm>
            <a:off x="7954962" y="6091237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 of ##</a:t>
            </a:r>
            <a:endParaRPr/>
          </a:p>
        </p:txBody>
      </p:sp>
      <p:sp>
        <p:nvSpPr>
          <p:cNvPr id="636" name="Google Shape;636;p30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37" name="Google Shape;637;p30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638" name="Google Shape;638;p30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4" name="Google Shape;644;p32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645" name="Google Shape;645;p32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46" name="Google Shape;646;p32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47" name="Google Shape;647;p32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48" name="Google Shape;648;p32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49" name="Google Shape;649;p32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50" name="Google Shape;650;p32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51" name="Google Shape;651;p32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52" name="Google Shape;652;p32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53" name="Google Shape;653;p32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54" name="Google Shape;654;p32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55" name="Google Shape;655;p32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56" name="Google Shape;656;p32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657" name="Google Shape;657;p32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658" name="Google Shape;658;p32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59" name="Google Shape;659;p32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60" name="Google Shape;660;p32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61" name="Google Shape;661;p32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62" name="Google Shape;662;p32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63" name="Google Shape;663;p32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64" name="Google Shape;664;p32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65" name="Google Shape;665;p32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66" name="Google Shape;666;p32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67" name="Google Shape;667;p32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68" name="Google Shape;668;p32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69" name="Google Shape;669;p32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670" name="Google Shape;670;p32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1" name="Google Shape;671;p32"/>
          <p:cNvSpPr/>
          <p:nvPr/>
        </p:nvSpPr>
        <p:spPr>
          <a:xfrm rot="10800000" flipH="1">
            <a:off x="0" y="711200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2" name="Google Shape;672;p32"/>
          <p:cNvSpPr txBox="1"/>
          <p:nvPr/>
        </p:nvSpPr>
        <p:spPr>
          <a:xfrm>
            <a:off x="1949450" y="618807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673" name="Google Shape;673;p32"/>
          <p:cNvSpPr txBox="1"/>
          <p:nvPr/>
        </p:nvSpPr>
        <p:spPr>
          <a:xfrm>
            <a:off x="2790825" y="621030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sp>
        <p:nvSpPr>
          <p:cNvPr id="674" name="Google Shape;674;p32"/>
          <p:cNvSpPr txBox="1"/>
          <p:nvPr/>
        </p:nvSpPr>
        <p:spPr>
          <a:xfrm>
            <a:off x="7954962" y="6091237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 of ##</a:t>
            </a:r>
            <a:endParaRPr/>
          </a:p>
        </p:txBody>
      </p:sp>
      <p:sp>
        <p:nvSpPr>
          <p:cNvPr id="675" name="Google Shape;675;p32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6" name="Google Shape;676;p32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677" name="Google Shape;677;p32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4"/>
          <p:cNvSpPr txBox="1"/>
          <p:nvPr/>
        </p:nvSpPr>
        <p:spPr>
          <a:xfrm>
            <a:off x="1417320" y="42862"/>
            <a:ext cx="6720840" cy="85883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288" tIns="18288" rIns="18288" bIns="18288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sz="1700" b="1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DAYANANDA SAGAR UNIVERSITY
SCHOOL OF ENGINEERING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0" name="Google Shape;690;p34"/>
          <p:cNvSpPr txBox="1">
            <a:spLocks noGrp="1"/>
          </p:cNvSpPr>
          <p:nvPr>
            <p:ph type="subTitle" idx="1"/>
          </p:nvPr>
        </p:nvSpPr>
        <p:spPr>
          <a:xfrm>
            <a:off x="876300" y="2779712"/>
            <a:ext cx="7772400" cy="133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300" b="1" dirty="0" smtClean="0">
                <a:solidFill>
                  <a:srgbClr val="5604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</a:t>
            </a:r>
            <a:r>
              <a:rPr sz="2300" b="1" dirty="0">
                <a:solidFill>
                  <a:srgbClr val="5604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AI-DRIVEN INTELLIGENT MOBILITY SYSTEM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1" name="Google Shape;691;p34"/>
          <p:cNvSpPr txBox="1"/>
          <p:nvPr/>
        </p:nvSpPr>
        <p:spPr>
          <a:xfrm>
            <a:off x="2590800" y="5173297"/>
            <a:ext cx="3962400" cy="1037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300" b="1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
Chintha Deepak (ENG23RA0029)
</a:t>
            </a:r>
            <a:r>
              <a:rPr sz="1300" b="1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Harshitha</a:t>
            </a:r>
            <a:r>
              <a:rPr sz="1300" b="1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 (ENG23RA0008)
</a:t>
            </a:r>
            <a:r>
              <a:rPr sz="1300" b="1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Dhanush</a:t>
            </a:r>
            <a:r>
              <a:rPr sz="1300" b="1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 (ENG23RA0030)
M N S J </a:t>
            </a:r>
            <a:r>
              <a:rPr sz="1300" b="1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Sreekar</a:t>
            </a:r>
            <a:r>
              <a:rPr sz="1300" b="1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(ENG23RA0033)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2" name="Google Shape;692;p34"/>
          <p:cNvSpPr txBox="1"/>
          <p:nvPr/>
        </p:nvSpPr>
        <p:spPr>
          <a:xfrm>
            <a:off x="1619250" y="2112066"/>
            <a:ext cx="59055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None/>
            </a:pPr>
            <a:r>
              <a:rPr lang="en-US" sz="2400" b="1" dirty="0" smtClean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</a:t>
            </a:r>
            <a:r>
              <a:rPr sz="2400" b="1" dirty="0" smtClean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sz="2400" b="1" dirty="0" smtClean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en-US" sz="2400" b="1" dirty="0" smtClean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 smtClean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b="1" dirty="0" smtClean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 smtClean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400" b="1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Review 0</a:t>
            </a:r>
          </a:p>
        </p:txBody>
      </p:sp>
      <p:pic>
        <p:nvPicPr>
          <p:cNvPr id="693" name="Google Shape;693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4964" y="122238"/>
            <a:ext cx="1203244" cy="1112837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34"/>
          <p:cNvSpPr txBox="1"/>
          <p:nvPr/>
        </p:nvSpPr>
        <p:spPr>
          <a:xfrm>
            <a:off x="381000" y="1187450"/>
            <a:ext cx="8763000" cy="73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47"/>
              </a:buClr>
              <a:buSzPts val="2800"/>
              <a:buFont typeface="Calibri"/>
              <a:buNone/>
            </a:pPr>
            <a:r>
              <a:rPr sz="2000" b="1" dirty="0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sz="2000" b="1" dirty="0" smtClean="0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 – AI &amp; Robotics</a:t>
            </a:r>
            <a:r>
              <a:rPr sz="2000" b="1" dirty="0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2026-2027</a:t>
            </a:r>
          </a:p>
        </p:txBody>
      </p:sp>
      <p:sp>
        <p:nvSpPr>
          <p:cNvPr id="695" name="Google Shape;695;p34"/>
          <p:cNvSpPr txBox="1"/>
          <p:nvPr/>
        </p:nvSpPr>
        <p:spPr>
          <a:xfrm>
            <a:off x="1809750" y="3977111"/>
            <a:ext cx="5905500" cy="529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17"/>
              </a:buClr>
              <a:buSzPts val="2000"/>
              <a:buFont typeface="Calibri"/>
              <a:buNone/>
            </a:pPr>
            <a:r>
              <a:rPr sz="1600" b="1" dirty="0">
                <a:solidFill>
                  <a:srgbClr val="0742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
Dr. M </a:t>
            </a:r>
            <a:r>
              <a:rPr sz="1600" b="1" dirty="0" err="1">
                <a:solidFill>
                  <a:srgbClr val="0742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Venkatesh</a:t>
            </a:r>
            <a:r>
              <a:rPr sz="1600" b="1" dirty="0">
                <a:solidFill>
                  <a:srgbClr val="0742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Associate Professor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6" name="Google Shape;696;p34"/>
          <p:cNvSpPr txBox="1"/>
          <p:nvPr/>
        </p:nvSpPr>
        <p:spPr>
          <a:xfrm>
            <a:off x="423862" y="4529137"/>
            <a:ext cx="58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</a:pPr>
            <a:fld id="{00000000-1234-1234-1234-123412341234}" type="slidenum">
              <a:rPr lang="en-US" sz="2000" b="0" i="0" u="none">
                <a:solidFill>
                  <a:srgbClr val="FEFFFF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1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3352" y="512064"/>
            <a:ext cx="1094146" cy="47089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0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1508760"/>
            <a:ext cx="6629400" cy="205543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70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Problem Definition and Project Relevance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70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Literature Review and Research Gap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70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Proposed Methodology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70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Innovations, Objectives and Expected Outcomes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70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Feasibility Evaluation and Project Planning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70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37682" y="5138928"/>
            <a:ext cx="4942955" cy="2862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500" b="1" dirty="0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theme: From fixed perception to adaptive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8076" y="6139035"/>
            <a:ext cx="132344" cy="24006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99746" y="6157546"/>
            <a:ext cx="3081869" cy="19389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GB" sz="900" dirty="0" err="1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GB" sz="900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CSE – AI &amp; Robotics, SOE-Dayananda </a:t>
            </a:r>
            <a:r>
              <a:rPr lang="en-GB" sz="900" dirty="0" err="1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Sagar</a:t>
            </a:r>
            <a:r>
              <a:rPr lang="en-GB" sz="900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  <a:endParaRPr lang="en-GB" sz="900" dirty="0">
              <a:solidFill>
                <a:srgbClr val="6E6E6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87268" y="6157546"/>
            <a:ext cx="382412" cy="19389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3352" y="512064"/>
            <a:ext cx="5922391" cy="47089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and Project Relevance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57020" y="1353312"/>
            <a:ext cx="2124508" cy="1079922"/>
          </a:xfrm>
          <a:prstGeom prst="roundRect">
            <a:avLst/>
          </a:prstGeom>
          <a:solidFill>
            <a:srgbClr val="EFF7F9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200" b="1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Agents</a:t>
            </a:r>
          </a:p>
          <a:p>
            <a:pPr>
              <a:spcAft>
                <a:spcPts val="200"/>
              </a:spcAft>
            </a:pPr>
            <a:r>
              <a:rPr sz="110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Vehicles, pedestrians and riders move unpredictably and interact simultaneously.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09948" y="1353312"/>
            <a:ext cx="2124508" cy="1079922"/>
          </a:xfrm>
          <a:prstGeom prst="roundRect">
            <a:avLst/>
          </a:prstGeom>
          <a:solidFill>
            <a:srgbClr val="EFF7F9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200" b="1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Uncertain Conditions</a:t>
            </a:r>
          </a:p>
          <a:p>
            <a:pPr>
              <a:spcAft>
                <a:spcPts val="200"/>
              </a:spcAft>
            </a:pPr>
            <a:r>
              <a:rPr sz="110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Unmarked lanes, occlusions and poor visibility limit what sensors can perceive.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2876" y="1353312"/>
            <a:ext cx="2124508" cy="1079922"/>
          </a:xfrm>
          <a:prstGeom prst="roundRect">
            <a:avLst/>
          </a:prstGeom>
          <a:solidFill>
            <a:srgbClr val="EFF7F9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200" b="1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Imperfect Information</a:t>
            </a:r>
          </a:p>
          <a:p>
            <a:pPr>
              <a:spcAft>
                <a:spcPts val="200"/>
              </a:spcAft>
            </a:pPr>
            <a:r>
              <a:rPr sz="110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perception system operates on incomplete, sometimes conflicting, sensor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83" y="2633472"/>
            <a:ext cx="6853735" cy="24006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200" b="1" dirty="0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sensors observe the same environment — but each is independently vulnerable to degradation.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2664" y="3154680"/>
            <a:ext cx="2298864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050" b="1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Interference</a:t>
            </a:r>
          </a:p>
          <a:p>
            <a:pPr>
              <a:spcAft>
                <a:spcPts val="200"/>
              </a:spcAft>
            </a:pPr>
            <a:r>
              <a:rPr sz="95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Rain, fog, glare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35592" y="3154680"/>
            <a:ext cx="2298864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Occlusion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Blocked lines of sight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88520" y="3154680"/>
            <a:ext cx="2298864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Noise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Signal-level distortion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2664" y="4087368"/>
            <a:ext cx="2298864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Calibration Errors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Extrinsic / intrinsic drift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35592" y="4087368"/>
            <a:ext cx="2298864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Temporary Failure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Dropout or blackout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88520" y="4087368"/>
            <a:ext cx="2298864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Conflicting Observations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Cross-sensor disagreement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2656" y="5193792"/>
            <a:ext cx="1058880" cy="255455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300" b="1" dirty="0">
                <a:solidFill>
                  <a:srgbClr val="5604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ISSUE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7740" y="5061204"/>
            <a:ext cx="5687568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200" b="1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Fixed-Confidence Perception</a:t>
            </a:r>
          </a:p>
          <a:p>
            <a:pPr>
              <a:spcAft>
                <a:spcPts val="200"/>
              </a:spcAft>
            </a:pPr>
            <a:r>
              <a:rPr sz="110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Ignores changing sensor reliability → sensor unreliability can silently propagate into downstream decisions.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18076" y="6139035"/>
            <a:ext cx="132344" cy="24006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9746" y="6157546"/>
            <a:ext cx="3081869" cy="19389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GB" sz="900" dirty="0" err="1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GB" sz="900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CSE – AI &amp; Robotics, SOE-Dayananda </a:t>
            </a:r>
            <a:r>
              <a:rPr lang="en-GB" sz="900" dirty="0" err="1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Sagar</a:t>
            </a:r>
            <a:r>
              <a:rPr lang="en-GB" sz="900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  <a:endParaRPr lang="en-GB" sz="900" dirty="0">
              <a:solidFill>
                <a:srgbClr val="6E6E6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87268" y="6157546"/>
            <a:ext cx="382412" cy="19389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3352" y="512064"/>
            <a:ext cx="5172185" cy="47089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82496" y="1115568"/>
            <a:ext cx="6326347" cy="24006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work provides strong individual components; the research focus is their adaptive interaction.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54302" y="1610505"/>
            <a:ext cx="1874519" cy="493776"/>
          </a:xfrm>
          <a:prstGeom prst="rect">
            <a:avLst/>
          </a:prstGeom>
          <a:solidFill>
            <a:srgbClr val="1221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2628821" y="1610505"/>
            <a:ext cx="2880360" cy="493776"/>
          </a:xfrm>
          <a:prstGeom prst="rect">
            <a:avLst/>
          </a:prstGeom>
          <a:solidFill>
            <a:srgbClr val="1221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Existing Work Addresses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509182" y="1610505"/>
            <a:ext cx="3028022" cy="493776"/>
          </a:xfrm>
          <a:prstGeom prst="rect">
            <a:avLst/>
          </a:prstGeom>
          <a:solidFill>
            <a:srgbClr val="1221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Relevant Limitation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54302" y="2104281"/>
            <a:ext cx="1874519" cy="493776"/>
          </a:xfrm>
          <a:prstGeom prst="rect">
            <a:avLst/>
          </a:prstGeom>
          <a:solidFill>
            <a:srgbClr val="F8FAFB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27432" rIns="27432" bIns="27432" rtlCol="0" anchor="ctr"/>
          <a:lstStyle/>
          <a:p>
            <a:pPr algn="l"/>
            <a:r>
              <a:rPr sz="850" b="1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Multi-Sensor Fusion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28821" y="2104281"/>
            <a:ext cx="2880360" cy="493776"/>
          </a:xfrm>
          <a:prstGeom prst="rect">
            <a:avLst/>
          </a:prstGeom>
          <a:solidFill>
            <a:srgbClr val="F8FAFB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27432" rIns="27432" bIns="27432" rtlCol="0" anchor="ctr"/>
          <a:lstStyle/>
          <a:p>
            <a:pPr algn="l"/>
            <a:r>
              <a:rPr sz="85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Combines camera, LiDAR and radar information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509182" y="2104281"/>
            <a:ext cx="3028022" cy="493776"/>
          </a:xfrm>
          <a:prstGeom prst="rect">
            <a:avLst/>
          </a:prstGeom>
          <a:solidFill>
            <a:srgbClr val="F8FAFB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27432" rIns="27432" bIns="27432" rtlCol="0" anchor="ctr"/>
          <a:lstStyle/>
          <a:p>
            <a:pPr algn="l"/>
            <a:r>
              <a:rPr sz="85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Fusion may use predefined / static assumptions about sensor reliability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02" y="2598057"/>
            <a:ext cx="1874519" cy="493776"/>
          </a:xfrm>
          <a:prstGeom prst="rect">
            <a:avLst/>
          </a:prstGeom>
          <a:solidFill>
            <a:srgbClr val="FFFFFF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27432" rIns="27432" bIns="27432" rtlCol="0" anchor="ctr"/>
          <a:lstStyle/>
          <a:p>
            <a:pPr algn="l"/>
            <a:r>
              <a:rPr sz="850" b="1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Fault 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8821" y="2598057"/>
            <a:ext cx="2880360" cy="493776"/>
          </a:xfrm>
          <a:prstGeom prst="rect">
            <a:avLst/>
          </a:prstGeom>
          <a:solidFill>
            <a:srgbClr val="FFFFFF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27432" rIns="27432" bIns="27432" rtlCol="0" anchor="ctr"/>
          <a:lstStyle/>
          <a:p>
            <a:pPr algn="l"/>
            <a:r>
              <a:rPr sz="85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Identifies faulty / degraded sensors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09182" y="2598057"/>
            <a:ext cx="3028022" cy="493776"/>
          </a:xfrm>
          <a:prstGeom prst="rect">
            <a:avLst/>
          </a:prstGeom>
          <a:solidFill>
            <a:srgbClr val="FFFFFF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27432" rIns="27432" bIns="27432" rtlCol="0" anchor="ctr"/>
          <a:lstStyle/>
          <a:p>
            <a:pPr algn="l"/>
            <a:r>
              <a:rPr sz="85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Fault identification is not always directly integrated into downstream fusion and decision layers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4302" y="3091833"/>
            <a:ext cx="1874519" cy="493776"/>
          </a:xfrm>
          <a:prstGeom prst="rect">
            <a:avLst/>
          </a:prstGeom>
          <a:solidFill>
            <a:srgbClr val="F8FAFB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27432" rIns="27432" bIns="27432" rtlCol="0" anchor="ctr"/>
          <a:lstStyle/>
          <a:p>
            <a:pPr algn="l"/>
            <a:r>
              <a:rPr sz="850" b="1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Uncertainty Estimation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28821" y="3091833"/>
            <a:ext cx="2880360" cy="493776"/>
          </a:xfrm>
          <a:prstGeom prst="rect">
            <a:avLst/>
          </a:prstGeom>
          <a:solidFill>
            <a:srgbClr val="F8FAFB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27432" rIns="27432" bIns="27432" rtlCol="0" anchor="ctr"/>
          <a:lstStyle/>
          <a:p>
            <a:pPr algn="l"/>
            <a:r>
              <a:rPr sz="85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Quantifies confidence / uncertainty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09182" y="3091833"/>
            <a:ext cx="3028022" cy="493776"/>
          </a:xfrm>
          <a:prstGeom prst="rect">
            <a:avLst/>
          </a:prstGeom>
          <a:solidFill>
            <a:srgbClr val="F8FAFB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27432" rIns="27432" bIns="27432" rtlCol="0" anchor="ctr"/>
          <a:lstStyle/>
          <a:p>
            <a:pPr algn="l"/>
            <a:r>
              <a:rPr sz="85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Often not propagated into complete driving decisions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4302" y="3585609"/>
            <a:ext cx="1874519" cy="493776"/>
          </a:xfrm>
          <a:prstGeom prst="rect">
            <a:avLst/>
          </a:prstGeom>
          <a:solidFill>
            <a:srgbClr val="FFFFFF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27432" rIns="27432" bIns="27432" rtlCol="0" anchor="ctr"/>
          <a:lstStyle/>
          <a:p>
            <a:pPr algn="l"/>
            <a:r>
              <a:rPr sz="850" b="1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Risk-Aware Driving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28821" y="3585609"/>
            <a:ext cx="2880360" cy="493776"/>
          </a:xfrm>
          <a:prstGeom prst="rect">
            <a:avLst/>
          </a:prstGeom>
          <a:solidFill>
            <a:srgbClr val="FFFFFF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27432" rIns="27432" bIns="27432" rtlCol="0" anchor="ctr"/>
          <a:lstStyle/>
          <a:p>
            <a:pPr algn="l"/>
            <a:r>
              <a:rPr sz="85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Adapts behaviour according to environmental risk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09182" y="3585609"/>
            <a:ext cx="3028022" cy="493776"/>
          </a:xfrm>
          <a:prstGeom prst="rect">
            <a:avLst/>
          </a:prstGeom>
          <a:solidFill>
            <a:srgbClr val="FFFFFF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27432" rIns="27432" bIns="27432" rtlCol="0" anchor="ctr"/>
          <a:lstStyle/>
          <a:p>
            <a:pPr algn="l"/>
            <a:r>
              <a:rPr sz="85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Sensor-level reliability may remain decoupled from risk reasoning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302" y="4079385"/>
            <a:ext cx="1874519" cy="493776"/>
          </a:xfrm>
          <a:prstGeom prst="rect">
            <a:avLst/>
          </a:prstGeom>
          <a:solidFill>
            <a:srgbClr val="F8FAFB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27432" rIns="27432" bIns="27432" rtlCol="0" anchor="ctr"/>
          <a:lstStyle/>
          <a:p>
            <a:pPr algn="l"/>
            <a:r>
              <a:rPr sz="850" b="1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Cooperative Perception / V2X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28821" y="4079385"/>
            <a:ext cx="2880360" cy="493776"/>
          </a:xfrm>
          <a:prstGeom prst="rect">
            <a:avLst/>
          </a:prstGeom>
          <a:solidFill>
            <a:srgbClr val="F8FAFB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27432" rIns="27432" bIns="27432" rtlCol="0" anchor="ctr"/>
          <a:lstStyle/>
          <a:p>
            <a:pPr algn="l"/>
            <a:r>
              <a:rPr sz="85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Shares perception information between vehicles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09182" y="4079385"/>
            <a:ext cx="3028022" cy="493776"/>
          </a:xfrm>
          <a:prstGeom prst="rect">
            <a:avLst/>
          </a:prstGeom>
          <a:solidFill>
            <a:srgbClr val="F8FAFB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27432" rIns="27432" bIns="27432" rtlCol="0" anchor="ctr"/>
          <a:lstStyle/>
          <a:p>
            <a:pPr algn="l"/>
            <a:r>
              <a:rPr sz="85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reliability, delay and consistency remain challenges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302" y="4573161"/>
            <a:ext cx="1874519" cy="493776"/>
          </a:xfrm>
          <a:prstGeom prst="rect">
            <a:avLst/>
          </a:prstGeom>
          <a:solidFill>
            <a:srgbClr val="FFFFFF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27432" rIns="27432" bIns="27432" rtlCol="0" anchor="ctr"/>
          <a:lstStyle/>
          <a:p>
            <a:pPr algn="l"/>
            <a:r>
              <a:rPr sz="850" b="1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CARLA / Simulation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28821" y="4573161"/>
            <a:ext cx="2880360" cy="493776"/>
          </a:xfrm>
          <a:prstGeom prst="rect">
            <a:avLst/>
          </a:prstGeom>
          <a:solidFill>
            <a:srgbClr val="FFFFFF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27432" rIns="27432" bIns="27432" rtlCol="0" anchor="ctr"/>
          <a:lstStyle/>
          <a:p>
            <a:pPr algn="l"/>
            <a:r>
              <a:rPr sz="85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controlled autonomous-driving scenarios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09182" y="4573161"/>
            <a:ext cx="3028022" cy="493776"/>
          </a:xfrm>
          <a:prstGeom prst="rect">
            <a:avLst/>
          </a:prstGeom>
          <a:solidFill>
            <a:srgbClr val="FFFFFF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27432" rIns="27432" bIns="27432" rtlCol="0" anchor="ctr"/>
          <a:lstStyle/>
          <a:p>
            <a:pPr algn="l"/>
            <a:r>
              <a:rPr sz="85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focus on integrated adaptive sensor-reliability experiments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3720" y="5321808"/>
            <a:ext cx="4163897" cy="38779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80" b="1" dirty="0">
                <a:solidFill>
                  <a:srgbClr val="5F13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thread: reliability / uncertainty exists in many components, </a:t>
            </a:r>
            <a:endParaRPr lang="en-US" sz="1080" b="1" dirty="0" smtClean="0">
              <a:solidFill>
                <a:srgbClr val="5F131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1080" b="1" dirty="0" smtClean="0">
                <a:solidFill>
                  <a:srgbClr val="5F13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sz="1080" b="1" dirty="0">
                <a:solidFill>
                  <a:srgbClr val="5F13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not consistently carried through fusion and decision layers.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18076" y="6139035"/>
            <a:ext cx="132344" cy="24006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99746" y="6157546"/>
            <a:ext cx="3081869" cy="19389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GB" sz="900" dirty="0" err="1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GB" sz="900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CSE – AI &amp; Robotics, SOE-Dayananda </a:t>
            </a:r>
            <a:r>
              <a:rPr lang="en-GB" sz="900" dirty="0" err="1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Sagar</a:t>
            </a:r>
            <a:r>
              <a:rPr lang="en-GB" sz="900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  <a:endParaRPr lang="en-GB" sz="900" dirty="0">
              <a:solidFill>
                <a:srgbClr val="6E6E6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87268" y="6157546"/>
            <a:ext cx="382412" cy="19389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3352" y="512064"/>
            <a:ext cx="5345309" cy="47089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0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and System Positioning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2631" y="1344168"/>
            <a:ext cx="3095320" cy="1170432"/>
          </a:xfrm>
          <a:prstGeom prst="roundRect">
            <a:avLst/>
          </a:prstGeom>
          <a:solidFill>
            <a:srgbClr val="EFF7F9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fusion, reliability, uncertainty, risk assessment and decision-making are largely studied as separate problems.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61127" y="1344168"/>
            <a:ext cx="3095320" cy="1170432"/>
          </a:xfrm>
          <a:prstGeom prst="roundRect">
            <a:avLst/>
          </a:prstGeom>
          <a:solidFill>
            <a:srgbClr val="EFF7F9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200" b="1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</a:t>
            </a:r>
          </a:p>
          <a:p>
            <a:pPr>
              <a:spcAft>
                <a:spcPts val="200"/>
              </a:spcAft>
            </a:pPr>
            <a:r>
              <a:rPr sz="110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can an intelligent mobility system dynamically adapt perception and driving decisions when individual sensor reliability changes during operation?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1473114" y="2766060"/>
            <a:ext cx="1417320" cy="310896"/>
          </a:xfrm>
          <a:prstGeom prst="rect">
            <a:avLst/>
          </a:prstGeom>
          <a:solidFill>
            <a:srgbClr val="1221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Aspect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890434" y="2766060"/>
            <a:ext cx="2170693" cy="310896"/>
          </a:xfrm>
          <a:prstGeom prst="rect">
            <a:avLst/>
          </a:prstGeom>
          <a:solidFill>
            <a:srgbClr val="1221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61127" y="2766060"/>
            <a:ext cx="2818212" cy="310896"/>
          </a:xfrm>
          <a:prstGeom prst="rect">
            <a:avLst/>
          </a:prstGeom>
          <a:solidFill>
            <a:srgbClr val="1221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Adaptive Mobility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1473114" y="3076956"/>
            <a:ext cx="1417320" cy="310896"/>
          </a:xfrm>
          <a:prstGeom prst="rect">
            <a:avLst/>
          </a:prstGeom>
          <a:solidFill>
            <a:srgbClr val="F8FAFB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l"/>
            <a:r>
              <a:rPr sz="710" b="1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890434" y="3076956"/>
            <a:ext cx="2170693" cy="310896"/>
          </a:xfrm>
          <a:prstGeom prst="rect">
            <a:avLst/>
          </a:prstGeom>
          <a:solidFill>
            <a:srgbClr val="F8FAFB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l"/>
            <a:r>
              <a:rPr sz="71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Camera/LiDAR/Radar combined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61127" y="3076956"/>
            <a:ext cx="2818212" cy="310896"/>
          </a:xfrm>
          <a:prstGeom prst="rect">
            <a:avLst/>
          </a:prstGeom>
          <a:solidFill>
            <a:srgbClr val="F8FAFB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l"/>
            <a:r>
              <a:rPr sz="71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adapts by reliability + uncertainty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73114" y="3387852"/>
            <a:ext cx="14173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l"/>
            <a:r>
              <a:rPr sz="710" b="1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0434" y="3387852"/>
            <a:ext cx="2170693" cy="310896"/>
          </a:xfrm>
          <a:prstGeom prst="rect">
            <a:avLst/>
          </a:prstGeom>
          <a:solidFill>
            <a:srgbClr val="FFFFFF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l"/>
            <a:r>
              <a:rPr sz="71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Degradation / faults may be separate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61127" y="3387852"/>
            <a:ext cx="2818212" cy="310896"/>
          </a:xfrm>
          <a:prstGeom prst="rect">
            <a:avLst/>
          </a:prstGeom>
          <a:solidFill>
            <a:srgbClr val="FFFFFF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l"/>
            <a:r>
              <a:rPr sz="71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Estimated dynamically and used downstream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73114" y="3698748"/>
            <a:ext cx="1417320" cy="310896"/>
          </a:xfrm>
          <a:prstGeom prst="rect">
            <a:avLst/>
          </a:prstGeom>
          <a:solidFill>
            <a:srgbClr val="F8FAFB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l"/>
            <a:r>
              <a:rPr sz="710" b="1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Uncertainty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90434" y="3698748"/>
            <a:ext cx="2170693" cy="310896"/>
          </a:xfrm>
          <a:prstGeom prst="rect">
            <a:avLst/>
          </a:prstGeom>
          <a:solidFill>
            <a:srgbClr val="F8FAFB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l"/>
            <a:r>
              <a:rPr sz="71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Often perception / tracking level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61127" y="3698748"/>
            <a:ext cx="2818212" cy="310896"/>
          </a:xfrm>
          <a:prstGeom prst="rect">
            <a:avLst/>
          </a:prstGeom>
          <a:solidFill>
            <a:srgbClr val="F8FAFB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l"/>
            <a:r>
              <a:rPr sz="71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to influence fusion and risk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73114" y="4009644"/>
            <a:ext cx="14173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l"/>
            <a:r>
              <a:rPr sz="710" b="1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Disagreement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90434" y="4009644"/>
            <a:ext cx="2170693" cy="310896"/>
          </a:xfrm>
          <a:prstGeom prst="rect">
            <a:avLst/>
          </a:prstGeom>
          <a:solidFill>
            <a:srgbClr val="FFFFFF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l"/>
            <a:r>
              <a:rPr sz="71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Detected as inconsistency / fault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61127" y="4009644"/>
            <a:ext cx="2818212" cy="310896"/>
          </a:xfrm>
          <a:prstGeom prst="rect">
            <a:avLst/>
          </a:prstGeom>
          <a:solidFill>
            <a:srgbClr val="FFFFFF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l"/>
            <a:r>
              <a:rPr sz="71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to reliability and uncertainty reasoning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73114" y="4320540"/>
            <a:ext cx="1417320" cy="310896"/>
          </a:xfrm>
          <a:prstGeom prst="rect">
            <a:avLst/>
          </a:prstGeom>
          <a:solidFill>
            <a:srgbClr val="F8FAFB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l"/>
            <a:r>
              <a:rPr sz="710" b="1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90434" y="4320540"/>
            <a:ext cx="2170693" cy="310896"/>
          </a:xfrm>
          <a:prstGeom prst="rect">
            <a:avLst/>
          </a:prstGeom>
          <a:solidFill>
            <a:srgbClr val="F8FAFB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l"/>
            <a:r>
              <a:rPr sz="71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Scene / object / trajectory information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61127" y="4320540"/>
            <a:ext cx="2818212" cy="310896"/>
          </a:xfrm>
          <a:prstGeom prst="rect">
            <a:avLst/>
          </a:prstGeom>
          <a:solidFill>
            <a:srgbClr val="F8FAFB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l"/>
            <a:r>
              <a:rPr sz="71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Adds confidence + uncertainty + disagreement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73114" y="4631436"/>
            <a:ext cx="14173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l"/>
            <a:r>
              <a:rPr sz="710" b="1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90434" y="4631436"/>
            <a:ext cx="2170693" cy="310896"/>
          </a:xfrm>
          <a:prstGeom prst="rect">
            <a:avLst/>
          </a:prstGeom>
          <a:solidFill>
            <a:srgbClr val="FFFFFF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l"/>
            <a:r>
              <a:rPr sz="71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Predefined behaviour / thresholds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61127" y="4631436"/>
            <a:ext cx="2818212" cy="310896"/>
          </a:xfrm>
          <a:prstGeom prst="rect">
            <a:avLst/>
          </a:prstGeom>
          <a:solidFill>
            <a:srgbClr val="FFFFFF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l"/>
            <a:r>
              <a:rPr sz="71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to adapt to changing risk and confidence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73114" y="4942332"/>
            <a:ext cx="1417320" cy="310896"/>
          </a:xfrm>
          <a:prstGeom prst="rect">
            <a:avLst/>
          </a:prstGeom>
          <a:solidFill>
            <a:srgbClr val="F8FAFB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l"/>
            <a:r>
              <a:rPr sz="710" b="1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Degradation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90434" y="4942332"/>
            <a:ext cx="2170693" cy="310896"/>
          </a:xfrm>
          <a:prstGeom prst="rect">
            <a:avLst/>
          </a:prstGeom>
          <a:solidFill>
            <a:srgbClr val="F8FAFB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l"/>
            <a:r>
              <a:rPr sz="71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Individual-module handling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61127" y="4942332"/>
            <a:ext cx="2818212" cy="310896"/>
          </a:xfrm>
          <a:prstGeom prst="rect">
            <a:avLst/>
          </a:prstGeom>
          <a:solidFill>
            <a:srgbClr val="F8FAFB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l"/>
            <a:r>
              <a:rPr sz="71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System-level adaptive response proposed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73114" y="5253228"/>
            <a:ext cx="14173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l"/>
            <a:r>
              <a:rPr sz="710" b="1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V2X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90434" y="5253228"/>
            <a:ext cx="2170693" cy="310896"/>
          </a:xfrm>
          <a:prstGeom prst="rect">
            <a:avLst/>
          </a:prstGeom>
          <a:solidFill>
            <a:srgbClr val="FFFFFF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l"/>
            <a:r>
              <a:rPr sz="71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sharing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61127" y="5253228"/>
            <a:ext cx="2818212" cy="310896"/>
          </a:xfrm>
          <a:prstGeom prst="rect">
            <a:avLst/>
          </a:prstGeom>
          <a:solidFill>
            <a:srgbClr val="FFFFFF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l"/>
            <a:r>
              <a:rPr sz="71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Additional perception source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73114" y="5564124"/>
            <a:ext cx="1417320" cy="310896"/>
          </a:xfrm>
          <a:prstGeom prst="rect">
            <a:avLst/>
          </a:prstGeom>
          <a:solidFill>
            <a:srgbClr val="F8FAFB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l"/>
            <a:r>
              <a:rPr sz="710" b="1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90434" y="5564124"/>
            <a:ext cx="2170693" cy="310896"/>
          </a:xfrm>
          <a:prstGeom prst="rect">
            <a:avLst/>
          </a:prstGeom>
          <a:solidFill>
            <a:srgbClr val="F8FAFB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l"/>
            <a:r>
              <a:rPr sz="71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simulation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61127" y="5564124"/>
            <a:ext cx="2818212" cy="310896"/>
          </a:xfrm>
          <a:prstGeom prst="rect">
            <a:avLst/>
          </a:prstGeom>
          <a:solidFill>
            <a:srgbClr val="F8FAFB"/>
          </a:solidFill>
          <a:ln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l"/>
            <a:r>
              <a:rPr sz="71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Controlled degradation + baseline-vs-adaptive 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18076" y="6139035"/>
            <a:ext cx="132344" cy="24006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99746" y="6157546"/>
            <a:ext cx="3081869" cy="19389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GB" sz="900" dirty="0" err="1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GB" sz="900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CSE – AI &amp; Robotics, SOE-Dayananda </a:t>
            </a:r>
            <a:r>
              <a:rPr lang="en-GB" sz="900" dirty="0" err="1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Sagar</a:t>
            </a:r>
            <a:r>
              <a:rPr lang="en-GB" sz="900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  <a:endParaRPr lang="en-GB" sz="900" dirty="0">
              <a:solidFill>
                <a:srgbClr val="6E6E6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487268" y="6157546"/>
            <a:ext cx="382412" cy="19389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3352" y="512064"/>
            <a:ext cx="3296672" cy="47089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0958" y="1088972"/>
            <a:ext cx="7597529" cy="24006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Closed-loop perception-to-control architecture with adaptive intelligence inserted between perception and decision layers.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1340" y="1822064"/>
            <a:ext cx="1097280" cy="117554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019" b="1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</a:p>
          <a:p>
            <a:pPr>
              <a:spcAft>
                <a:spcPts val="200"/>
              </a:spcAft>
            </a:pPr>
            <a:r>
              <a:rPr sz="91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</a:t>
            </a:r>
          </a:p>
          <a:p>
            <a:pPr>
              <a:spcAft>
                <a:spcPts val="200"/>
              </a:spcAft>
            </a:pPr>
            <a:r>
              <a:rPr sz="91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LiDAR</a:t>
            </a:r>
          </a:p>
          <a:p>
            <a:pPr>
              <a:spcAft>
                <a:spcPts val="200"/>
              </a:spcAft>
            </a:pPr>
            <a:r>
              <a:rPr sz="91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Radar</a:t>
            </a:r>
          </a:p>
          <a:p>
            <a:pPr>
              <a:spcAft>
                <a:spcPts val="200"/>
              </a:spcAft>
            </a:pPr>
            <a:r>
              <a:rPr sz="91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IMU</a:t>
            </a:r>
          </a:p>
          <a:p>
            <a:pPr>
              <a:spcAft>
                <a:spcPts val="200"/>
              </a:spcAft>
            </a:pPr>
            <a:r>
              <a:rPr sz="91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V2X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18076" y="1822064"/>
            <a:ext cx="1161288" cy="117554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019" b="1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Perception</a:t>
            </a:r>
          </a:p>
          <a:p>
            <a:pPr>
              <a:spcAft>
                <a:spcPts val="200"/>
              </a:spcAft>
            </a:pPr>
            <a:r>
              <a:rPr sz="91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</a:t>
            </a:r>
          </a:p>
          <a:p>
            <a:pPr>
              <a:spcAft>
                <a:spcPts val="200"/>
              </a:spcAft>
            </a:pPr>
            <a:r>
              <a:rPr sz="91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6252" y="1822064"/>
            <a:ext cx="1417320" cy="1175546"/>
          </a:xfrm>
          <a:prstGeom prst="roundRect">
            <a:avLst/>
          </a:prstGeom>
          <a:solidFill>
            <a:srgbClr val="EFF7F9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lang="en-GB" sz="1019" b="1" dirty="0" smtClean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Intelligence</a:t>
            </a:r>
            <a:endParaRPr lang="en-GB" sz="1019" b="1" dirty="0">
              <a:solidFill>
                <a:srgbClr val="1E89B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910" b="0" dirty="0" smtClean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  <a:endParaRPr sz="910" b="0" dirty="0">
              <a:solidFill>
                <a:srgbClr val="4141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91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Uncertainty</a:t>
            </a:r>
          </a:p>
          <a:p>
            <a:pPr>
              <a:spcAft>
                <a:spcPts val="200"/>
              </a:spcAft>
            </a:pPr>
            <a:r>
              <a:rPr sz="91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fusion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1316" y="1822064"/>
            <a:ext cx="1481328" cy="117554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019" b="1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+ Risk</a:t>
            </a:r>
          </a:p>
          <a:p>
            <a:pPr>
              <a:spcAft>
                <a:spcPts val="200"/>
              </a:spcAft>
            </a:pPr>
            <a:r>
              <a:rPr sz="91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Trajectory / </a:t>
            </a:r>
            <a:r>
              <a:rPr sz="910" b="0" dirty="0" err="1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endParaRPr sz="910" b="0" dirty="0">
              <a:solidFill>
                <a:srgbClr val="4141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91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assessment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91244" y="1822064"/>
            <a:ext cx="1234440" cy="117554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019" b="1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Planning + Control</a:t>
            </a:r>
          </a:p>
          <a:p>
            <a:pPr>
              <a:spcAft>
                <a:spcPts val="200"/>
              </a:spcAft>
            </a:pPr>
            <a:r>
              <a:rPr sz="91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</a:p>
          <a:p>
            <a:pPr>
              <a:spcAft>
                <a:spcPts val="200"/>
              </a:spcAft>
            </a:pPr>
            <a:r>
              <a:rPr sz="91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 control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0276" y="1822064"/>
            <a:ext cx="960120" cy="117554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019" b="1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ADAS / AD</a:t>
            </a:r>
          </a:p>
          <a:p>
            <a:pPr>
              <a:spcAft>
                <a:spcPts val="200"/>
              </a:spcAft>
            </a:pPr>
            <a:r>
              <a:rPr sz="91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Warnings</a:t>
            </a:r>
          </a:p>
          <a:p>
            <a:pPr>
              <a:spcAft>
                <a:spcPts val="200"/>
              </a:spcAft>
            </a:pPr>
            <a:r>
              <a:rPr sz="91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Braking</a:t>
            </a:r>
          </a:p>
          <a:p>
            <a:pPr>
              <a:spcAft>
                <a:spcPts val="200"/>
              </a:spcAft>
            </a:pPr>
            <a:r>
              <a:rPr sz="91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Driving behaviour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9436" y="1353312"/>
            <a:ext cx="5973687" cy="227755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2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block is proposed as a ROS 2 node; CARLA provides the controlled digital driving environment.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823" y="3490636"/>
            <a:ext cx="2234546" cy="10608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100" b="1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contribution 1</a:t>
            </a:r>
          </a:p>
          <a:p>
            <a:pPr>
              <a:spcAft>
                <a:spcPts val="200"/>
              </a:spcAft>
            </a:pPr>
            <a:r>
              <a:rPr sz="105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sensor reliability score rᵢ ∈ [0,1]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01031" y="3490636"/>
            <a:ext cx="2234546" cy="10608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100" b="1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contribution 2</a:t>
            </a:r>
          </a:p>
          <a:p>
            <a:pPr>
              <a:spcAft>
                <a:spcPts val="200"/>
              </a:spcAft>
            </a:pPr>
            <a:r>
              <a:rPr sz="100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Uncertainty-aware adaptive fusion; degraded sensors lose influence while reliable modalities compensate.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8239" y="3490636"/>
            <a:ext cx="2234546" cy="10608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lang="en-GB" sz="1100" b="1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contribution </a:t>
            </a:r>
            <a:r>
              <a:rPr lang="en-GB" sz="1100" b="1" dirty="0" smtClean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GB" sz="1100" b="1" dirty="0">
              <a:solidFill>
                <a:srgbClr val="1E89B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1050" b="0" dirty="0" smtClean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 </a:t>
            </a:r>
            <a:r>
              <a:rPr sz="105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uncertainty feed predictive risk and adaptive decision-making.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4851" y="5044521"/>
            <a:ext cx="6553974" cy="23237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50" b="1" dirty="0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Closed-loop pipeline: perception feeds adaptive fusion, which informs risk-aware planning and control.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18076" y="6139035"/>
            <a:ext cx="132344" cy="24006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9746" y="6157546"/>
            <a:ext cx="3081869" cy="19389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GB" sz="900" dirty="0" err="1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GB" sz="900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CSE – AI &amp; Robotics, SOE-Dayananda </a:t>
            </a:r>
            <a:r>
              <a:rPr lang="en-GB" sz="900" dirty="0" err="1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Sagar</a:t>
            </a:r>
            <a:r>
              <a:rPr lang="en-GB" sz="900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  <a:endParaRPr lang="en-GB" sz="900" dirty="0">
              <a:solidFill>
                <a:srgbClr val="6E6E6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87268" y="6157546"/>
            <a:ext cx="382412" cy="19389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of 12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673352" y="2315090"/>
            <a:ext cx="256032" cy="217694"/>
          </a:xfrm>
          <a:prstGeom prst="rightArrow">
            <a:avLst/>
          </a:prstGeom>
          <a:solidFill>
            <a:srgbClr val="1E89B8"/>
          </a:solidFill>
          <a:ln>
            <a:solidFill>
              <a:srgbClr val="1E8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3054096" y="2315090"/>
            <a:ext cx="256032" cy="217694"/>
          </a:xfrm>
          <a:prstGeom prst="rightArrow">
            <a:avLst/>
          </a:prstGeom>
          <a:solidFill>
            <a:srgbClr val="1E89B8"/>
          </a:solidFill>
          <a:ln>
            <a:solidFill>
              <a:srgbClr val="1E8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4718304" y="2315090"/>
            <a:ext cx="256032" cy="217694"/>
          </a:xfrm>
          <a:prstGeom prst="rightArrow">
            <a:avLst/>
          </a:prstGeom>
          <a:solidFill>
            <a:srgbClr val="1E89B8"/>
          </a:solidFill>
          <a:ln>
            <a:solidFill>
              <a:srgbClr val="1E8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6437376" y="2315090"/>
            <a:ext cx="256032" cy="217694"/>
          </a:xfrm>
          <a:prstGeom prst="rightArrow">
            <a:avLst/>
          </a:prstGeom>
          <a:solidFill>
            <a:srgbClr val="1E89B8"/>
          </a:solidFill>
          <a:ln>
            <a:solidFill>
              <a:srgbClr val="1E8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7900416" y="2315090"/>
            <a:ext cx="256032" cy="217694"/>
          </a:xfrm>
          <a:prstGeom prst="rightArrow">
            <a:avLst/>
          </a:prstGeom>
          <a:solidFill>
            <a:srgbClr val="1E89B8"/>
          </a:solidFill>
          <a:ln>
            <a:solidFill>
              <a:srgbClr val="1E8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3352" y="512064"/>
            <a:ext cx="6797630" cy="47089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Innovations, Objectives and Expected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298448"/>
            <a:ext cx="2334870" cy="24006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SEVEN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64208"/>
            <a:ext cx="3840480" cy="18682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20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Develop a multi-sensor perception framework.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20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Estimate dynamic sensor reliability.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20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Detect cross-modal sensor disagreement.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20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Develop uncertainty-aware sensor fusion.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20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Develop predictive risk assessment.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20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Integrate adaptive, risk-aware decision making.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20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  Validate the system using CARLA and ROS 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98848" y="1298448"/>
            <a:ext cx="1783437" cy="24006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5604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NOVELTY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62272" y="1627632"/>
            <a:ext cx="384048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960" b="1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Dynamic Sensor Reliability</a:t>
            </a:r>
          </a:p>
          <a:p>
            <a:pPr>
              <a:spcAft>
                <a:spcPts val="200"/>
              </a:spcAft>
            </a:pPr>
            <a:r>
              <a:rPr sz="89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Estimated from detection confidence, temporal stability, cross-sensor agreement and environmental conditions.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62272" y="2340864"/>
            <a:ext cx="384048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960" b="1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Reliability-Aware Adaptive Fusion</a:t>
            </a:r>
          </a:p>
          <a:p>
            <a:pPr>
              <a:spcAft>
                <a:spcPts val="200"/>
              </a:spcAft>
            </a:pPr>
            <a:r>
              <a:rPr sz="89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Fusion influence changes with sensor reliability.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3054096"/>
            <a:ext cx="384048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960" b="1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Uncertainty Propagation</a:t>
            </a:r>
          </a:p>
          <a:p>
            <a:pPr>
              <a:spcAft>
                <a:spcPts val="200"/>
              </a:spcAft>
            </a:pPr>
            <a:r>
              <a:rPr sz="89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Perception → uncertainty → fusion → risk → decision.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3767328"/>
            <a:ext cx="384048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960" b="1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Risk-Adaptive Decision</a:t>
            </a:r>
          </a:p>
          <a:p>
            <a:pPr>
              <a:spcAft>
                <a:spcPts val="200"/>
              </a:spcAft>
            </a:pPr>
            <a:r>
              <a:rPr sz="89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combines distance, relative velocity, TTC, trajectory, confidence and uncertainty.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4480560"/>
            <a:ext cx="384048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960" b="1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Closed-Loop Adaptive Intelligence</a:t>
            </a:r>
          </a:p>
          <a:p>
            <a:pPr>
              <a:spcAft>
                <a:spcPts val="200"/>
              </a:spcAft>
            </a:pPr>
            <a:r>
              <a:rPr sz="89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Integrates reliability, uncertainty, risk and decision-making in one framework.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8927" y="5321808"/>
            <a:ext cx="6626109" cy="40011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20" b="1" dirty="0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outcomes: multi-sensor perception • dynamic confidence estimation • uncertainty-aware fusion • </a:t>
            </a:r>
            <a:r>
              <a:rPr lang="en-GB" sz="1120" b="1" dirty="0" smtClean="0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1120" b="1" dirty="0">
              <a:solidFill>
                <a:srgbClr val="1221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20" b="1" dirty="0" smtClean="0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120" b="1" dirty="0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120" b="1" dirty="0" smtClean="0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</a:t>
            </a:r>
            <a:r>
              <a:rPr sz="1120" b="1" dirty="0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assessment • adaptive ADAS </a:t>
            </a:r>
            <a:r>
              <a:rPr sz="1120" b="1" dirty="0" err="1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sz="1120" b="1" dirty="0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AD prototype + baseline comparison.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18076" y="6139035"/>
            <a:ext cx="132344" cy="24006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99746" y="6157546"/>
            <a:ext cx="3081869" cy="19389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GB" sz="900" dirty="0" err="1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GB" sz="900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CSE – AI &amp; Robotics, SOE-Dayananda </a:t>
            </a:r>
            <a:r>
              <a:rPr lang="en-GB" sz="900" dirty="0" err="1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Sagar</a:t>
            </a:r>
            <a:r>
              <a:rPr lang="en-GB" sz="900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  <a:endParaRPr lang="en-GB" sz="900" dirty="0">
              <a:solidFill>
                <a:srgbClr val="6E6E6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87268" y="6157546"/>
            <a:ext cx="382412" cy="19389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3352" y="512064"/>
            <a:ext cx="6249403" cy="47089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Scope and Technology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389888"/>
            <a:ext cx="2606040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300" b="1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ADAS </a:t>
            </a:r>
            <a:r>
              <a:rPr sz="1300" b="1" dirty="0" smtClean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lang="en-US" sz="1300" b="1" dirty="0" smtClean="0">
              <a:solidFill>
                <a:srgbClr val="1E89B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300"/>
              </a:spcAft>
            </a:pPr>
            <a:endParaRPr sz="1300" b="1" dirty="0">
              <a:solidFill>
                <a:srgbClr val="1E89B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110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Forward Collision Warning</a:t>
            </a:r>
          </a:p>
          <a:p>
            <a:pPr>
              <a:spcAft>
                <a:spcPts val="200"/>
              </a:spcAft>
            </a:pPr>
            <a:r>
              <a:rPr sz="110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Automatic Emergency Braking</a:t>
            </a:r>
          </a:p>
          <a:p>
            <a:pPr>
              <a:spcAft>
                <a:spcPts val="200"/>
              </a:spcAft>
            </a:pPr>
            <a:r>
              <a:rPr sz="110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Adaptive Cruise Control</a:t>
            </a:r>
          </a:p>
          <a:p>
            <a:pPr>
              <a:spcAft>
                <a:spcPts val="200"/>
              </a:spcAft>
            </a:pPr>
            <a:r>
              <a:rPr sz="110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Lane Assistance</a:t>
            </a:r>
          </a:p>
          <a:p>
            <a:pPr>
              <a:spcAft>
                <a:spcPts val="200"/>
              </a:spcAft>
            </a:pPr>
            <a:r>
              <a:rPr sz="110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Collision-Risk Warning</a:t>
            </a:r>
          </a:p>
          <a:p>
            <a:pPr>
              <a:spcAft>
                <a:spcPts val="200"/>
              </a:spcAft>
            </a:pPr>
            <a:r>
              <a:rPr sz="110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Obstacle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73552" y="1389888"/>
            <a:ext cx="2606040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Autonomous Driving</a:t>
            </a:r>
          </a:p>
          <a:p>
            <a:pPr>
              <a:spcAft>
                <a:spcPts val="200"/>
              </a:spcAft>
            </a:pPr>
            <a:r>
              <a:rPr sz="108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Perception</a:t>
            </a:r>
          </a:p>
          <a:p>
            <a:pPr>
              <a:spcAft>
                <a:spcPts val="200"/>
              </a:spcAft>
            </a:pPr>
            <a:r>
              <a:rPr sz="108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Localization</a:t>
            </a:r>
          </a:p>
          <a:p>
            <a:pPr>
              <a:spcAft>
                <a:spcPts val="200"/>
              </a:spcAft>
            </a:pPr>
            <a:r>
              <a:rPr sz="108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Prediction</a:t>
            </a:r>
          </a:p>
          <a:p>
            <a:pPr>
              <a:spcAft>
                <a:spcPts val="200"/>
              </a:spcAft>
            </a:pPr>
            <a:r>
              <a:rPr sz="108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Planning</a:t>
            </a:r>
          </a:p>
          <a:p>
            <a:pPr>
              <a:spcAft>
                <a:spcPts val="200"/>
              </a:spcAft>
            </a:pPr>
            <a:r>
              <a:rPr sz="108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Control</a:t>
            </a:r>
          </a:p>
          <a:p>
            <a:pPr>
              <a:spcAft>
                <a:spcPts val="200"/>
              </a:spcAft>
            </a:pPr>
            <a:endParaRPr sz="1080" b="0">
              <a:solidFill>
                <a:srgbClr val="4141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108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Target: Level-2-style ADAS functionality plus a Level-4-oriented prototype within a defined ODD.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89888"/>
            <a:ext cx="2331720" cy="1371600"/>
          </a:xfrm>
          <a:prstGeom prst="roundRect">
            <a:avLst/>
          </a:prstGeom>
          <a:solidFill>
            <a:srgbClr val="EFF7F9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CARLA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Controlled digital driving environment for repeatable, safe scenario testing.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852928"/>
            <a:ext cx="2331720" cy="1508760"/>
          </a:xfrm>
          <a:prstGeom prst="roundRect">
            <a:avLst/>
          </a:prstGeom>
          <a:solidFill>
            <a:srgbClr val="EFF7F9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300" b="1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</a:p>
          <a:p>
            <a:pPr>
              <a:spcAft>
                <a:spcPts val="200"/>
              </a:spcAft>
            </a:pPr>
            <a:r>
              <a:rPr sz="105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 communication framework connecting perception, fusion, reliability, risk, planning and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2038" y="4736592"/>
            <a:ext cx="6049028" cy="65556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300" b="1" dirty="0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scope boundary
The system is not claimed as Level-4 certified autonomy. The prototype is evaluated </a:t>
            </a:r>
            <a:endParaRPr lang="en-US" sz="1300" b="1" dirty="0" smtClean="0">
              <a:solidFill>
                <a:srgbClr val="1221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1300" b="1" dirty="0" smtClean="0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within a </a:t>
            </a:r>
            <a:r>
              <a:rPr sz="1300" b="1" dirty="0">
                <a:solidFill>
                  <a:srgbClr val="1221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clearly defined Operational Design Domain (ODD).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18076" y="6139035"/>
            <a:ext cx="132344" cy="24006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99746" y="6157546"/>
            <a:ext cx="3081869" cy="19389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GB" sz="900" dirty="0" err="1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GB" sz="900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CSE – AI &amp; Robotics, SOE-Dayananda </a:t>
            </a:r>
            <a:r>
              <a:rPr lang="en-GB" sz="900" dirty="0" err="1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Sagar</a:t>
            </a:r>
            <a:r>
              <a:rPr lang="en-GB" sz="900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  <a:endParaRPr lang="en-GB" sz="900" dirty="0">
              <a:solidFill>
                <a:srgbClr val="6E6E6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87268" y="6157546"/>
            <a:ext cx="382412" cy="19389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3352" y="512064"/>
            <a:ext cx="5941627" cy="47089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Evaluation and Validation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82496" y="1115568"/>
            <a:ext cx="5026312" cy="24006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Baseline-vs-adaptive comparison under controlled sensor-degradation scenarios.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1688" y="1453741"/>
            <a:ext cx="3201175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200" b="1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 — Fixed Sensor Fusion</a:t>
            </a:r>
          </a:p>
          <a:p>
            <a:pPr>
              <a:spcAft>
                <a:spcPts val="200"/>
              </a:spcAft>
            </a:pPr>
            <a:r>
              <a:rPr sz="105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sensor weighting regardless of changing conditions or reliability.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69640" y="1453741"/>
            <a:ext cx="3201175" cy="960120"/>
          </a:xfrm>
          <a:prstGeom prst="roundRect">
            <a:avLst/>
          </a:prstGeom>
          <a:solidFill>
            <a:srgbClr val="EFF7F9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200" b="1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— Reliability + Uncertainty-Aware Adaptive Fusion</a:t>
            </a:r>
          </a:p>
          <a:p>
            <a:pPr>
              <a:spcAft>
                <a:spcPts val="200"/>
              </a:spcAft>
            </a:pPr>
            <a:r>
              <a:rPr sz="103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Fusion weighting adapts to real-time sensor conditions; both tested under identical scenarios.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611" y="2534870"/>
            <a:ext cx="1305817" cy="4093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1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8662" y="2944213"/>
            <a:ext cx="2375987" cy="1421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1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driving
Camera / LiDAR / Radar degradation
Sensor disagreement
Pedestrian crossing
Dense traffic
V2X hazard
Injected: rain, fog, glare, occlusion, noise, dropout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854" y="2534870"/>
            <a:ext cx="1444156" cy="4093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1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86" y="2944213"/>
            <a:ext cx="1632088" cy="19343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1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 &amp; tracking performance
Collision / near-collision rate
TTC estimation
Reliability-estimation accuracy
Reaction time
Decision stability
Planning latency
Sensor-failure recovery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3965" y="5225382"/>
            <a:ext cx="55707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120" b="1" dirty="0">
                <a:solidFill>
                  <a:srgbClr val="5604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Zeroth Stage status</a:t>
            </a:r>
          </a:p>
          <a:p>
            <a:pPr>
              <a:spcAft>
                <a:spcPts val="200"/>
              </a:spcAft>
            </a:pPr>
            <a:r>
              <a:rPr sz="106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are planned scenarios and metrics. No numerical experimental results are being claimed yet.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18076" y="6139035"/>
            <a:ext cx="132344" cy="24006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9746" y="6157546"/>
            <a:ext cx="3081869" cy="19389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GB" sz="900" dirty="0" err="1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GB" sz="900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CSE – AI &amp; Robotics, SOE-Dayananda </a:t>
            </a:r>
            <a:r>
              <a:rPr lang="en-GB" sz="900" dirty="0" err="1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Sagar</a:t>
            </a:r>
            <a:r>
              <a:rPr lang="en-GB" sz="900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  <a:endParaRPr lang="en-GB" sz="900" dirty="0">
              <a:solidFill>
                <a:srgbClr val="6E6E6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87268" y="6157546"/>
            <a:ext cx="382412" cy="19389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3352" y="512064"/>
            <a:ext cx="5662704" cy="47089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Individual Contributions and Ownership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757" y="1262027"/>
            <a:ext cx="3595141" cy="176038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120" b="1" dirty="0" smtClean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Chintha </a:t>
            </a:r>
            <a:r>
              <a:rPr sz="1120" b="1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Deepak  |  </a:t>
            </a:r>
            <a:r>
              <a:rPr sz="1120" b="1" dirty="0" smtClean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ENG23RA0029</a:t>
            </a:r>
            <a:endParaRPr lang="en-US" sz="1120" b="1" dirty="0" smtClean="0">
              <a:solidFill>
                <a:srgbClr val="1E89B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300"/>
              </a:spcAft>
            </a:pPr>
            <a:endParaRPr sz="1120" b="1" dirty="0">
              <a:solidFill>
                <a:srgbClr val="1E89B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960" b="1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Integration, Computer Vision Sensor Fusion &amp; Hardware</a:t>
            </a:r>
          </a:p>
          <a:p>
            <a:pPr>
              <a:spcAft>
                <a:spcPts val="200"/>
              </a:spcAft>
            </a:pPr>
            <a:r>
              <a:rPr sz="96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architecture; </a:t>
            </a:r>
            <a:endParaRPr lang="en-US" sz="960" b="0" dirty="0" smtClean="0">
              <a:solidFill>
                <a:srgbClr val="4141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960" b="0" dirty="0" smtClean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</a:t>
            </a:r>
            <a:r>
              <a:rPr sz="96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pipeline; </a:t>
            </a:r>
            <a:endParaRPr lang="en-US" sz="960" b="0" dirty="0" smtClean="0">
              <a:solidFill>
                <a:srgbClr val="4141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960" b="0" dirty="0" smtClean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sz="96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integration; </a:t>
            </a:r>
            <a:endParaRPr lang="en-US" sz="960" b="0" dirty="0" smtClean="0">
              <a:solidFill>
                <a:srgbClr val="4141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960" b="0" dirty="0" smtClean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LiDAR/Radar </a:t>
            </a:r>
            <a:r>
              <a:rPr sz="96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processing; </a:t>
            </a:r>
            <a:endParaRPr lang="en-US" sz="960" b="0" dirty="0" smtClean="0">
              <a:solidFill>
                <a:srgbClr val="4141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960" b="0" dirty="0" smtClean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</a:t>
            </a:r>
            <a:r>
              <a:rPr sz="96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 &amp; tracking; </a:t>
            </a:r>
            <a:endParaRPr lang="en-US" sz="960" b="0" dirty="0" smtClean="0">
              <a:solidFill>
                <a:srgbClr val="4141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960" b="0" dirty="0" smtClean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V2X </a:t>
            </a:r>
            <a:r>
              <a:rPr sz="96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&amp; hardware prototype.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05405" y="1262027"/>
            <a:ext cx="3595141" cy="176038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120" b="1" dirty="0" err="1" smtClean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Harshitha</a:t>
            </a:r>
            <a:r>
              <a:rPr sz="1120" b="1" dirty="0" smtClean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0" b="1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 |  </a:t>
            </a:r>
            <a:r>
              <a:rPr sz="1120" b="1" dirty="0" smtClean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ENG23RA0008</a:t>
            </a:r>
            <a:endParaRPr lang="en-US" sz="1120" b="1" dirty="0" smtClean="0">
              <a:solidFill>
                <a:srgbClr val="1E89B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300"/>
              </a:spcAft>
            </a:pPr>
            <a:endParaRPr sz="1120" b="1" dirty="0">
              <a:solidFill>
                <a:srgbClr val="1E89B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960" b="1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&amp; Perception</a:t>
            </a:r>
          </a:p>
          <a:p>
            <a:pPr>
              <a:spcAft>
                <a:spcPts val="200"/>
              </a:spcAft>
            </a:pPr>
            <a:r>
              <a:rPr sz="96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 pipeline; </a:t>
            </a:r>
            <a:endParaRPr lang="en-US" sz="960" b="0" dirty="0" smtClean="0">
              <a:solidFill>
                <a:srgbClr val="4141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960" b="0" dirty="0" smtClean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</a:t>
            </a:r>
            <a:r>
              <a:rPr sz="96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detection; </a:t>
            </a:r>
            <a:endParaRPr lang="en-US" sz="960" b="0" dirty="0" smtClean="0">
              <a:solidFill>
                <a:srgbClr val="4141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960" b="0" dirty="0" smtClean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</a:t>
            </a:r>
            <a:r>
              <a:rPr sz="96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tracking; </a:t>
            </a:r>
            <a:endParaRPr lang="en-US" sz="960" b="0" dirty="0" smtClean="0">
              <a:solidFill>
                <a:srgbClr val="4141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960" b="0" dirty="0" smtClean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lane </a:t>
            </a:r>
            <a:r>
              <a:rPr sz="96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perception; </a:t>
            </a:r>
            <a:endParaRPr lang="en-US" sz="960" b="0" dirty="0" smtClean="0">
              <a:solidFill>
                <a:srgbClr val="4141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960" b="0" dirty="0" smtClean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perception </a:t>
            </a:r>
            <a:r>
              <a:rPr sz="96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757" y="3227987"/>
            <a:ext cx="3595141" cy="176038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120" b="1" dirty="0" err="1" smtClean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Dhanush</a:t>
            </a:r>
            <a:r>
              <a:rPr sz="1120" b="1" dirty="0" smtClean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0" b="1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 |  </a:t>
            </a:r>
            <a:r>
              <a:rPr sz="1120" b="1" dirty="0" smtClean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ENG23RA0030</a:t>
            </a:r>
            <a:endParaRPr lang="en-US" sz="1120" b="1" dirty="0" smtClean="0">
              <a:solidFill>
                <a:srgbClr val="1E89B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300"/>
              </a:spcAft>
            </a:pPr>
            <a:endParaRPr sz="1120" b="1" dirty="0">
              <a:solidFill>
                <a:srgbClr val="1E89B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960" b="1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Fusion &amp; Risk Intelligence</a:t>
            </a:r>
          </a:p>
          <a:p>
            <a:pPr>
              <a:spcAft>
                <a:spcPts val="200"/>
              </a:spcAft>
            </a:pPr>
            <a:r>
              <a:rPr sz="96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LiDAR/Radar processing; </a:t>
            </a:r>
            <a:endParaRPr lang="en-US" sz="960" b="0" dirty="0" smtClean="0">
              <a:solidFill>
                <a:srgbClr val="4141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960" b="0" dirty="0" smtClean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</a:t>
            </a:r>
            <a:r>
              <a:rPr sz="96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reliability; </a:t>
            </a:r>
            <a:endParaRPr lang="en-US" sz="960" b="0" dirty="0" smtClean="0">
              <a:solidFill>
                <a:srgbClr val="4141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960" b="0" dirty="0" smtClean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uncertainty </a:t>
            </a:r>
            <a:r>
              <a:rPr sz="96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estimation; </a:t>
            </a:r>
            <a:endParaRPr lang="en-US" sz="960" b="0" dirty="0" smtClean="0">
              <a:solidFill>
                <a:srgbClr val="4141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960" b="0" dirty="0" smtClean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</a:t>
            </a:r>
            <a:r>
              <a:rPr sz="96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disagreement; </a:t>
            </a:r>
            <a:endParaRPr lang="en-US" sz="960" b="0" dirty="0" smtClean="0">
              <a:solidFill>
                <a:srgbClr val="4141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960" b="0" dirty="0" smtClean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</a:t>
            </a:r>
            <a:r>
              <a:rPr sz="96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fusion; </a:t>
            </a:r>
            <a:endParaRPr lang="en-US" sz="960" b="0" dirty="0" smtClean="0">
              <a:solidFill>
                <a:srgbClr val="4141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960" b="0" dirty="0" smtClean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</a:t>
            </a:r>
            <a:r>
              <a:rPr sz="96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5405" y="3227987"/>
            <a:ext cx="3595141" cy="176038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120" b="1" dirty="0" smtClean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sz="1120" b="1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S J </a:t>
            </a:r>
            <a:r>
              <a:rPr sz="1120" b="1" dirty="0" err="1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Sreekar</a:t>
            </a:r>
            <a:r>
              <a:rPr sz="1120" b="1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|  </a:t>
            </a:r>
            <a:r>
              <a:rPr sz="1120" b="1" dirty="0" smtClean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ENG23RA0033</a:t>
            </a:r>
            <a:endParaRPr lang="en-US" sz="1120" b="1" dirty="0" smtClean="0">
              <a:solidFill>
                <a:srgbClr val="1E89B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300"/>
              </a:spcAft>
            </a:pPr>
            <a:endParaRPr sz="1120" b="1" dirty="0">
              <a:solidFill>
                <a:srgbClr val="1E89B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960" b="1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 2, Planning &amp; Hardware</a:t>
            </a:r>
          </a:p>
          <a:p>
            <a:pPr>
              <a:spcAft>
                <a:spcPts val="200"/>
              </a:spcAft>
            </a:pPr>
            <a:r>
              <a:rPr sz="96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 2 integration; </a:t>
            </a:r>
            <a:endParaRPr lang="en-US" sz="960" b="0" dirty="0" smtClean="0">
              <a:solidFill>
                <a:srgbClr val="4141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960" b="0" dirty="0" smtClean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96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planning; </a:t>
            </a:r>
            <a:endParaRPr lang="en-US" sz="960" b="0" dirty="0" smtClean="0">
              <a:solidFill>
                <a:srgbClr val="4141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960" b="0" dirty="0" smtClean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 </a:t>
            </a:r>
            <a:r>
              <a:rPr sz="96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control; </a:t>
            </a:r>
            <a:endParaRPr lang="en-US" sz="960" b="0" dirty="0" smtClean="0">
              <a:solidFill>
                <a:srgbClr val="4141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960" b="0" dirty="0" smtClean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V2X </a:t>
            </a:r>
            <a:r>
              <a:rPr sz="96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integration; </a:t>
            </a:r>
            <a:endParaRPr lang="en-US" sz="960" b="0" dirty="0" smtClean="0">
              <a:solidFill>
                <a:srgbClr val="4141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960" b="0" dirty="0" smtClean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sz="96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5017" y="5314214"/>
            <a:ext cx="4580678" cy="40011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20" b="1" dirty="0">
                <a:solidFill>
                  <a:srgbClr val="5F13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Responsibilities are proposed/planned for Zeroth Stage; every member is </a:t>
            </a:r>
            <a:endParaRPr lang="en-US" sz="1120" b="1" dirty="0" smtClean="0">
              <a:solidFill>
                <a:srgbClr val="5F131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1120" b="1" dirty="0" smtClean="0">
                <a:solidFill>
                  <a:srgbClr val="5F13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</a:t>
            </a:r>
            <a:r>
              <a:rPr sz="1120" b="1" dirty="0">
                <a:solidFill>
                  <a:srgbClr val="5F13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complete system for individual evaluation.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18076" y="6139035"/>
            <a:ext cx="132344" cy="24006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99746" y="6157546"/>
            <a:ext cx="3081869" cy="19389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GB" sz="900" dirty="0" err="1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GB" sz="900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CSE – AI &amp; Robotics, SOE-Dayananda </a:t>
            </a:r>
            <a:r>
              <a:rPr lang="en-GB" sz="900" dirty="0" err="1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Sagar</a:t>
            </a:r>
            <a:r>
              <a:rPr lang="en-GB" sz="900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  <a:endParaRPr lang="en-GB" sz="900" dirty="0">
              <a:solidFill>
                <a:srgbClr val="6E6E6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29560" y="6157546"/>
            <a:ext cx="440120" cy="19389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3352" y="512064"/>
            <a:ext cx="5662704" cy="886397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0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Evaluation, Project Planning </a:t>
            </a:r>
            <a:endParaRPr lang="en-US" sz="2700" b="0" dirty="0" smtClean="0">
              <a:solidFill>
                <a:srgbClr val="1E89B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sz="2700" b="0" dirty="0" smtClean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700" b="0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 Potential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0228" y="1510855"/>
            <a:ext cx="2542032" cy="3401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200" b="1" dirty="0" smtClean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  <a:endParaRPr lang="en-US" sz="1200" b="1" dirty="0" smtClean="0">
              <a:solidFill>
                <a:srgbClr val="1E89B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300"/>
              </a:spcAft>
            </a:pPr>
            <a:endParaRPr sz="1200" b="1" dirty="0">
              <a:solidFill>
                <a:srgbClr val="1E89B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103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CARLA enables controlled simulation</a:t>
            </a:r>
          </a:p>
          <a:p>
            <a:pPr>
              <a:spcAft>
                <a:spcPts val="200"/>
              </a:spcAft>
            </a:pPr>
            <a:r>
              <a:rPr sz="103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ROS 2 supports modular integration</a:t>
            </a:r>
          </a:p>
          <a:p>
            <a:pPr>
              <a:spcAft>
                <a:spcPts val="200"/>
              </a:spcAft>
            </a:pPr>
            <a:r>
              <a:rPr sz="103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Python/C++ &amp; AI frameworks</a:t>
            </a:r>
          </a:p>
          <a:p>
            <a:pPr>
              <a:spcAft>
                <a:spcPts val="200"/>
              </a:spcAft>
            </a:pPr>
            <a:r>
              <a:rPr sz="103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GPU resources for AI experimentation</a:t>
            </a:r>
          </a:p>
          <a:p>
            <a:pPr>
              <a:spcAft>
                <a:spcPts val="200"/>
              </a:spcAft>
            </a:pPr>
            <a:r>
              <a:rPr sz="103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Small robotic platform demo</a:t>
            </a:r>
          </a:p>
          <a:p>
            <a:pPr>
              <a:spcAft>
                <a:spcPts val="200"/>
              </a:spcAft>
            </a:pPr>
            <a:r>
              <a:rPr sz="103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Simulation-first reduces risk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57708" y="1510855"/>
            <a:ext cx="2542032" cy="3401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200" b="1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</a:t>
            </a:r>
            <a:r>
              <a:rPr sz="1200" b="1" dirty="0" smtClean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  <a:endParaRPr lang="en-US" sz="1200" b="1" dirty="0" smtClean="0">
              <a:solidFill>
                <a:srgbClr val="1E89B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300"/>
              </a:spcAft>
            </a:pPr>
            <a:endParaRPr sz="1200" b="1" dirty="0">
              <a:solidFill>
                <a:srgbClr val="1E89B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103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Multi-sensor perception</a:t>
            </a:r>
          </a:p>
          <a:p>
            <a:pPr>
              <a:spcAft>
                <a:spcPts val="200"/>
              </a:spcAft>
            </a:pPr>
            <a:r>
              <a:rPr sz="103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Dynamic confidence estimation</a:t>
            </a:r>
          </a:p>
          <a:p>
            <a:pPr>
              <a:spcAft>
                <a:spcPts val="200"/>
              </a:spcAft>
            </a:pPr>
            <a:r>
              <a:rPr sz="103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Uncertainty-aware fusion</a:t>
            </a:r>
          </a:p>
          <a:p>
            <a:pPr>
              <a:spcAft>
                <a:spcPts val="200"/>
              </a:spcAft>
            </a:pPr>
            <a:r>
              <a:rPr sz="103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Predictive risk assessment</a:t>
            </a:r>
          </a:p>
          <a:p>
            <a:pPr>
              <a:spcAft>
                <a:spcPts val="200"/>
              </a:spcAft>
            </a:pPr>
            <a:r>
              <a:rPr sz="103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Adaptive ADAS </a:t>
            </a:r>
            <a:r>
              <a:rPr sz="1030" b="0" dirty="0" err="1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endParaRPr sz="1030" b="0" dirty="0">
              <a:solidFill>
                <a:srgbClr val="4141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103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AD prototype + baseline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55188" y="1510855"/>
            <a:ext cx="2743200" cy="1719072"/>
          </a:xfrm>
          <a:prstGeom prst="roundRect">
            <a:avLst/>
          </a:prstGeom>
          <a:solidFill>
            <a:srgbClr val="EFF7F9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120" b="1" dirty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Patent / IP Potential</a:t>
            </a:r>
          </a:p>
          <a:p>
            <a:pPr>
              <a:spcAft>
                <a:spcPts val="200"/>
              </a:spcAft>
            </a:pPr>
            <a:r>
              <a:rPr sz="94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reliability estimation; adaptive fusion weighting; reliability-aware risk; degradation response; integrated adaptive decision pipeline. Claims require a specific mechanism, implementation and formal prior-art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55188" y="3403663"/>
            <a:ext cx="274320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120" b="1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Publication Potential</a:t>
            </a:r>
          </a:p>
          <a:p>
            <a:pPr>
              <a:spcAft>
                <a:spcPts val="200"/>
              </a:spcAft>
            </a:pPr>
            <a:r>
              <a:rPr sz="919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direction: “Experimental Evaluation of an Adaptive Reliability- and Uncertainty-Aware Sensor Fusion Framework for Risk-Aware Autonomous Driving”. Publication depends on experimental novelty, quantitative results and methodological rigor.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0133" y="5252847"/>
            <a:ext cx="5556906" cy="39395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00" b="1" dirty="0">
                <a:solidFill>
                  <a:srgbClr val="5F13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Planning principle: simulation-first, staged development; first strong milestone is a </a:t>
            </a:r>
            <a:r>
              <a:rPr sz="1100" b="1" dirty="0" smtClean="0">
                <a:solidFill>
                  <a:srgbClr val="5F13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  <a:endParaRPr lang="en-US" sz="1100" b="1" dirty="0" smtClean="0">
              <a:solidFill>
                <a:srgbClr val="5F131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1100" b="1" dirty="0" smtClean="0">
                <a:solidFill>
                  <a:srgbClr val="5F13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solidFill>
                  <a:srgbClr val="5F13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baseline-vs-adaptive comparison under at least one controlled degradation scenario.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18076" y="6139035"/>
            <a:ext cx="132344" cy="24006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99746" y="6157546"/>
            <a:ext cx="3081869" cy="19389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GB" sz="900" dirty="0" err="1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GB" sz="900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CSE – AI &amp; Robotics, SOE-Dayananda </a:t>
            </a:r>
            <a:r>
              <a:rPr lang="en-GB" sz="900" dirty="0" err="1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Sagar</a:t>
            </a:r>
            <a:r>
              <a:rPr lang="en-GB" sz="900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  <a:endParaRPr lang="en-GB" sz="900" dirty="0">
              <a:solidFill>
                <a:srgbClr val="6E6E6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29560" y="6157546"/>
            <a:ext cx="440120" cy="19389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3352" y="512064"/>
            <a:ext cx="3344762" cy="47089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0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and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325880"/>
            <a:ext cx="4752198" cy="23237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50" b="1">
                <a:solidFill>
                  <a:srgbClr val="1E89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PATENT / PRIOR-ART DOCUMENTS CITED IN THE SOURCE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700784"/>
            <a:ext cx="8001000" cy="14091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00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WO2019037226A1 — System, method, and processor-readable medium for autonomous vehicle reliability assessment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00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US20200174112A1 — Method and apparatus for enhanced camera and radar sensor fusion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00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US11585920B2 — Vehicle sensor fusion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00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US20180067489A1 — Low-level sensor fusion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00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US20210110217A1 — Automotive sensor fusion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00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US9097800B1 — Solid object detection system using laser and radar sensor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82766"/>
            <a:ext cx="7073347" cy="21698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50" b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Formal IEEE literature references are to be added after the literature survey is finalized; no citations are fabricated at Zeroth Stage.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51380" y="4197538"/>
            <a:ext cx="6152052" cy="932688"/>
          </a:xfrm>
          <a:prstGeom prst="roundRect">
            <a:avLst/>
          </a:prstGeom>
          <a:solidFill>
            <a:srgbClr val="EFF7F9"/>
          </a:solidFill>
          <a:ln w="10160">
            <a:solidFill>
              <a:srgbClr val="C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Ins="73152" rtlCol="0" anchor="ctr"/>
          <a:lstStyle/>
          <a:p>
            <a:pPr algn="ctr">
              <a:spcAft>
                <a:spcPts val="300"/>
              </a:spcAft>
            </a:pPr>
            <a:r>
              <a:rPr sz="1250" b="1" dirty="0">
                <a:solidFill>
                  <a:srgbClr val="5604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Closing statement</a:t>
            </a:r>
          </a:p>
          <a:p>
            <a:pPr>
              <a:spcAft>
                <a:spcPts val="200"/>
              </a:spcAft>
            </a:pPr>
            <a:r>
              <a:rPr sz="108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vehicle should understand what its sensors perceive, how reliable those perceptions are, how uncertain </a:t>
            </a:r>
            <a:endParaRPr lang="en-US" sz="1080" b="0" dirty="0" smtClean="0">
              <a:solidFill>
                <a:srgbClr val="4141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1080" b="0" dirty="0" smtClean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08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is, what risk is present, and how its driving </a:t>
            </a:r>
            <a:r>
              <a:rPr sz="1080" b="0" dirty="0" err="1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sz="1080" b="0" dirty="0">
                <a:solidFill>
                  <a:srgbClr val="4141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should adapt.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57126" y="5334207"/>
            <a:ext cx="5919184" cy="227755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20" b="1" dirty="0">
                <a:solidFill>
                  <a:srgbClr val="5F13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SENSE → DETECT → TRUST → FUSE → PREDICT → ASSESS → DECIDE →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18076" y="6139035"/>
            <a:ext cx="132344" cy="24006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99749" y="6157546"/>
            <a:ext cx="3081870" cy="19389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900" b="0" dirty="0" err="1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sz="900" b="0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sz="900" b="0" dirty="0" smtClean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</a:t>
            </a:r>
            <a:r>
              <a:rPr lang="en-US" sz="900" b="0" dirty="0" smtClean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AI &amp; Robotics</a:t>
            </a:r>
            <a:r>
              <a:rPr sz="900" b="0" dirty="0" smtClean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900" b="0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SOE-Dayananda </a:t>
            </a:r>
            <a:r>
              <a:rPr sz="900" b="0" dirty="0" err="1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Sagar</a:t>
            </a:r>
            <a:r>
              <a:rPr sz="900" b="0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9560" y="6157546"/>
            <a:ext cx="440120" cy="19389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7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8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9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0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1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12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13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14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15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16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1557</Words>
  <Application>Microsoft Office PowerPoint</Application>
  <PresentationFormat>On-screen Show (4:3)</PresentationFormat>
  <Paragraphs>298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17</vt:i4>
      </vt:variant>
      <vt:variant>
        <vt:lpstr>Slide Titles</vt:lpstr>
      </vt:variant>
      <vt:variant>
        <vt:i4>12</vt:i4>
      </vt:variant>
    </vt:vector>
  </HeadingPairs>
  <TitlesOfParts>
    <vt:vector size="35" baseType="lpstr">
      <vt:lpstr>Arial</vt:lpstr>
      <vt:lpstr>Cambria</vt:lpstr>
      <vt:lpstr>Calibri</vt:lpstr>
      <vt:lpstr>Century Gothic</vt:lpstr>
      <vt:lpstr>Times New Roman</vt:lpstr>
      <vt:lpstr>Noto Sans Symbols</vt:lpstr>
      <vt:lpstr>1_Wisp</vt:lpstr>
      <vt:lpstr>2_Wisp</vt:lpstr>
      <vt:lpstr>Wisp</vt:lpstr>
      <vt:lpstr>3_Wisp</vt:lpstr>
      <vt:lpstr>4_Wisp</vt:lpstr>
      <vt:lpstr>5_Wisp</vt:lpstr>
      <vt:lpstr>6_Wisp</vt:lpstr>
      <vt:lpstr>7_Wisp</vt:lpstr>
      <vt:lpstr>8_Wisp</vt:lpstr>
      <vt:lpstr>9_Wisp</vt:lpstr>
      <vt:lpstr>10_Wisp</vt:lpstr>
      <vt:lpstr>11_Wisp</vt:lpstr>
      <vt:lpstr>12_Wisp</vt:lpstr>
      <vt:lpstr>13_Wisp</vt:lpstr>
      <vt:lpstr>14_Wisp</vt:lpstr>
      <vt:lpstr>15_Wisp</vt:lpstr>
      <vt:lpstr>16_Wisp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AI-Driven Intelligent Mobility System — DSU Major Project Phase-I Review 0</dc:title>
  <dc:subject>Faculty template adapted with source project content</dc:subject>
  <dc:creator>Chintha Deepak; Harshitha P; Dhanush S; M N S J Sreekar</dc:creator>
  <dc:description>Created by merging Adaptive_AI_Mobility_System content into the DSU faculty template.</dc:description>
  <cp:lastModifiedBy>Deepak Chintha</cp:lastModifiedBy>
  <cp:revision>17</cp:revision>
  <dcterms:modified xsi:type="dcterms:W3CDTF">2026-09-07T12:17:50Z</dcterms:modified>
</cp:coreProperties>
</file>